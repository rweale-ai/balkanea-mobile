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0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3172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D8323"/>
                </a:solidFill>
                <a:latin typeface="Segoe UI"/>
              </a:rPr>
              <a:t>BALKANEA MOBILE  —  SANDBOX / TEST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0"/>
            <a:ext cx="98000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BF6EE"/>
                </a:solidFill>
                <a:latin typeface="Segoe UI Semibold"/>
              </a:rPr>
              <a:t>What's needed to connect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BF6EE"/>
                </a:solidFill>
                <a:latin typeface="Segoe UI Semibold"/>
              </a:rPr>
              <a:t>the full app to sandbox /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43400"/>
            <a:ext cx="80538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>
                <a:solidFill>
                  <a:srgbClr val="C9D9D3"/>
                </a:solidFill>
                <a:latin typeface="Segoe UI"/>
              </a:rPr>
              <a:t>Open items across authentication, booking, and payments — prepared for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>
                <a:solidFill>
                  <a:srgbClr val="C9D9D3"/>
                </a:solidFill>
                <a:latin typeface="Segoe UI"/>
              </a:rPr>
              <a:t>review with Dragana &amp; Hristijan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6636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FB8AE"/>
                </a:solidFill>
                <a:latin typeface="Segoe UI"/>
              </a:rPr>
              <a:t>Stage:  </a:t>
            </a:r>
            <a:r>
              <a:rPr sz="1150" b="0">
                <a:solidFill>
                  <a:srgbClr val="E6EFEC"/>
                </a:solidFill>
                <a:latin typeface="Segoe UI"/>
              </a:rPr>
              <a:t>TestFlight (v1.0.7, build 11)      </a:t>
            </a:r>
            <a:r>
              <a:rPr sz="1150" b="1">
                <a:solidFill>
                  <a:srgbClr val="9FB8AE"/>
                </a:solidFill>
                <a:latin typeface="Segoe UI"/>
              </a:rPr>
              <a:t>Systems:  </a:t>
            </a:r>
            <a:r>
              <a:rPr sz="1150" b="0">
                <a:solidFill>
                  <a:srgbClr val="E6EFEC"/>
                </a:solidFill>
                <a:latin typeface="Segoe UI"/>
              </a:rPr>
              <a:t>RateHawk · Bank checkout · Supabase auth      </a:t>
            </a:r>
            <a:r>
              <a:rPr sz="1150" b="1">
                <a:solidFill>
                  <a:srgbClr val="9FB8AE"/>
                </a:solidFill>
                <a:latin typeface="Segoe UI"/>
              </a:rPr>
              <a:t>Prepared:  </a:t>
            </a:r>
            <a:r>
              <a:rPr sz="1150" b="0">
                <a:solidFill>
                  <a:srgbClr val="E6EFEC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3E0F"/>
                </a:solidFill>
                <a:latin typeface="Segoe UI"/>
              </a:rPr>
              <a:t>01  — 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2E"/>
                </a:solidFill>
                <a:latin typeface="Segoe UI Semibold"/>
              </a:rPr>
              <a:t>Google, Apple, phone sign-in — what's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B6558"/>
                </a:solidFill>
                <a:latin typeface="Segoe UI"/>
              </a:rPr>
              <a:t>Sign-in itself is built; what's open is whether the providers are actually switched on, and one App Store requirement.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B9384"/>
                </a:solidFill>
                <a:latin typeface="Segoe UI"/>
              </a:rPr>
              <a:t>BALKANEA MOBILE  —  SANDBOX / TEST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B9384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1185855" cy="131504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606471" y="2295144"/>
            <a:ext cx="936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6471" y="2356308"/>
            <a:ext cx="93600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750" b="1" dirty="0">
                <a:solidFill>
                  <a:srgbClr val="B8790A"/>
                </a:solidFill>
                <a:latin typeface="Segoe UI"/>
              </a:rPr>
              <a:t>Open</a:t>
            </a:r>
            <a:endParaRPr sz="750" b="1" dirty="0">
              <a:solidFill>
                <a:srgbClr val="B8790A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9224" y="2285144"/>
            <a:ext cx="98772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Google &amp; Apple OAuth provider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615144"/>
            <a:ext cx="10893247" cy="347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dirty="0">
                <a:solidFill>
                  <a:srgbClr val="6B6558"/>
                </a:solidFill>
                <a:latin typeface="Segoe UI"/>
              </a:rPr>
              <a:t>App code is fully built — email/password, phone OTP, Google, Apple, and guest mode all exist today. Unverified: whether </a:t>
            </a:r>
            <a:r>
              <a:rPr sz="1050" b="0" dirty="0" err="1">
                <a:solidFill>
                  <a:srgbClr val="6B6558"/>
                </a:solidFill>
                <a:latin typeface="Segoe UI"/>
              </a:rPr>
              <a:t>Supabase</a:t>
            </a:r>
            <a:r>
              <a:rPr sz="1050" b="0" dirty="0">
                <a:solidFill>
                  <a:srgbClr val="6B6558"/>
                </a:solidFill>
                <a:latin typeface="Segoe UI"/>
              </a:rPr>
              <a:t> Auth actually has live Google/Apple client credentials configured, and the balkanea://auth/callback redirect allow-listed.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91898"/>
            <a:ext cx="11185855" cy="131504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841471" y="3738202"/>
            <a:ext cx="701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41471" y="3799366"/>
            <a:ext cx="70100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750" b="1" dirty="0">
                <a:solidFill>
                  <a:srgbClr val="B8790A"/>
                </a:solidFill>
                <a:latin typeface="Segoe UI"/>
              </a:rPr>
              <a:t>Open</a:t>
            </a:r>
            <a:endParaRPr sz="750" b="1" dirty="0">
              <a:solidFill>
                <a:srgbClr val="B8790A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" y="3728202"/>
            <a:ext cx="101122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Native “Sign in with Apple”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4058202"/>
            <a:ext cx="10893247" cy="347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dirty="0">
                <a:solidFill>
                  <a:srgbClr val="6B6558"/>
                </a:solidFill>
                <a:latin typeface="Segoe UI"/>
              </a:rPr>
              <a:t>Only the browser-based Apple OAuth flow exists today. Apple guideline 4.8 generally requires a native Sign-in-with-Apple option whenever other third-party social logins (Google) are offered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034956"/>
            <a:ext cx="11185855" cy="131504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59471" y="5181260"/>
            <a:ext cx="983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59471" y="5242424"/>
            <a:ext cx="98300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750" b="1" dirty="0">
                <a:solidFill>
                  <a:srgbClr val="B8790A"/>
                </a:solidFill>
                <a:latin typeface="Segoe UI"/>
              </a:rPr>
              <a:t>Open</a:t>
            </a:r>
            <a:endParaRPr sz="750" b="1" dirty="0">
              <a:solidFill>
                <a:srgbClr val="B8790A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" y="5171260"/>
            <a:ext cx="98302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Google Play Developer 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5501260"/>
            <a:ext cx="10893247" cy="702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6558"/>
                </a:solidFill>
                <a:latin typeface="Segoe UI"/>
              </a:rPr>
              <a:t>Confirmed on the July 24 call: doesn't exist yet. Needed well ahead of any Android submission, since account verification itself takes calendar time independent of app readiness.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3E0F"/>
                </a:solidFill>
                <a:latin typeface="Segoe UI"/>
              </a:rPr>
              <a:t>02  —  SEARCH &amp;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2E"/>
                </a:solidFill>
                <a:latin typeface="Segoe UI Semibold"/>
              </a:rPr>
              <a:t>RateHawk sandbox + our own hotel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B6558"/>
                </a:solidFill>
                <a:latin typeface="Segoe UI"/>
              </a:rPr>
              <a:t>The biggest open surface. Search is fully simulated today, and two architecture questions from the last call are still undecided.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B9384"/>
                </a:solidFill>
                <a:latin typeface="Segoe UI"/>
              </a:rPr>
              <a:t>BALKANEA MOBILE  —  SANDBOX / TEST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B9384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1185855" cy="954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606471" y="2295144"/>
            <a:ext cx="936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6471" y="2295144"/>
            <a:ext cx="93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B8790A"/>
                </a:solidFill>
                <a:latin typeface="Segoe UI"/>
              </a:rPr>
              <a:t>BLOCKED ON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285144"/>
            <a:ext cx="98772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RateHawk sandbox is still trial-only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615144"/>
            <a:ext cx="10893247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6B6558"/>
                </a:solidFill>
                <a:latin typeface="Segoe UI"/>
              </a:rPr>
              <a:t>Need sandbox access</a:t>
            </a:r>
            <a:r>
              <a:rPr lang="en-US" sz="1050" dirty="0">
                <a:solidFill>
                  <a:srgbClr val="6B6558"/>
                </a:solidFill>
                <a:latin typeface="Segoe UI"/>
              </a:rPr>
              <a:t> end point and credentials</a:t>
            </a:r>
            <a:r>
              <a:rPr sz="1050" b="0" dirty="0">
                <a:solidFill>
                  <a:srgbClr val="6B6558"/>
                </a:solidFill>
                <a:latin typeface="Segoe UI"/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31134"/>
            <a:ext cx="11185855" cy="954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653471" y="3377438"/>
            <a:ext cx="889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53471" y="3377438"/>
            <a:ext cx="889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B8790A"/>
                </a:solidFill>
                <a:latin typeface="Segoe UI"/>
              </a:rPr>
              <a:t>CORRECTION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3367438"/>
            <a:ext cx="99242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B2C vs. B2B is a pricing/availability split, not a separate hotel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697438"/>
            <a:ext cx="10893247" cy="347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sz="1050" b="0" dirty="0">
                <a:solidFill>
                  <a:srgbClr val="6B6558"/>
                </a:solidFill>
                <a:latin typeface="Segoe UI"/>
              </a:rPr>
              <a:t>The </a:t>
            </a:r>
            <a:r>
              <a:rPr sz="1050" b="0" dirty="0">
                <a:solidFill>
                  <a:srgbClr val="6B6558"/>
                </a:solidFill>
                <a:latin typeface="Segoe UI"/>
              </a:rPr>
              <a:t>master dataset (~4M hotels) is shared between B2C and B2B — the difference is only in price and availability </a:t>
            </a:r>
            <a:r>
              <a:rPr sz="1050" b="0" dirty="0" err="1">
                <a:solidFill>
                  <a:srgbClr val="6B6558"/>
                </a:solidFill>
                <a:latin typeface="Segoe UI"/>
              </a:rPr>
              <a:t>RateHawk</a:t>
            </a:r>
            <a:r>
              <a:rPr sz="1050" b="0" dirty="0">
                <a:solidFill>
                  <a:srgbClr val="6B6558"/>
                </a:solidFill>
                <a:latin typeface="Segoe UI"/>
              </a:rPr>
              <a:t> exposes per credential type. The mobile app's current code comment describes a separate “B2C-approved hotel file” and needs updating.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13428"/>
            <a:ext cx="11185855" cy="954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841471" y="4459732"/>
            <a:ext cx="701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41471" y="4520896"/>
            <a:ext cx="70100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750" b="1" dirty="0">
                <a:solidFill>
                  <a:srgbClr val="B8790A"/>
                </a:solidFill>
                <a:latin typeface="Segoe UI"/>
              </a:rPr>
              <a:t>Open</a:t>
            </a:r>
            <a:endParaRPr sz="750" b="1" dirty="0">
              <a:solidFill>
                <a:srgbClr val="B8790A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" y="4449732"/>
            <a:ext cx="101122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Mobile needs its own static hotel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4779732"/>
            <a:ext cx="10893247" cy="341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6558"/>
                </a:solidFill>
                <a:latin typeface="Segoe UI"/>
              </a:rPr>
              <a:t>Confirmed: balkanea.com's WordPress/MySQL database cannot be reused — hotel/room data is mixed into the generic content-page table and is already a known performance problem on web. First concrete step: get the RateHawk master dump (~30GB) onto shared staging and design mobile's own schema.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95722"/>
            <a:ext cx="11185855" cy="954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12471" y="5542026"/>
            <a:ext cx="1030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2471" y="5603190"/>
            <a:ext cx="103000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750" b="1" dirty="0">
                <a:solidFill>
                  <a:srgbClr val="B8790A"/>
                </a:solidFill>
                <a:latin typeface="Segoe UI"/>
              </a:rPr>
              <a:t>Open</a:t>
            </a:r>
            <a:endParaRPr sz="750" b="1" dirty="0">
              <a:solidFill>
                <a:srgbClr val="B8790A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224" y="5532026"/>
            <a:ext cx="97832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Search-flow design, and booking endpoints still to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5862026"/>
            <a:ext cx="10893247" cy="347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dirty="0">
                <a:solidFill>
                  <a:srgbClr val="6B6558"/>
                </a:solidFill>
                <a:latin typeface="Segoe UI"/>
              </a:rPr>
              <a:t>Undecided: web's live-search-then-enrich pattern vs. DB-first shortcut (query our own DB first, only call </a:t>
            </a:r>
            <a:r>
              <a:rPr sz="1050" b="0" dirty="0" err="1">
                <a:solidFill>
                  <a:srgbClr val="6B6558"/>
                </a:solidFill>
                <a:latin typeface="Segoe UI"/>
              </a:rPr>
              <a:t>RateHawk</a:t>
            </a:r>
            <a:r>
              <a:rPr sz="1050" b="0" dirty="0">
                <a:solidFill>
                  <a:srgbClr val="6B6558"/>
                </a:solidFill>
                <a:latin typeface="Segoe UI"/>
              </a:rPr>
              <a:t> once a hotel is opened). Either way, the backend has no room-rate, pre-book, or create-order calls yet — results come back with </a:t>
            </a:r>
            <a:r>
              <a:rPr sz="1050" b="0" dirty="0" err="1">
                <a:solidFill>
                  <a:srgbClr val="6B6558"/>
                </a:solidFill>
                <a:latin typeface="Segoe UI"/>
              </a:rPr>
              <a:t>room_types</a:t>
            </a:r>
            <a:r>
              <a:rPr sz="1050" b="0" dirty="0">
                <a:solidFill>
                  <a:srgbClr val="6B6558"/>
                </a:solidFill>
                <a:latin typeface="Segoe UI"/>
              </a:rPr>
              <a:t> and </a:t>
            </a:r>
            <a:r>
              <a:rPr sz="1050" b="0" dirty="0" err="1">
                <a:solidFill>
                  <a:srgbClr val="6B6558"/>
                </a:solidFill>
                <a:latin typeface="Segoe UI"/>
              </a:rPr>
              <a:t>cancellation_policy</a:t>
            </a:r>
            <a:r>
              <a:rPr sz="1050" b="0" dirty="0">
                <a:solidFill>
                  <a:srgbClr val="6B6558"/>
                </a:solidFill>
                <a:latin typeface="Segoe UI"/>
              </a:rPr>
              <a:t> null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3E0F"/>
                </a:solidFill>
                <a:latin typeface="Segoe UI"/>
              </a:rPr>
              <a:t>03  —  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2E"/>
                </a:solidFill>
                <a:latin typeface="Segoe UI Semibold"/>
              </a:rPr>
              <a:t>Bank checkout — the WebView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B6558"/>
                </a:solidFill>
                <a:latin typeface="Segoe UI"/>
              </a:rPr>
              <a:t>Direct in-app payment is a contractual dead end for now; the WebView path reuses what's already approved.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B9384"/>
                </a:solidFill>
                <a:latin typeface="Segoe UI"/>
              </a:rPr>
              <a:t>BALKANEA MOBILE  —  SANDBOX / TEST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B9384"/>
                </a:solidFill>
                <a:latin typeface="Segoe U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824" y="1960818"/>
            <a:ext cx="11185855" cy="954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854375" y="2107122"/>
            <a:ext cx="607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54375" y="2107122"/>
            <a:ext cx="607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B8790A"/>
                </a:solidFill>
                <a:latin typeface="Segoe UI"/>
              </a:rPr>
              <a:t>IN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128" y="2097122"/>
            <a:ext cx="102062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Preferred path: WebView to the existing, already-approved checkout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128" y="2427122"/>
            <a:ext cx="10893247" cy="341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6558"/>
                </a:solidFill>
                <a:latin typeface="Segoe UI"/>
              </a:rPr>
              <a:t>App creates the order server-side, opens an in-app WebView on the existing web checkout for that order, and the server notifies the app of success/failure. Avoids a new bank agreement and the Apple/Google in-app-purchase commission risk direct-native payment would trigger. Scaffolded in code, not yet wired 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824" y="3043112"/>
            <a:ext cx="11185855" cy="954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31375" y="3189416"/>
            <a:ext cx="1030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31375" y="3189416"/>
            <a:ext cx="1030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B8790A"/>
                </a:solidFill>
                <a:latin typeface="Segoe UI"/>
              </a:rPr>
              <a:t>PENDING FROM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128" y="3179416"/>
            <a:ext cx="97832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Bank plugin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128" y="3509416"/>
            <a:ext cx="10893247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dirty="0">
                <a:solidFill>
                  <a:srgbClr val="6B6558"/>
                </a:solidFill>
                <a:latin typeface="Segoe UI"/>
              </a:rPr>
              <a:t>Hristijan </a:t>
            </a:r>
            <a:r>
              <a:rPr lang="en-US" sz="1050" b="0" dirty="0">
                <a:solidFill>
                  <a:srgbClr val="6B6558"/>
                </a:solidFill>
                <a:latin typeface="Segoe UI"/>
              </a:rPr>
              <a:t>has provided documentation but ability to test/credentials still open</a:t>
            </a:r>
            <a:r>
              <a:rPr sz="1050" b="0" dirty="0">
                <a:solidFill>
                  <a:srgbClr val="6B6558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1824" y="4125406"/>
            <a:ext cx="11185855" cy="954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995375" y="4271710"/>
            <a:ext cx="466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95375" y="4271710"/>
            <a:ext cx="46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B8790A"/>
                </a:solidFill>
                <a:latin typeface="Segoe UI"/>
              </a:rPr>
              <a:t>ESTIMATE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128" y="4261710"/>
            <a:ext cx="103472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A few days of iteration once started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128" y="4591710"/>
            <a:ext cx="10893247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dirty="0">
                <a:solidFill>
                  <a:srgbClr val="6B6558"/>
                </a:solidFill>
                <a:latin typeface="Segoe UI"/>
              </a:rPr>
              <a:t>Per Hristijan on the call: building and testing the WebView checkout page properly takes “a few days going back and forth,” not a same-day integration </a:t>
            </a:r>
            <a:r>
              <a:rPr lang="en-US" sz="1050" b="0" dirty="0">
                <a:solidFill>
                  <a:srgbClr val="6B6558"/>
                </a:solidFill>
                <a:latin typeface="Segoe UI"/>
              </a:rPr>
              <a:t>.</a:t>
            </a:r>
            <a:endParaRPr sz="1050" b="0" dirty="0">
              <a:solidFill>
                <a:srgbClr val="6B655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3E0F"/>
                </a:solidFill>
                <a:latin typeface="Segoe UI"/>
              </a:rPr>
              <a:t>04  — 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2E"/>
                </a:solidFill>
                <a:latin typeface="Segoe UI Semibold"/>
              </a:rPr>
              <a:t>Path to a real sandbox/test build — phased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B6558"/>
                </a:solidFill>
                <a:latin typeface="Segoe UI"/>
              </a:rPr>
              <a:t>Claude does all technical implementation; testing and store-asset design draw on existing team time. Two phases are gated by partners, not effort.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B9384"/>
                </a:solidFill>
                <a:latin typeface="Segoe UI"/>
              </a:rPr>
              <a:t>BALKANEA MOBILE  —  SANDBOX / TEST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B9384"/>
                </a:solidFill>
                <a:latin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1185855" cy="9677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920" y="2258840"/>
            <a:ext cx="2150000" cy="220000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920" y="2258840"/>
            <a:ext cx="215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B8790A"/>
                </a:solidFill>
                <a:latin typeface="Segoe UI"/>
              </a:rPr>
              <a:t>PHASE 1 - UNBLOCK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920" y="2518840"/>
            <a:ext cx="1080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1A2E"/>
                </a:solidFill>
                <a:latin typeface="Segoe UI Semibold"/>
              </a:rPr>
              <a:t>Partner-gated, timeline not ours to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920" y="2758840"/>
            <a:ext cx="10750000" cy="150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dirty="0" err="1">
                <a:solidFill>
                  <a:srgbClr val="6B6558"/>
                </a:solidFill>
                <a:latin typeface="Segoe UI"/>
              </a:rPr>
              <a:t>RateHawk</a:t>
            </a:r>
            <a:r>
              <a:rPr sz="950" b="0" dirty="0">
                <a:solidFill>
                  <a:srgbClr val="6B6558"/>
                </a:solidFill>
                <a:latin typeface="Segoe UI"/>
              </a:rPr>
              <a:t> sandbox activation</a:t>
            </a:r>
            <a:r>
              <a:rPr lang="en-US" sz="950" b="0" dirty="0">
                <a:solidFill>
                  <a:srgbClr val="6B6558"/>
                </a:solidFill>
                <a:latin typeface="Segoe UI"/>
              </a:rPr>
              <a:t> </a:t>
            </a:r>
            <a:r>
              <a:rPr sz="950" b="0" dirty="0">
                <a:solidFill>
                  <a:srgbClr val="6B6558"/>
                </a:solidFill>
                <a:latin typeface="Segoe UI"/>
              </a:rPr>
              <a:t>to </a:t>
            </a:r>
            <a:r>
              <a:rPr sz="950" b="0" dirty="0" err="1">
                <a:solidFill>
                  <a:srgbClr val="6B6558"/>
                </a:solidFill>
                <a:latin typeface="Segoe UI"/>
              </a:rPr>
              <a:t>RateHawk</a:t>
            </a:r>
            <a:r>
              <a:rPr sz="950" b="0" dirty="0">
                <a:solidFill>
                  <a:srgbClr val="6B6558"/>
                </a:solidFill>
                <a:latin typeface="Segoe UI"/>
              </a:rPr>
              <a:t>), bank agreement clarification for the WebView path, and Google Play Developer account creation (1 day admin + Google's own verification time).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26630"/>
            <a:ext cx="11185855" cy="9677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2920" y="3336630"/>
            <a:ext cx="2150000" cy="220000"/>
          </a:xfrm>
          <a:prstGeom prst="roundRect">
            <a:avLst>
              <a:gd name="adj" fmla="val 50000"/>
            </a:avLst>
          </a:prstGeom>
          <a:solidFill>
            <a:srgbClr val="E3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920" y="3336630"/>
            <a:ext cx="215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E6B57"/>
                </a:solidFill>
                <a:latin typeface="Segoe UI"/>
              </a:rPr>
              <a:t>PHASE 2 -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920" y="3596630"/>
            <a:ext cx="1080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1A2E"/>
                </a:solidFill>
                <a:latin typeface="Segoe UI Semibold"/>
              </a:rPr>
              <a:t>~2–3 weeks once Phase 1 clears  ·  Claude-implemented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920" y="3836630"/>
            <a:ext cx="1075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6558"/>
                </a:solidFill>
                <a:latin typeface="Segoe UI"/>
              </a:rPr>
              <a:t>Hotel DB schema + import from RateHawk master dump, room-rate/pre-book/create-order endpoints, payment WebView wired to the real flow, native Sign-in-with-Apple, OAuth provider verification.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04420"/>
            <a:ext cx="11185855" cy="9677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2920" y="4414420"/>
            <a:ext cx="2150000" cy="220000"/>
          </a:xfrm>
          <a:prstGeom prst="roundRect">
            <a:avLst>
              <a:gd name="adj" fmla="val 50000"/>
            </a:avLst>
          </a:prstGeom>
          <a:solidFill>
            <a:srgbClr val="E3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920" y="4414420"/>
            <a:ext cx="215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E6B57"/>
                </a:solidFill>
                <a:latin typeface="Segoe UI"/>
              </a:rPr>
              <a:t>PHASE 3 -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920" y="4674420"/>
            <a:ext cx="1080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A1A2E"/>
                </a:solidFill>
                <a:latin typeface="Segoe UI Semibold"/>
              </a:rPr>
              <a:t>~3–5 days, parallel across existing testers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920" y="4914420"/>
            <a:ext cx="10750000" cy="150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dirty="0">
                <a:solidFill>
                  <a:srgbClr val="6B6558"/>
                </a:solidFill>
                <a:latin typeface="Segoe UI"/>
              </a:rPr>
              <a:t>Structured QA across auth, search, booking, and payment — spread across the TestFlight testers. Store assets (screenshots, listing copy): ~2–3 days of design time on top of already-</a:t>
            </a:r>
            <a:r>
              <a:rPr sz="950" b="0" dirty="0" err="1">
                <a:solidFill>
                  <a:srgbClr val="6B6558"/>
                </a:solidFill>
                <a:latin typeface="Segoe UI"/>
              </a:rPr>
              <a:t>speced</a:t>
            </a:r>
            <a:r>
              <a:rPr sz="950" b="0" dirty="0">
                <a:solidFill>
                  <a:srgbClr val="6B6558"/>
                </a:solidFill>
                <a:latin typeface="Segoe UI"/>
              </a:rPr>
              <a:t> UI.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82210"/>
            <a:ext cx="11185855" cy="9677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2920" y="5492210"/>
            <a:ext cx="2150000" cy="220000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920" y="5492210"/>
            <a:ext cx="215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B8790A"/>
                </a:solidFill>
                <a:latin typeface="Segoe UI"/>
              </a:rPr>
              <a:t>PHASE 4 - SUBMIT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920" y="5752210"/>
            <a:ext cx="108000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dirty="0">
                <a:solidFill>
                  <a:srgbClr val="1A1A2E"/>
                </a:solidFill>
                <a:latin typeface="Segoe UI Semibold"/>
              </a:rPr>
              <a:t>~1 month, both stores  ·  estimate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920" y="5992210"/>
            <a:ext cx="10750000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6B6558"/>
                </a:solidFill>
                <a:latin typeface="Segoe UI"/>
              </a:rPr>
              <a:t>Apple review ~3–5 days (real travel payments = higher scrutiny). Google Play's 14-day mandatory closed-testing period is the long pole. Budget at least one rejection-and-resubmit round on each store.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3E0F"/>
                </a:solidFill>
                <a:latin typeface="Segoe UI"/>
              </a:rPr>
              <a:t>05  — 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2E"/>
                </a:solidFill>
                <a:latin typeface="Segoe UI Semibold"/>
              </a:rPr>
              <a:t>What implementation actually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B6558"/>
                </a:solidFill>
                <a:latin typeface="Segoe UI"/>
              </a:rPr>
              <a:t>Claude performs all engineering — the cost driver is calendar time and a small set of fixed fees, not dev-team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B9384"/>
                </a:solidFill>
                <a:latin typeface="Segoe UI"/>
              </a:rPr>
              <a:t>BALKANEA MOBILE  —  SANDBOX / TEST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B9384"/>
                </a:solidFill>
                <a:latin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1185855" cy="954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302471" y="2295144"/>
            <a:ext cx="1240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02471" y="2295144"/>
            <a:ext cx="1240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dirty="0">
                <a:solidFill>
                  <a:srgbClr val="B8790A"/>
                </a:solidFill>
                <a:latin typeface="Segoe UI"/>
              </a:rPr>
              <a:t>Near-zero marginal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331420"/>
            <a:ext cx="9573247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1A1A2E"/>
                </a:solidFill>
                <a:latin typeface="Segoe UI Semibold"/>
              </a:rPr>
              <a:t>Engineering</a:t>
            </a:r>
            <a:r>
              <a:rPr lang="en-US" sz="1300" b="1" dirty="0">
                <a:solidFill>
                  <a:srgbClr val="1A1A2E"/>
                </a:solidFill>
                <a:latin typeface="Segoe UI Semibold"/>
              </a:rPr>
              <a:t>/AI</a:t>
            </a:r>
            <a:r>
              <a:rPr sz="1300" b="1" dirty="0">
                <a:solidFill>
                  <a:srgbClr val="1A1A2E"/>
                </a:solidFill>
                <a:latin typeface="Segoe UI Semibold"/>
              </a:rPr>
              <a:t> labor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615144"/>
            <a:ext cx="10893247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sz="1050" b="0">
                <a:solidFill>
                  <a:srgbClr val="6B6558"/>
                </a:solidFill>
                <a:latin typeface="Segoe UI"/>
              </a:rPr>
              <a:t>Estimated $400 AI Cost</a:t>
            </a:r>
            <a:endParaRPr sz="1050" b="0" dirty="0">
              <a:solidFill>
                <a:srgbClr val="6B6558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3231134"/>
            <a:ext cx="11185855" cy="954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02471" y="3377438"/>
            <a:ext cx="1540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02471" y="3377438"/>
            <a:ext cx="1540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dirty="0">
                <a:solidFill>
                  <a:srgbClr val="B8790A"/>
                </a:solidFill>
                <a:latin typeface="Segoe UI"/>
              </a:rPr>
              <a:t>Existing-team time · rate TBD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3367438"/>
            <a:ext cx="92732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Testing &amp;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697438"/>
            <a:ext cx="10893247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dirty="0">
                <a:solidFill>
                  <a:srgbClr val="6B6558"/>
                </a:solidFill>
                <a:latin typeface="Segoe UI"/>
              </a:rPr>
              <a:t>QA pass draws on TestFlight testers</a:t>
            </a:r>
            <a:r>
              <a:rPr lang="en-US" sz="1050" dirty="0">
                <a:solidFill>
                  <a:srgbClr val="6B6558"/>
                </a:solidFill>
                <a:latin typeface="Segoe UI"/>
              </a:rPr>
              <a:t>.</a:t>
            </a:r>
            <a:r>
              <a:rPr sz="1050" b="0" dirty="0">
                <a:solidFill>
                  <a:srgbClr val="6B6558"/>
                </a:solidFill>
                <a:latin typeface="Segoe UI"/>
              </a:rPr>
              <a:t> Store-asset design (screenshots, listing copy) is a small, scoped task on top of UI that's already built and </a:t>
            </a:r>
            <a:r>
              <a:rPr sz="1050" b="0" dirty="0" err="1">
                <a:solidFill>
                  <a:srgbClr val="6B6558"/>
                </a:solidFill>
                <a:latin typeface="Segoe UI"/>
              </a:rPr>
              <a:t>speced</a:t>
            </a:r>
            <a:endParaRPr sz="1050" b="0" dirty="0">
              <a:solidFill>
                <a:srgbClr val="6B6558"/>
              </a:solidFill>
              <a:latin typeface="Segoe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4313428"/>
            <a:ext cx="11185855" cy="954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502471" y="4459732"/>
            <a:ext cx="2040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2471" y="4459732"/>
            <a:ext cx="2040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8790A"/>
                </a:solidFill>
                <a:latin typeface="Segoe UI"/>
              </a:rPr>
              <a:t>$124 one-time / ongoing, both platforms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4449732"/>
            <a:ext cx="87732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Store &amp; account fees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4779732"/>
            <a:ext cx="10893247" cy="341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6558"/>
                </a:solidFill>
                <a:latin typeface="Segoe UI"/>
              </a:rPr>
              <a:t>Apple Developer Program: $99/year (already paid — account approved). Google Play Developer account: $25 one-time. No other store-side fees until real transactions flow through the app.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95722"/>
            <a:ext cx="11185855" cy="954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602471" y="5542026"/>
            <a:ext cx="940000" cy="237744"/>
          </a:xfrm>
          <a:prstGeom prst="roundRect">
            <a:avLst>
              <a:gd name="adj" fmla="val 50000"/>
            </a:avLst>
          </a:prstGeom>
          <a:solidFill>
            <a:srgbClr val="FB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02471" y="5542026"/>
            <a:ext cx="940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8790A"/>
                </a:solidFill>
                <a:latin typeface="Segoe UI"/>
              </a:rPr>
              <a:t>Partner approvals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5532026"/>
            <a:ext cx="987324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What's NOT a dollar cost 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5862026"/>
            <a:ext cx="10893247" cy="341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6558"/>
                </a:solidFill>
                <a:latin typeface="Segoe UI"/>
              </a:rPr>
              <a:t>RateHawk sandbox activation and the bank agreement are contractual/relationship items, not engineering spend — their cost is delay risk against the end-of-August/early-September target, not a line item.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3E0F"/>
                </a:solidFill>
                <a:latin typeface="Segoe UI"/>
              </a:rPr>
              <a:t>05  — 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2E"/>
                </a:solidFill>
                <a:latin typeface="Segoe UI Semibold"/>
              </a:rPr>
              <a:t>Running cost vs. margin — 10 vs. 100 bookings/day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dirty="0">
                <a:solidFill>
                  <a:srgbClr val="6B6558"/>
                </a:solidFill>
                <a:latin typeface="Segoe UI"/>
              </a:rPr>
              <a:t>3% chat-to-booking conversion, 3% </a:t>
            </a:r>
            <a:r>
              <a:rPr sz="1350" b="0" dirty="0" err="1">
                <a:solidFill>
                  <a:srgbClr val="6B6558"/>
                </a:solidFill>
                <a:latin typeface="Segoe UI"/>
              </a:rPr>
              <a:t>RateHawk</a:t>
            </a:r>
            <a:r>
              <a:rPr sz="1350" b="0" dirty="0">
                <a:solidFill>
                  <a:srgbClr val="6B6558"/>
                </a:solidFill>
                <a:latin typeface="Segoe UI"/>
              </a:rPr>
              <a:t> margin (Luke, July 21), €800 avg. booking value (illustrative — </a:t>
            </a:r>
            <a:r>
              <a:rPr lang="en-US" sz="1350" b="0" dirty="0">
                <a:solidFill>
                  <a:srgbClr val="6B6558"/>
                </a:solidFill>
                <a:latin typeface="Segoe UI"/>
              </a:rPr>
              <a:t>tbc</a:t>
            </a:r>
            <a:r>
              <a:rPr sz="1350" b="0" dirty="0">
                <a:solidFill>
                  <a:srgbClr val="6B6558"/>
                </a:solidFill>
                <a:latin typeface="Segoe UI"/>
              </a:rPr>
              <a:t>). Same per-session cost baseline as the architecture deck ($0.08/session, Sonnet).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B9384"/>
                </a:solidFill>
                <a:latin typeface="Segoe UI"/>
              </a:rPr>
              <a:t>BALKANEA MOBILE  —  SANDBOX / TEST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B9384"/>
                </a:solidFill>
                <a:latin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5510632" cy="3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2920" y="2328840"/>
            <a:ext cx="511063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2E"/>
                </a:solidFill>
                <a:latin typeface="Segoe UI Semibold"/>
              </a:rPr>
              <a:t>10 bookings/day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920" y="2768840"/>
            <a:ext cx="3510632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58"/>
                </a:solidFill>
                <a:latin typeface="Segoe UI"/>
              </a:rPr>
              <a:t>Bookings /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3552" y="2768840"/>
            <a:ext cx="160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920" y="3198840"/>
            <a:ext cx="3510632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58"/>
                </a:solidFill>
                <a:latin typeface="Segoe UI"/>
              </a:rPr>
              <a:t>Nea sessions 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3552" y="3198840"/>
            <a:ext cx="160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920" y="3628840"/>
            <a:ext cx="3510632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58"/>
                </a:solidFill>
                <a:latin typeface="Segoe UI"/>
              </a:rPr>
              <a:t>Running cost /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3552" y="3628840"/>
            <a:ext cx="160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$935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920" y="4058840"/>
            <a:ext cx="3510632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58"/>
                </a:solidFill>
                <a:latin typeface="Segoe UI"/>
              </a:rPr>
              <a:t>Gross margin revenue /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3552" y="4058840"/>
            <a:ext cx="160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~$7,776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20" y="4468840"/>
            <a:ext cx="5190632" cy="430000"/>
          </a:xfrm>
          <a:prstGeom prst="roundRect">
            <a:avLst>
              <a:gd name="adj" fmla="val 15000"/>
            </a:avLst>
          </a:prstGeom>
          <a:solidFill>
            <a:srgbClr val="E3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2920" y="4488840"/>
            <a:ext cx="3510632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58"/>
                </a:solidFill>
                <a:latin typeface="Segoe UI"/>
              </a:rPr>
              <a:t>Net margin after running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3552" y="4488840"/>
            <a:ext cx="160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2E6B57"/>
                </a:solidFill>
                <a:latin typeface="Segoe UI Semibold"/>
              </a:rPr>
              <a:t>~$6,841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920" y="5288840"/>
            <a:ext cx="511063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B9384"/>
                </a:solidFill>
                <a:latin typeface="Segoe UI"/>
              </a:rPr>
              <a:t>Running cost = ~12% of margin revenue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8143" y="2148840"/>
            <a:ext cx="5510632" cy="35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8143" y="2328840"/>
            <a:ext cx="511063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2E"/>
                </a:solidFill>
                <a:latin typeface="Segoe UI Semibold"/>
              </a:rPr>
              <a:t>100 bookings/day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8143" y="2768840"/>
            <a:ext cx="3510632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58"/>
                </a:solidFill>
                <a:latin typeface="Segoe UI"/>
              </a:rPr>
              <a:t>Bookings /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8775" y="2768840"/>
            <a:ext cx="160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3,000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8143" y="3198840"/>
            <a:ext cx="3510632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58"/>
                </a:solidFill>
                <a:latin typeface="Segoe UI"/>
              </a:rPr>
              <a:t>Nea sessions /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8775" y="3198840"/>
            <a:ext cx="160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100,000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8143" y="3628840"/>
            <a:ext cx="3510632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58"/>
                </a:solidFill>
                <a:latin typeface="Segoe UI"/>
              </a:rPr>
              <a:t>Running cost /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8775" y="3628840"/>
            <a:ext cx="160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$8,472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8143" y="4058840"/>
            <a:ext cx="3510632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58"/>
                </a:solidFill>
                <a:latin typeface="Segoe UI"/>
              </a:rPr>
              <a:t>Gross margin revenue / month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8775" y="4058840"/>
            <a:ext cx="160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Segoe UI Semibold"/>
              </a:rPr>
              <a:t>~$77,760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8143" y="4468840"/>
            <a:ext cx="5190632" cy="430000"/>
          </a:xfrm>
          <a:prstGeom prst="roundRect">
            <a:avLst>
              <a:gd name="adj" fmla="val 15000"/>
            </a:avLst>
          </a:prstGeom>
          <a:solidFill>
            <a:srgbClr val="E3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78143" y="4488840"/>
            <a:ext cx="3510632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58"/>
                </a:solidFill>
                <a:latin typeface="Segoe UI"/>
              </a:rPr>
              <a:t>Net margin after running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88775" y="4488840"/>
            <a:ext cx="160000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2E6B57"/>
                </a:solidFill>
                <a:latin typeface="Segoe UI Semibold"/>
              </a:rPr>
              <a:t>~$69,288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8143" y="5288840"/>
            <a:ext cx="511063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B9384"/>
                </a:solidFill>
                <a:latin typeface="Segoe UI"/>
              </a:rPr>
              <a:t>Running cost = ~11% of margin 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850000"/>
            <a:ext cx="11185855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6B6558"/>
                </a:solidFill>
                <a:latin typeface="Segoe UI"/>
              </a:rPr>
              <a:t>Same story at both scales — compute/infrastructure is a small, roughly flat share of margin (~11–12%). Confirms Luke's own read from July 21: marketing/adoption is the real bottleneck, not running cost. On Haiku 4.5 instead of Sonnet, running cost drops to ~$435/mo (10's) and ~$3,472/mo (100's) — further shrinking that share, at a quality trade-off worth testing before committing.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5720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A3E0F"/>
                </a:solidFill>
                <a:latin typeface="Segoe UI"/>
              </a:rPr>
              <a:t>06  —  FOR FRIDAY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858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A1A2E"/>
                </a:solidFill>
                <a:latin typeface="Segoe UI Semibold"/>
              </a:rPr>
              <a:t>What we need decided or moving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800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B6558"/>
                </a:solidFill>
                <a:latin typeface="Segoe UI"/>
              </a:rPr>
              <a:t>Plus one hard scheduling constraint that should anchor any target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B9384"/>
                </a:solidFill>
                <a:latin typeface="Segoe UI"/>
              </a:rPr>
              <a:t>BALKANEA MOBILE  —  SANDBOX / TEST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B9384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1185855" cy="9542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2289144"/>
            <a:ext cx="4000000" cy="807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Segoe UI Semibold"/>
              </a:rPr>
              <a:t>RateHawk sandbox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2920" y="2289144"/>
            <a:ext cx="6600000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dirty="0">
                <a:solidFill>
                  <a:srgbClr val="6B6558"/>
                </a:solidFill>
                <a:latin typeface="Segoe UI"/>
              </a:rPr>
              <a:t>Real status of the activation is progressing — timeline, or next follow-up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31134"/>
            <a:ext cx="11185855" cy="9542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" y="3371438"/>
            <a:ext cx="4000000" cy="807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Segoe UI Semibold"/>
              </a:rPr>
              <a:t>Search-flow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2920" y="3371438"/>
            <a:ext cx="6600000" cy="807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dirty="0">
                <a:solidFill>
                  <a:srgbClr val="6B6558"/>
                </a:solidFill>
                <a:latin typeface="Segoe UI"/>
              </a:rPr>
              <a:t>Pick one: web's live-search-then-enrich pattern, or the DB-first shortcut — needed before backend work continues.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313428"/>
            <a:ext cx="11185855" cy="9542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" y="4453732"/>
            <a:ext cx="4000000" cy="807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Segoe UI Semibold"/>
              </a:rPr>
              <a:t>Payment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2920" y="4453732"/>
            <a:ext cx="6600000" cy="807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6558"/>
                </a:solidFill>
                <a:latin typeface="Segoe UI"/>
              </a:rPr>
              <a:t>Confirm the WebView-to-existing-checkout approach genuinely avoids a new bank agreement.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395722"/>
            <a:ext cx="11185855" cy="9542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" y="5536026"/>
            <a:ext cx="4000000" cy="807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Segoe UI Semibold"/>
              </a:rPr>
              <a:t>Two deliverables to unblock this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2920" y="5536026"/>
            <a:ext cx="6600000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dirty="0" err="1">
                <a:solidFill>
                  <a:srgbClr val="6B6558"/>
                </a:solidFill>
                <a:latin typeface="Segoe UI"/>
              </a:rPr>
              <a:t>RateHawk</a:t>
            </a:r>
            <a:r>
              <a:rPr sz="1150" b="0" dirty="0">
                <a:solidFill>
                  <a:srgbClr val="6B6558"/>
                </a:solidFill>
                <a:latin typeface="Segoe UI"/>
              </a:rPr>
              <a:t> master dump onto shared staging</a:t>
            </a:r>
            <a:r>
              <a:rPr lang="en-US" sz="1150" b="0" dirty="0">
                <a:solidFill>
                  <a:srgbClr val="6B6558"/>
                </a:solidFill>
                <a:latin typeface="Segoe UI"/>
              </a:rPr>
              <a:t> and sandbox access</a:t>
            </a:r>
            <a:r>
              <a:rPr sz="1150" b="0" dirty="0">
                <a:solidFill>
                  <a:srgbClr val="6B6558"/>
                </a:solidFill>
                <a:latin typeface="Segoe UI"/>
              </a:rPr>
              <a:t>, and the bank plugin docs from Ivan.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" y="6345556"/>
            <a:ext cx="11185855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dirty="0">
                <a:solidFill>
                  <a:srgbClr val="9B9384"/>
                </a:solidFill>
                <a:latin typeface="Segoe UI"/>
              </a:rPr>
              <a:t>Store submission, once ready: </a:t>
            </a:r>
            <a:r>
              <a:rPr sz="950" b="0" dirty="0">
                <a:solidFill>
                  <a:srgbClr val="9B9384"/>
                </a:solidFill>
                <a:latin typeface="Segoe UI"/>
              </a:rPr>
              <a:t>no Google Play account yet · Apple review ~3–5 days · Google's 14-day closed-testing minimum · ~1 month total per Hristijan's estimate.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1414</Words>
  <Application>Microsoft Office PowerPoint</Application>
  <PresentationFormat>Widescreen</PresentationFormat>
  <Paragraphs>129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Ray Weale</dc:creator>
  <cp:keywords/>
  <dc:description>generated using python-pptx</dc:description>
  <cp:lastModifiedBy>Ray Weale</cp:lastModifiedBy>
  <cp:revision>3</cp:revision>
  <dcterms:created xsi:type="dcterms:W3CDTF">2013-01-27T09:14:16Z</dcterms:created>
  <dcterms:modified xsi:type="dcterms:W3CDTF">2026-08-04T14:08:26Z</dcterms:modified>
  <cp:category/>
</cp:coreProperties>
</file>