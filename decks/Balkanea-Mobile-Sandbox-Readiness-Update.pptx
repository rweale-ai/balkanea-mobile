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5" r:id="rId6"/>
    <p:sldId id="260" r:id="rId7"/>
    <p:sldId id="264" r:id="rId8"/>
    <p:sldId id="261" r:id="rId9"/>
    <p:sldId id="262"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6" d="100"/>
          <a:sy n="96" d="100"/>
        </p:scale>
        <p:origin x="10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2A"/>
        </a:solidFill>
        <a:effectLst/>
      </p:bgPr>
    </p:bg>
    <p:spTree>
      <p:nvGrpSpPr>
        <p:cNvPr id="1" name=""/>
        <p:cNvGrpSpPr/>
        <p:nvPr/>
      </p:nvGrpSpPr>
      <p:grpSpPr>
        <a:xfrm>
          <a:off x="0" y="0"/>
          <a:ext cx="0" cy="0"/>
          <a:chOff x="0" y="0"/>
          <a:chExt cx="0" cy="0"/>
        </a:xfrm>
      </p:grpSpPr>
      <p:sp>
        <p:nvSpPr>
          <p:cNvPr id="2" name="TextBox 1"/>
          <p:cNvSpPr txBox="1"/>
          <p:nvPr/>
        </p:nvSpPr>
        <p:spPr>
          <a:xfrm>
            <a:off x="502920" y="2331720"/>
            <a:ext cx="11185855" cy="365760"/>
          </a:xfrm>
          <a:prstGeom prst="rect">
            <a:avLst/>
          </a:prstGeom>
          <a:noFill/>
        </p:spPr>
        <p:txBody>
          <a:bodyPr wrap="square" lIns="0" tIns="0" rIns="0" bIns="0" anchor="t">
            <a:spAutoFit/>
          </a:bodyPr>
          <a:lstStyle/>
          <a:p>
            <a:pPr algn="l">
              <a:spcAft>
                <a:spcPts val="0"/>
              </a:spcAft>
            </a:pPr>
            <a:r>
              <a:rPr sz="1300" b="1">
                <a:solidFill>
                  <a:srgbClr val="ED8323"/>
                </a:solidFill>
                <a:latin typeface="Segoe UI"/>
              </a:rPr>
              <a:t>BALKANEA MOBILE  —  SANDBOX / TEST READINESS UPDATE</a:t>
            </a:r>
          </a:p>
        </p:txBody>
      </p:sp>
      <p:sp>
        <p:nvSpPr>
          <p:cNvPr id="3" name="TextBox 2"/>
          <p:cNvSpPr txBox="1"/>
          <p:nvPr/>
        </p:nvSpPr>
        <p:spPr>
          <a:xfrm>
            <a:off x="502920" y="2743200"/>
            <a:ext cx="9800000" cy="1554480"/>
          </a:xfrm>
          <a:prstGeom prst="rect">
            <a:avLst/>
          </a:prstGeom>
          <a:noFill/>
        </p:spPr>
        <p:txBody>
          <a:bodyPr wrap="square" lIns="0" tIns="0" rIns="0" bIns="0" anchor="t">
            <a:spAutoFit/>
          </a:bodyPr>
          <a:lstStyle/>
          <a:p>
            <a:pPr algn="l">
              <a:lnSpc>
                <a:spcPct val="105000"/>
              </a:lnSpc>
              <a:spcAft>
                <a:spcPts val="0"/>
              </a:spcAft>
            </a:pPr>
            <a:r>
              <a:rPr sz="4000" b="1">
                <a:solidFill>
                  <a:srgbClr val="FBF6EE"/>
                </a:solidFill>
                <a:latin typeface="Segoe UI Semibold"/>
              </a:rPr>
              <a:t>What's changed since the last review</a:t>
            </a:r>
          </a:p>
          <a:p>
            <a:pPr algn="l">
              <a:lnSpc>
                <a:spcPct val="105000"/>
              </a:lnSpc>
              <a:spcAft>
                <a:spcPts val="0"/>
              </a:spcAft>
            </a:pPr>
            <a:r>
              <a:rPr sz="4000" b="1">
                <a:solidFill>
                  <a:srgbClr val="FBF6EE"/>
                </a:solidFill>
                <a:latin typeface="Segoe UI Semibold"/>
              </a:rPr>
              <a:t>and what still needs a decision</a:t>
            </a:r>
          </a:p>
        </p:txBody>
      </p:sp>
      <p:sp>
        <p:nvSpPr>
          <p:cNvPr id="4" name="TextBox 3"/>
          <p:cNvSpPr txBox="1"/>
          <p:nvPr/>
        </p:nvSpPr>
        <p:spPr>
          <a:xfrm>
            <a:off x="502920" y="4343400"/>
            <a:ext cx="8053816" cy="640080"/>
          </a:xfrm>
          <a:prstGeom prst="rect">
            <a:avLst/>
          </a:prstGeom>
          <a:noFill/>
        </p:spPr>
        <p:txBody>
          <a:bodyPr wrap="square" lIns="0" tIns="0" rIns="0" bIns="0" anchor="t">
            <a:spAutoFit/>
          </a:bodyPr>
          <a:lstStyle/>
          <a:p>
            <a:pPr algn="l">
              <a:lnSpc>
                <a:spcPct val="120000"/>
              </a:lnSpc>
              <a:spcAft>
                <a:spcPts val="0"/>
              </a:spcAft>
            </a:pPr>
            <a:r>
              <a:rPr sz="1450" b="0">
                <a:solidFill>
                  <a:srgbClr val="C9D9D3"/>
                </a:solidFill>
                <a:latin typeface="Segoe UI"/>
              </a:rPr>
              <a:t>Hotel database is live, RateHawk sandbox is being provisioned, and payments hit a</a:t>
            </a:r>
          </a:p>
          <a:p>
            <a:pPr algn="l">
              <a:lnSpc>
                <a:spcPct val="120000"/>
              </a:lnSpc>
              <a:spcAft>
                <a:spcPts val="0"/>
              </a:spcAft>
            </a:pPr>
            <a:r>
              <a:rPr sz="1450" b="0">
                <a:solidFill>
                  <a:srgbClr val="C9D9D3"/>
                </a:solidFill>
                <a:latin typeface="Segoe UI"/>
              </a:rPr>
              <a:t>new architecture call — prepared for review with Dragana &amp; Hristijan</a:t>
            </a:r>
          </a:p>
        </p:txBody>
      </p:sp>
      <p:sp>
        <p:nvSpPr>
          <p:cNvPr id="5" name="TextBox 4"/>
          <p:cNvSpPr txBox="1"/>
          <p:nvPr/>
        </p:nvSpPr>
        <p:spPr>
          <a:xfrm>
            <a:off x="502920" y="5166360"/>
            <a:ext cx="11185855" cy="320040"/>
          </a:xfrm>
          <a:prstGeom prst="rect">
            <a:avLst/>
          </a:prstGeom>
          <a:noFill/>
        </p:spPr>
        <p:txBody>
          <a:bodyPr wrap="square" lIns="0" tIns="0" rIns="0" bIns="0" anchor="t">
            <a:spAutoFit/>
          </a:bodyPr>
          <a:lstStyle/>
          <a:p>
            <a:pPr algn="l">
              <a:spcAft>
                <a:spcPts val="0"/>
              </a:spcAft>
            </a:pPr>
            <a:r>
              <a:rPr sz="1150" b="1">
                <a:solidFill>
                  <a:srgbClr val="9FB8AE"/>
                </a:solidFill>
                <a:latin typeface="Segoe UI"/>
              </a:rPr>
              <a:t>Stage:  </a:t>
            </a:r>
            <a:r>
              <a:rPr sz="1150" b="0">
                <a:solidFill>
                  <a:srgbClr val="E6EFEC"/>
                </a:solidFill>
                <a:latin typeface="Segoe UI"/>
              </a:rPr>
              <a:t>TestFlight (v1.0.7, build 11)      </a:t>
            </a:r>
            <a:r>
              <a:rPr sz="1150" b="1">
                <a:solidFill>
                  <a:srgbClr val="9FB8AE"/>
                </a:solidFill>
                <a:latin typeface="Segoe UI"/>
              </a:rPr>
              <a:t>Systems:  </a:t>
            </a:r>
            <a:r>
              <a:rPr sz="1150" b="0">
                <a:solidFill>
                  <a:srgbClr val="E6EFEC"/>
                </a:solidFill>
                <a:latin typeface="Segoe UI"/>
              </a:rPr>
              <a:t>RateHawk · Bank checkout (architecture TBD) · Supabase auth      </a:t>
            </a:r>
            <a:r>
              <a:rPr sz="1150" b="1">
                <a:solidFill>
                  <a:srgbClr val="9FB8AE"/>
                </a:solidFill>
                <a:latin typeface="Segoe UI"/>
              </a:rPr>
              <a:t>Prepared:  </a:t>
            </a:r>
            <a:r>
              <a:rPr sz="1150" b="0">
                <a:solidFill>
                  <a:srgbClr val="E6EFEC"/>
                </a:solidFill>
                <a:latin typeface="Segoe UI"/>
              </a:rPr>
              <a:t>August 2026 (update)</a:t>
            </a:r>
          </a:p>
        </p:txBody>
      </p:sp>
      <p:pic>
        <p:nvPicPr>
          <p:cNvPr id="7" name="Picture 6">
            <a:extLst>
              <a:ext uri="{FF2B5EF4-FFF2-40B4-BE49-F238E27FC236}">
                <a16:creationId xmlns:a16="http://schemas.microsoft.com/office/drawing/2014/main" id="{A903FCA3-F03A-B7CA-CCBC-4278F557773B}"/>
              </a:ext>
            </a:extLst>
          </p:cNvPr>
          <p:cNvPicPr>
            <a:picLocks noChangeAspect="1"/>
          </p:cNvPicPr>
          <p:nvPr/>
        </p:nvPicPr>
        <p:blipFill>
          <a:blip r:embed="rId2"/>
          <a:stretch>
            <a:fillRect/>
          </a:stretch>
        </p:blipFill>
        <p:spPr>
          <a:xfrm>
            <a:off x="9737947" y="251460"/>
            <a:ext cx="2081882" cy="4526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01  —  AUTHENTICATION</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Google sign-in is live; Apple is the remaining gap</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Google OAuth is confirmed working end to end. What's left is Apple's provider secret and the Google Play account.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2</a:t>
            </a:r>
          </a:p>
        </p:txBody>
      </p:sp>
      <p:sp>
        <p:nvSpPr>
          <p:cNvPr id="7" name="Rounded Rectangle 6"/>
          <p:cNvSpPr/>
          <p:nvPr/>
        </p:nvSpPr>
        <p:spPr>
          <a:xfrm>
            <a:off x="502920" y="2148840"/>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826191" y="2295144"/>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6191" y="2356308"/>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OAuth is live</a:t>
            </a:r>
          </a:p>
        </p:txBody>
      </p:sp>
      <p:sp>
        <p:nvSpPr>
          <p:cNvPr id="11" name="TextBox 10"/>
          <p:cNvSpPr txBox="1"/>
          <p:nvPr/>
        </p:nvSpPr>
        <p:spPr>
          <a:xfrm>
            <a:off x="649224" y="2615144"/>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via the Supabase Management API: real client credentials are configured and the balkanea://auth/callback redirect is already allow-listed. No action needed.</a:t>
            </a:r>
          </a:p>
        </p:txBody>
      </p:sp>
      <p:sp>
        <p:nvSpPr>
          <p:cNvPr id="12" name="Rounded Rectangle 11"/>
          <p:cNvSpPr/>
          <p:nvPr/>
        </p:nvSpPr>
        <p:spPr>
          <a:xfrm>
            <a:off x="502920" y="3591898"/>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893501" y="3738202"/>
            <a:ext cx="64897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93501" y="3799366"/>
            <a:ext cx="648970" cy="115416"/>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a:t>
            </a:r>
            <a:endParaRPr sz="750" b="1" dirty="0">
              <a:solidFill>
                <a:srgbClr val="B8790A"/>
              </a:solidFill>
              <a:latin typeface="Segoe UI"/>
            </a:endParaRPr>
          </a:p>
        </p:txBody>
      </p:sp>
      <p:sp>
        <p:nvSpPr>
          <p:cNvPr id="15" name="TextBox 14"/>
          <p:cNvSpPr txBox="1"/>
          <p:nvPr/>
        </p:nvSpPr>
        <p:spPr>
          <a:xfrm>
            <a:off x="649224" y="372820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Native Sign-in with Apple — built, not switched on</a:t>
            </a:r>
          </a:p>
        </p:txBody>
      </p:sp>
      <p:sp>
        <p:nvSpPr>
          <p:cNvPr id="16" name="TextBox 15"/>
          <p:cNvSpPr txBox="1"/>
          <p:nvPr/>
        </p:nvSpPr>
        <p:spPr>
          <a:xfrm>
            <a:off x="649224" y="4058202"/>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Native code shipped 8/5, but Supabase's Apple provider has no client secret yet — it'll fail at runtime until that's set. Needs a Services ID + signed JWT from Ray's own Apple Developer account; Claude can't do this part.</a:t>
            </a:r>
          </a:p>
        </p:txBody>
      </p:sp>
      <p:sp>
        <p:nvSpPr>
          <p:cNvPr id="17" name="Rounded Rectangle 16"/>
          <p:cNvSpPr/>
          <p:nvPr/>
        </p:nvSpPr>
        <p:spPr>
          <a:xfrm>
            <a:off x="502920" y="5034956"/>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59471" y="5181260"/>
            <a:ext cx="983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59471" y="5242424"/>
            <a:ext cx="983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0" name="TextBox 19"/>
          <p:cNvSpPr txBox="1"/>
          <p:nvPr/>
        </p:nvSpPr>
        <p:spPr>
          <a:xfrm>
            <a:off x="649224" y="5171260"/>
            <a:ext cx="9830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Play Developer account</a:t>
            </a:r>
          </a:p>
        </p:txBody>
      </p:sp>
      <p:sp>
        <p:nvSpPr>
          <p:cNvPr id="21" name="TextBox 20"/>
          <p:cNvSpPr txBox="1"/>
          <p:nvPr/>
        </p:nvSpPr>
        <p:spPr>
          <a:xfrm>
            <a:off x="649224" y="5501260"/>
            <a:ext cx="10893247" cy="702434"/>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on the July 24 call: doesn't exist yet. Needed well ahead of any Android submission, since account verification itself takes calendar time independent of app readiness.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02  —  SEARCH &amp; BOOKING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Hotel database is live; sandbox key issued, blocked on IP whitelist</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The hotel-DB half of this is done. The sandbox key landed 8/17 — first live calls are failing on IP whitelisting, not the credentials themselves. Search-flow decision and booking endpoints still ahead.</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3</a:t>
            </a:r>
          </a:p>
        </p:txBody>
      </p:sp>
      <p:sp>
        <p:nvSpPr>
          <p:cNvPr id="7" name="Rounded Rectangle 6"/>
          <p:cNvSpPr/>
          <p:nvPr/>
        </p:nvSpPr>
        <p:spPr>
          <a:xfrm>
            <a:off x="502920" y="2148840"/>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624261" y="2295144"/>
            <a:ext cx="91821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24261" y="2295144"/>
            <a:ext cx="91821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BLOCKED</a:t>
            </a: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Sandbox key issued (ID 954) — first calls blocked, not by bad credentials</a:t>
            </a:r>
          </a:p>
        </p:txBody>
      </p:sp>
      <p:sp>
        <p:nvSpPr>
          <p:cNvPr id="11" name="TextBox 10"/>
          <p:cNvSpPr txBox="1"/>
          <p:nvPr/>
        </p:nvSpPr>
        <p:spPr>
          <a:xfrm>
            <a:off x="649224" y="261514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Received 8/17: Key ID 954 + access token. Live calls return 401 with the key recognized but the token unmatched — consistent with RateHawk's mandatory IP whitelist, not a bad key. Today's ask for Hristijan: does his server already have a RateHawk-whitelisted IP we can reuse?</a:t>
            </a:r>
          </a:p>
        </p:txBody>
      </p:sp>
      <p:sp>
        <p:nvSpPr>
          <p:cNvPr id="12" name="Rounded Rectangle 11"/>
          <p:cNvSpPr/>
          <p:nvPr/>
        </p:nvSpPr>
        <p:spPr>
          <a:xfrm>
            <a:off x="502920" y="3231134"/>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758881" y="3377438"/>
            <a:ext cx="78359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58881" y="3377438"/>
            <a:ext cx="78359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p>
        </p:txBody>
      </p:sp>
      <p:sp>
        <p:nvSpPr>
          <p:cNvPr id="15" name="TextBox 14"/>
          <p:cNvSpPr txBox="1"/>
          <p:nvPr/>
        </p:nvSpPr>
        <p:spPr>
          <a:xfrm>
            <a:off x="649224" y="3367438"/>
            <a:ext cx="9924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B2C vs. B2B is a pricing/availability split, not a separate hotel file</a:t>
            </a:r>
          </a:p>
        </p:txBody>
      </p:sp>
      <p:sp>
        <p:nvSpPr>
          <p:cNvPr id="16" name="TextBox 15"/>
          <p:cNvSpPr txBox="1"/>
          <p:nvPr/>
        </p:nvSpPr>
        <p:spPr>
          <a:xfrm>
            <a:off x="649224" y="3697438"/>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The master dataset (~4M hotels) is shared between B2C and B2B — RateHawk exposes only price/availability differently per credential type. The mobile app's code comment describing a separate 'B2C-approved hotel file' still needs a one-line update.</a:t>
            </a:r>
          </a:p>
        </p:txBody>
      </p:sp>
      <p:sp>
        <p:nvSpPr>
          <p:cNvPr id="17" name="Rounded Rectangle 16"/>
          <p:cNvSpPr/>
          <p:nvPr/>
        </p:nvSpPr>
        <p:spPr>
          <a:xfrm>
            <a:off x="502920" y="431342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826191" y="4459732"/>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6191" y="4520896"/>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20" name="TextBox 19"/>
          <p:cNvSpPr txBox="1"/>
          <p:nvPr/>
        </p:nvSpPr>
        <p:spPr>
          <a:xfrm>
            <a:off x="649224" y="444973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Mobile's own hotel database is live</a:t>
            </a:r>
          </a:p>
        </p:txBody>
      </p:sp>
      <p:sp>
        <p:nvSpPr>
          <p:cNvPr id="21" name="TextBox 20"/>
          <p:cNvSpPr txBox="1"/>
          <p:nvPr/>
        </p:nvSpPr>
        <p:spPr>
          <a:xfrm>
            <a:off x="649224" y="477973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850,218 hotels / 3,930,128 rooms imported and indexed across all 10 target countries (0 parse errors). Region-filtered, sorted queries benchmarked at ~0.2ms server-side — round trip is now ~215ms of pure network latency, not DB work. Hristijan already has Developer access to query it directly.</a:t>
            </a:r>
          </a:p>
        </p:txBody>
      </p:sp>
      <p:sp>
        <p:nvSpPr>
          <p:cNvPr id="22" name="Rounded Rectangle 21"/>
          <p:cNvSpPr/>
          <p:nvPr/>
        </p:nvSpPr>
        <p:spPr>
          <a:xfrm>
            <a:off x="502920" y="539572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512471" y="5542026"/>
            <a:ext cx="103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512471" y="5603190"/>
            <a:ext cx="1030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5" name="TextBox 24"/>
          <p:cNvSpPr txBox="1"/>
          <p:nvPr/>
        </p:nvSpPr>
        <p:spPr>
          <a:xfrm>
            <a:off x="649224" y="553202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Search-flow now settled by RateHawk's own rules; booking endpoints + 2 missing test hotels still to build</a:t>
            </a:r>
          </a:p>
        </p:txBody>
      </p:sp>
      <p:sp>
        <p:nvSpPr>
          <p:cNvPr id="26" name="TextBox 25"/>
          <p:cNvSpPr txBox="1"/>
          <p:nvPr/>
        </p:nvSpPr>
        <p:spPr>
          <a:xfrm>
            <a:off x="649224" y="5862026"/>
            <a:ext cx="10893247" cy="347146"/>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Not actually a choice anymore: </a:t>
            </a:r>
            <a:r>
              <a:rPr sz="1050" b="0" dirty="0" err="1">
                <a:solidFill>
                  <a:srgbClr val="6B6558"/>
                </a:solidFill>
                <a:latin typeface="Segoe UI"/>
              </a:rPr>
              <a:t>RateHawk's</a:t>
            </a:r>
            <a:r>
              <a:rPr sz="1050" b="0" dirty="0">
                <a:solidFill>
                  <a:srgbClr val="6B6558"/>
                </a:solidFill>
                <a:latin typeface="Segoe UI"/>
              </a:rPr>
              <a:t> docs prohibit calling the Content API live during search, so DB-first is required, not just faster. None of the room-rate, pre-book, or create-order calls exist yet. New: certification needs 2 specific test hotels (Conrad LA + one other) that aren't in our DB — confirmed</a:t>
            </a:r>
            <a:r>
              <a:rPr lang="en-US" sz="1050" b="0" dirty="0">
                <a:solidFill>
                  <a:srgbClr val="6B6558"/>
                </a:solidFill>
                <a:latin typeface="Segoe UI"/>
              </a:rPr>
              <a:t>.</a:t>
            </a:r>
            <a:r>
              <a:rPr sz="1050" b="0" dirty="0">
                <a:solidFill>
                  <a:srgbClr val="6B6558"/>
                </a:solidFill>
                <a:latin typeface="Segoe UI"/>
              </a:rPr>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03  —  PAYMENTS</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Bank checkout is real; WooCommerce-parity is open</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NLB-direct is confirmed real, buildable in 2–3 days. What's left: can WooCommerce's capabilities be fully recreated outside it?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4</a:t>
            </a:r>
          </a:p>
        </p:txBody>
      </p:sp>
      <p:sp>
        <p:nvSpPr>
          <p:cNvPr id="12" name="Rounded Rectangle 11"/>
          <p:cNvSpPr/>
          <p:nvPr/>
        </p:nvSpPr>
        <p:spPr>
          <a:xfrm>
            <a:off x="421824" y="196081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610475" y="2107122"/>
            <a:ext cx="8509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10475" y="2107122"/>
            <a:ext cx="85090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SUPERSEDED</a:t>
            </a:r>
          </a:p>
        </p:txBody>
      </p:sp>
      <p:sp>
        <p:nvSpPr>
          <p:cNvPr id="15" name="TextBox 14"/>
          <p:cNvSpPr txBox="1"/>
          <p:nvPr/>
        </p:nvSpPr>
        <p:spPr>
          <a:xfrm>
            <a:off x="568128" y="2097122"/>
            <a:ext cx="10206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WooCommerce bridge — built, verified, ruled out</a:t>
            </a:r>
          </a:p>
        </p:txBody>
      </p:sp>
      <p:sp>
        <p:nvSpPr>
          <p:cNvPr id="16" name="TextBox 15"/>
          <p:cNvSpPr txBox="1"/>
          <p:nvPr/>
        </p:nvSpPr>
        <p:spPr>
          <a:xfrm>
            <a:off x="568128" y="242712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built and documented the ‘Mobile Payment Bridge’ plugin — WebView opens a guest WooCommerce order-pay page, status polled via REST. Verified live against a real staging order. But it's built entirely on WooCommerce's order-key model, which ‘no WooCommerce in the architecture’ now rules out.</a:t>
            </a:r>
          </a:p>
        </p:txBody>
      </p:sp>
      <p:sp>
        <p:nvSpPr>
          <p:cNvPr id="17" name="Rounded Rectangle 16"/>
          <p:cNvSpPr/>
          <p:nvPr/>
        </p:nvSpPr>
        <p:spPr>
          <a:xfrm>
            <a:off x="421824" y="304311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071995" y="3189416"/>
            <a:ext cx="138938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71995" y="3189416"/>
            <a:ext cx="138938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 ON PARTNER</a:t>
            </a:r>
          </a:p>
        </p:txBody>
      </p:sp>
      <p:sp>
        <p:nvSpPr>
          <p:cNvPr id="20" name="TextBox 19"/>
          <p:cNvSpPr txBox="1"/>
          <p:nvPr/>
        </p:nvSpPr>
        <p:spPr>
          <a:xfrm>
            <a:off x="568128" y="317941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NLB-direct — confirmed real, Hristijan's top priority, 2–3 days to build</a:t>
            </a:r>
          </a:p>
        </p:txBody>
      </p:sp>
      <p:sp>
        <p:nvSpPr>
          <p:cNvPr id="21" name="TextBox 20"/>
          <p:cNvSpPr txBox="1"/>
          <p:nvPr/>
        </p:nvSpPr>
        <p:spPr>
          <a:xfrm>
            <a:off x="568128" y="3509416"/>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directly by Hristijan on the 8/14 call: a direct API integration works against NLB, skipping WooCommerce entirely — 'two to three days tops' to build, now his top priority ahead of other work. Only remaining blocker: NLB needs to whitelist the server's IP for direct API access.</a:t>
            </a:r>
          </a:p>
        </p:txBody>
      </p:sp>
      <p:sp>
        <p:nvSpPr>
          <p:cNvPr id="22" name="Rounded Rectangle 21"/>
          <p:cNvSpPr/>
          <p:nvPr/>
        </p:nvSpPr>
        <p:spPr>
          <a:xfrm>
            <a:off x="421824" y="4125406"/>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206615" y="4271710"/>
            <a:ext cx="125476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06615" y="4271710"/>
            <a:ext cx="125476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ACTION THIS WEEK</a:t>
            </a:r>
          </a:p>
        </p:txBody>
      </p:sp>
      <p:sp>
        <p:nvSpPr>
          <p:cNvPr id="25" name="TextBox 24"/>
          <p:cNvSpPr txBox="1"/>
          <p:nvPr/>
        </p:nvSpPr>
        <p:spPr>
          <a:xfrm>
            <a:off x="568128" y="4307986"/>
            <a:ext cx="10347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Today’s call</a:t>
            </a:r>
          </a:p>
        </p:txBody>
      </p:sp>
      <p:sp>
        <p:nvSpPr>
          <p:cNvPr id="26" name="TextBox 25"/>
          <p:cNvSpPr txBox="1"/>
          <p:nvPr/>
        </p:nvSpPr>
        <p:spPr>
          <a:xfrm>
            <a:off x="568128" y="4591710"/>
            <a:ext cx="10893247" cy="347146"/>
          </a:xfrm>
          <a:prstGeom prst="rect">
            <a:avLst/>
          </a:prstGeom>
          <a:noFill/>
        </p:spPr>
        <p:txBody>
          <a:bodyPr wrap="square" lIns="0" tIns="0" rIns="0" bIns="0" anchor="t">
            <a:spAutoFit/>
          </a:bodyPr>
          <a:lstStyle/>
          <a:p>
            <a:pPr algn="l">
              <a:lnSpc>
                <a:spcPct val="112000"/>
              </a:lnSpc>
              <a:spcAft>
                <a:spcPts val="0"/>
              </a:spcAft>
            </a:pPr>
            <a:r>
              <a:rPr sz="1050">
                <a:solidFill>
                  <a:srgbClr val="6B6558"/>
                </a:solidFill>
                <a:latin typeface="Segoe UI"/>
              </a:rPr>
              <a:t>Confirm NLB IP-whitelist status/timeline, whether the direct flow still writes a WooCommerce order for reconciliation, and — new — whether Hristijan's server already has a RateHawk-whitelisted IP we could reuse for the mobile sandbox key instead of standing up separate infra.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04  —  LIVE DEMO</a:t>
            </a:r>
          </a:p>
        </p:txBody>
      </p:sp>
      <p:sp>
        <p:nvSpPr>
          <p:cNvPr id="3" name="TextBox 2"/>
          <p:cNvSpPr txBox="1"/>
          <p:nvPr/>
        </p:nvSpPr>
        <p:spPr>
          <a:xfrm>
            <a:off x="502920" y="749808"/>
            <a:ext cx="11183112" cy="415498"/>
          </a:xfrm>
          <a:prstGeom prst="rect">
            <a:avLst/>
          </a:prstGeom>
          <a:noFill/>
        </p:spPr>
        <p:txBody>
          <a:bodyPr wrap="square" lIns="0" tIns="0" rIns="0" bIns="0">
            <a:spAutoFit/>
          </a:bodyPr>
          <a:lstStyle/>
          <a:p>
            <a:pPr algn="l"/>
            <a:r>
              <a:rPr lang="en-US" sz="2700" b="1" dirty="0">
                <a:solidFill>
                  <a:srgbClr val="1A1A2E"/>
                </a:solidFill>
                <a:latin typeface="Segoe UI Semibold"/>
              </a:rPr>
              <a:t>P</a:t>
            </a:r>
            <a:r>
              <a:rPr sz="2700" b="1" dirty="0">
                <a:solidFill>
                  <a:srgbClr val="1A1A2E"/>
                </a:solidFill>
                <a:latin typeface="Segoe UI Semibold"/>
              </a:rPr>
              <a:t>ayment gateway itself works</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A live, working demo — with an honest read on what it does and doesn’t tell us about the mobile app.</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5</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9466072" cy="176972"/>
          </a:xfrm>
          <a:prstGeom prst="rect">
            <a:avLst/>
          </a:prstGeom>
          <a:noFill/>
        </p:spPr>
        <p:txBody>
          <a:bodyPr wrap="square" lIns="0" tIns="0" rIns="0" bIns="0">
            <a:spAutoFit/>
          </a:bodyPr>
          <a:lstStyle/>
          <a:p>
            <a:pPr algn="l"/>
            <a:r>
              <a:rPr sz="1150" b="1" dirty="0">
                <a:solidFill>
                  <a:srgbClr val="1A1A2E"/>
                </a:solidFill>
                <a:latin typeface="Segoe UI Semibold"/>
              </a:rPr>
              <a:t>Live demo</a:t>
            </a:r>
          </a:p>
        </p:txBody>
      </p:sp>
      <p:sp>
        <p:nvSpPr>
          <p:cNvPr id="9" name="TextBox 8"/>
          <p:cNvSpPr txBox="1"/>
          <p:nvPr/>
        </p:nvSpPr>
        <p:spPr>
          <a:xfrm>
            <a:off x="629920" y="2551176"/>
            <a:ext cx="10929112" cy="428752"/>
          </a:xfrm>
          <a:prstGeom prst="rect">
            <a:avLst/>
          </a:prstGeom>
          <a:noFill/>
        </p:spPr>
        <p:txBody>
          <a:bodyPr wrap="square" lIns="0" tIns="0" rIns="0" bIns="0">
            <a:spAutoFit/>
          </a:bodyPr>
          <a:lstStyle/>
          <a:p>
            <a:pPr algn="l"/>
            <a:r>
              <a:rPr sz="1000" b="0" dirty="0">
                <a:solidFill>
                  <a:srgbClr val="6B6558"/>
                </a:solidFill>
                <a:latin typeface="Segoe UI"/>
              </a:rPr>
              <a:t>https://balkanea-lead-webhook.vercel.app/payment-bridge-demo.html — opens the real Bankart-hosted card form for a live sim-mode order and polls the bridge’s real status endpoint until it confirms. Verified working end-to-end 8/14.</a:t>
            </a:r>
          </a:p>
        </p:txBody>
      </p:sp>
      <p:sp>
        <p:nvSpPr>
          <p:cNvPr id="10" name="Rounded Rectangle 9"/>
          <p:cNvSpPr/>
          <p:nvPr/>
        </p:nvSpPr>
        <p:spPr>
          <a:xfrm>
            <a:off x="11111992" y="2237740"/>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46704"/>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proves: the bank side is real</a:t>
            </a:r>
          </a:p>
        </p:txBody>
      </p:sp>
      <p:sp>
        <p:nvSpPr>
          <p:cNvPr id="13" name="TextBox 12"/>
          <p:cNvSpPr txBox="1"/>
          <p:nvPr/>
        </p:nvSpPr>
        <p:spPr>
          <a:xfrm>
            <a:off x="629920" y="3621024"/>
            <a:ext cx="10929112" cy="428752"/>
          </a:xfrm>
          <a:prstGeom prst="rect">
            <a:avLst/>
          </a:prstGeom>
          <a:noFill/>
        </p:spPr>
        <p:txBody>
          <a:bodyPr wrap="square" lIns="0" tIns="0" rIns="0" bIns="0">
            <a:spAutoFit/>
          </a:bodyPr>
          <a:lstStyle/>
          <a:p>
            <a:pPr algn="l"/>
            <a:r>
              <a:rPr sz="1000" b="0">
                <a:solidFill>
                  <a:srgbClr val="6B6558"/>
                </a:solidFill>
                <a:latin typeface="Segoe UI"/>
              </a:rPr>
              <a:t>A real WooCommerce order, paid through Bankart’s actual hosted card form (sim mode), with the bridge’s own REST endpoint flipping from pending to success live. This is the one piece of the payment stack that’s fully working today.</a:t>
            </a:r>
          </a:p>
        </p:txBody>
      </p:sp>
      <p:sp>
        <p:nvSpPr>
          <p:cNvPr id="14" name="Rounded Rectangle 13"/>
          <p:cNvSpPr/>
          <p:nvPr/>
        </p:nvSpPr>
        <p:spPr>
          <a:xfrm>
            <a:off x="10775442" y="3307588"/>
            <a:ext cx="80899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CONFIRMED</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416552"/>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doesn’t prove: the app isn’t wired to it</a:t>
            </a:r>
          </a:p>
        </p:txBody>
      </p:sp>
      <p:sp>
        <p:nvSpPr>
          <p:cNvPr id="17" name="TextBox 16"/>
          <p:cNvSpPr txBox="1"/>
          <p:nvPr/>
        </p:nvSpPr>
        <p:spPr>
          <a:xfrm>
            <a:off x="629920" y="4690872"/>
            <a:ext cx="10929112" cy="428752"/>
          </a:xfrm>
          <a:prstGeom prst="rect">
            <a:avLst/>
          </a:prstGeom>
          <a:noFill/>
        </p:spPr>
        <p:txBody>
          <a:bodyPr wrap="square" lIns="0" tIns="0" rIns="0" bIns="0">
            <a:spAutoFit/>
          </a:bodyPr>
          <a:lstStyle/>
          <a:p>
            <a:pPr algn="l"/>
            <a:r>
              <a:rPr sz="1000" b="0">
                <a:solidFill>
                  <a:srgbClr val="6B6558"/>
                </a:solidFill>
                <a:latin typeface="Segoe UI"/>
              </a:rPr>
              <a:t>This runs entirely in a browser against WooCommerce’s guest checkout — the exact WooCommerce-based path that’s been ruled out for the final architecture. The mobile app itself still only runs the simulated flow (activeGateway = simulatedGateway).</a:t>
            </a:r>
          </a:p>
        </p:txBody>
      </p:sp>
      <p:sp>
        <p:nvSpPr>
          <p:cNvPr id="18" name="Rounded Rectangle 17"/>
          <p:cNvSpPr/>
          <p:nvPr/>
        </p:nvSpPr>
        <p:spPr>
          <a:xfrm>
            <a:off x="10977372" y="4377436"/>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CAVEAT</a:t>
            </a:r>
          </a:p>
        </p:txBody>
      </p:sp>
      <p:sp>
        <p:nvSpPr>
          <p:cNvPr id="22" name="Rounded Rectangle 21"/>
          <p:cNvSpPr/>
          <p:nvPr/>
        </p:nvSpPr>
        <p:spPr>
          <a:xfrm>
            <a:off x="10977372" y="5447284"/>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ACTION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05  —  PLANNING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Path to a real sandbox/test build — phased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does all technical implementation; testing and store-asset design draw on existing team time. Payments and RateHawk are both gated by partners right now, not effort.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6</a:t>
            </a:r>
          </a:p>
        </p:txBody>
      </p:sp>
      <p:sp>
        <p:nvSpPr>
          <p:cNvPr id="7" name="Rounded Rectangle 6"/>
          <p:cNvSpPr/>
          <p:nvPr/>
        </p:nvSpPr>
        <p:spPr>
          <a:xfrm>
            <a:off x="502920" y="214884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2920" y="225884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920" y="225884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1 - UNBLOCK</a:t>
            </a:r>
          </a:p>
        </p:txBody>
      </p:sp>
      <p:sp>
        <p:nvSpPr>
          <p:cNvPr id="10" name="TextBox 9"/>
          <p:cNvSpPr txBox="1"/>
          <p:nvPr/>
        </p:nvSpPr>
        <p:spPr>
          <a:xfrm>
            <a:off x="612920" y="251884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Partner-gated, timeline not ours to set</a:t>
            </a:r>
          </a:p>
        </p:txBody>
      </p:sp>
      <p:sp>
        <p:nvSpPr>
          <p:cNvPr id="11" name="TextBox 10"/>
          <p:cNvSpPr txBox="1"/>
          <p:nvPr/>
        </p:nvSpPr>
        <p:spPr>
          <a:xfrm>
            <a:off x="612920" y="2758840"/>
            <a:ext cx="10750000" cy="150426"/>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NLB-direct payment spec from Hristijan/Ivan (the new critical path — nothing on payments builds further until it lands), RateHawk sandbox key (contract confirmed 8/14, issuance in progress), and Google Play Developer account creation (still not started).</a:t>
            </a:r>
          </a:p>
        </p:txBody>
      </p:sp>
      <p:sp>
        <p:nvSpPr>
          <p:cNvPr id="12" name="Rounded Rectangle 11"/>
          <p:cNvSpPr/>
          <p:nvPr/>
        </p:nvSpPr>
        <p:spPr>
          <a:xfrm>
            <a:off x="502920" y="322663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2920" y="333663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920" y="333663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2 - BUILD</a:t>
            </a:r>
          </a:p>
        </p:txBody>
      </p:sp>
      <p:sp>
        <p:nvSpPr>
          <p:cNvPr id="15" name="TextBox 14"/>
          <p:cNvSpPr txBox="1"/>
          <p:nvPr/>
        </p:nvSpPr>
        <p:spPr>
          <a:xfrm>
            <a:off x="612920" y="359663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~2–3 weeks once Phase 1 clears  ·  Claude-implemented</a:t>
            </a:r>
          </a:p>
        </p:txBody>
      </p:sp>
      <p:sp>
        <p:nvSpPr>
          <p:cNvPr id="16" name="TextBox 15"/>
          <p:cNvSpPr txBox="1"/>
          <p:nvPr/>
        </p:nvSpPr>
        <p:spPr>
          <a:xfrm>
            <a:off x="612920" y="383663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Payment gateway built against the NLB-direct spec once it lands (net-new — two earlier attempts were built on wrong assumptions and discarded), RateHawk's mobile-specific room-rate/pre-book/create-order endpoints plus their certification checklist, search-flow wired up, and Apple's OAuth secret configured for the native sign-in code already shipped.</a:t>
            </a:r>
          </a:p>
        </p:txBody>
      </p:sp>
      <p:sp>
        <p:nvSpPr>
          <p:cNvPr id="17" name="Rounded Rectangle 16"/>
          <p:cNvSpPr/>
          <p:nvPr/>
        </p:nvSpPr>
        <p:spPr>
          <a:xfrm>
            <a:off x="502920" y="430442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2920" y="441442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2920" y="441442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3 - TEST</a:t>
            </a:r>
          </a:p>
        </p:txBody>
      </p:sp>
      <p:sp>
        <p:nvSpPr>
          <p:cNvPr id="20" name="TextBox 19"/>
          <p:cNvSpPr txBox="1"/>
          <p:nvPr/>
        </p:nvSpPr>
        <p:spPr>
          <a:xfrm>
            <a:off x="612920" y="467442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~3–5 days, parallel across existing testers</a:t>
            </a:r>
          </a:p>
        </p:txBody>
      </p:sp>
      <p:sp>
        <p:nvSpPr>
          <p:cNvPr id="21" name="TextBox 20"/>
          <p:cNvSpPr txBox="1"/>
          <p:nvPr/>
        </p:nvSpPr>
        <p:spPr>
          <a:xfrm>
            <a:off x="612920" y="4914420"/>
            <a:ext cx="10750000" cy="150426"/>
          </a:xfrm>
          <a:prstGeom prst="rect">
            <a:avLst/>
          </a:prstGeom>
          <a:noFill/>
        </p:spPr>
        <p:txBody>
          <a:bodyPr wrap="square" lIns="0" tIns="0" rIns="0" bIns="0" anchor="t">
            <a:spAutoFit/>
          </a:bodyPr>
          <a:lstStyle/>
          <a:p>
            <a:pPr algn="l">
              <a:lnSpc>
                <a:spcPct val="112000"/>
              </a:lnSpc>
              <a:spcAft>
                <a:spcPts val="0"/>
              </a:spcAft>
            </a:pPr>
            <a:r>
              <a:rPr sz="950" b="0" dirty="0">
                <a:solidFill>
                  <a:srgbClr val="6B6558"/>
                </a:solidFill>
                <a:latin typeface="Segoe UI"/>
              </a:rPr>
              <a:t>Structured QA across auth, search, booking, and payment — spread across the TestFlight testers. Store assets (screenshots, listing copy): ~2–3 days of design time on top of already-</a:t>
            </a:r>
            <a:r>
              <a:rPr sz="950" b="0" dirty="0" err="1">
                <a:solidFill>
                  <a:srgbClr val="6B6558"/>
                </a:solidFill>
                <a:latin typeface="Segoe UI"/>
              </a:rPr>
              <a:t>speced</a:t>
            </a:r>
            <a:r>
              <a:rPr sz="950" b="0" dirty="0">
                <a:solidFill>
                  <a:srgbClr val="6B6558"/>
                </a:solidFill>
                <a:latin typeface="Segoe UI"/>
              </a:rPr>
              <a:t> UI.</a:t>
            </a:r>
          </a:p>
        </p:txBody>
      </p:sp>
      <p:sp>
        <p:nvSpPr>
          <p:cNvPr id="22" name="Rounded Rectangle 21"/>
          <p:cNvSpPr/>
          <p:nvPr/>
        </p:nvSpPr>
        <p:spPr>
          <a:xfrm>
            <a:off x="502920" y="538221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12920" y="549221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920" y="549221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4 - SUBMIT</a:t>
            </a:r>
          </a:p>
        </p:txBody>
      </p:sp>
      <p:sp>
        <p:nvSpPr>
          <p:cNvPr id="25" name="TextBox 24"/>
          <p:cNvSpPr txBox="1"/>
          <p:nvPr/>
        </p:nvSpPr>
        <p:spPr>
          <a:xfrm>
            <a:off x="612920" y="5752210"/>
            <a:ext cx="10800000" cy="176972"/>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 month+, both stores + RateHawk cert  ·  estimate</a:t>
            </a:r>
          </a:p>
        </p:txBody>
      </p:sp>
      <p:sp>
        <p:nvSpPr>
          <p:cNvPr id="26" name="TextBox 25"/>
          <p:cNvSpPr txBox="1"/>
          <p:nvPr/>
        </p:nvSpPr>
        <p:spPr>
          <a:xfrm>
            <a:off x="612920" y="599221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Apple review ~3–5 days (real travel payments = higher scrutiny). Google Play's 14-day mandatory closed-testing period is the long pole. New: RateHawk's own certification (pre-cert checklist + demo access) also gates production API access, running in parallel. Budget at least one rejection-and-resubmit round on each store.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06  —  ARCHITECTURE</a:t>
            </a:r>
          </a:p>
        </p:txBody>
      </p:sp>
      <p:sp>
        <p:nvSpPr>
          <p:cNvPr id="3" name="TextBox 2"/>
          <p:cNvSpPr txBox="1"/>
          <p:nvPr/>
        </p:nvSpPr>
        <p:spPr>
          <a:xfrm>
            <a:off x="502920" y="749808"/>
            <a:ext cx="11183112" cy="502920"/>
          </a:xfrm>
          <a:prstGeom prst="rect">
            <a:avLst/>
          </a:prstGeom>
          <a:noFill/>
        </p:spPr>
        <p:txBody>
          <a:bodyPr wrap="square" lIns="0" tIns="0" rIns="0" bIns="0">
            <a:spAutoFit/>
          </a:bodyPr>
          <a:lstStyle/>
          <a:p>
            <a:pPr algn="l"/>
            <a:r>
              <a:rPr sz="2700" b="1">
                <a:solidFill>
                  <a:srgbClr val="1A1A2E"/>
                </a:solidFill>
                <a:latin typeface="Segoe UI Semibold"/>
              </a:rPr>
              <a:t>Planned production architecture</a:t>
            </a:r>
          </a:p>
        </p:txBody>
      </p:sp>
      <p:sp>
        <p:nvSpPr>
          <p:cNvPr id="4" name="TextBox 3"/>
          <p:cNvSpPr txBox="1"/>
          <p:nvPr/>
        </p:nvSpPr>
        <p:spPr>
          <a:xfrm>
            <a:off x="502920" y="1280160"/>
            <a:ext cx="10799064" cy="365760"/>
          </a:xfrm>
          <a:prstGeom prst="rect">
            <a:avLst/>
          </a:prstGeom>
          <a:noFill/>
        </p:spPr>
        <p:txBody>
          <a:bodyPr wrap="square" lIns="0" tIns="0" rIns="0" bIns="0">
            <a:spAutoFit/>
          </a:bodyPr>
          <a:lstStyle/>
          <a:p>
            <a:pPr algn="l"/>
            <a:r>
              <a:rPr sz="1350" b="0">
                <a:solidFill>
                  <a:srgbClr val="6B6558"/>
                </a:solidFill>
                <a:latin typeface="Segoe UI"/>
              </a:rPr>
              <a:t>Two boxes are still open — payments, and the admin portal’s WooCommerce-parity gap. Everything else here is either live today or a scoped, unblocked build.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7</a:t>
            </a:r>
          </a:p>
        </p:txBody>
      </p:sp>
      <p:sp>
        <p:nvSpPr>
          <p:cNvPr id="7" name="TextBox 6"/>
          <p:cNvSpPr txBox="1"/>
          <p:nvPr/>
        </p:nvSpPr>
        <p:spPr>
          <a:xfrm>
            <a:off x="502920"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CLIENT</a:t>
            </a:r>
          </a:p>
        </p:txBody>
      </p:sp>
      <p:sp>
        <p:nvSpPr>
          <p:cNvPr id="8" name="TextBox 7"/>
          <p:cNvSpPr txBox="1"/>
          <p:nvPr/>
        </p:nvSpPr>
        <p:spPr>
          <a:xfrm>
            <a:off x="3145536"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BACKEND</a:t>
            </a:r>
          </a:p>
        </p:txBody>
      </p:sp>
      <p:sp>
        <p:nvSpPr>
          <p:cNvPr id="9" name="TextBox 8"/>
          <p:cNvSpPr txBox="1"/>
          <p:nvPr/>
        </p:nvSpPr>
        <p:spPr>
          <a:xfrm>
            <a:off x="5788152"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DATA</a:t>
            </a:r>
          </a:p>
        </p:txBody>
      </p:sp>
      <p:sp>
        <p:nvSpPr>
          <p:cNvPr id="10" name="TextBox 9"/>
          <p:cNvSpPr txBox="1"/>
          <p:nvPr/>
        </p:nvSpPr>
        <p:spPr>
          <a:xfrm>
            <a:off x="8430768" y="1783080"/>
            <a:ext cx="3255264" cy="182880"/>
          </a:xfrm>
          <a:prstGeom prst="rect">
            <a:avLst/>
          </a:prstGeom>
          <a:noFill/>
        </p:spPr>
        <p:txBody>
          <a:bodyPr wrap="square" lIns="0" tIns="0" rIns="0" bIns="0">
            <a:spAutoFit/>
          </a:bodyPr>
          <a:lstStyle/>
          <a:p>
            <a:pPr algn="ctr"/>
            <a:r>
              <a:rPr sz="900" b="1">
                <a:solidFill>
                  <a:srgbClr val="9B9384"/>
                </a:solidFill>
                <a:latin typeface="Segoe UI Semibold"/>
              </a:rPr>
              <a:t>PARTNERS</a:t>
            </a:r>
          </a:p>
        </p:txBody>
      </p:sp>
      <p:sp>
        <p:nvSpPr>
          <p:cNvPr id="11" name="Rounded Rectangle 10"/>
          <p:cNvSpPr/>
          <p:nvPr/>
        </p:nvSpPr>
        <p:spPr>
          <a:xfrm>
            <a:off x="502920"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2162556"/>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 Mobile App</a:t>
            </a:r>
          </a:p>
        </p:txBody>
      </p:sp>
      <p:sp>
        <p:nvSpPr>
          <p:cNvPr id="13" name="TextBox 12"/>
          <p:cNvSpPr txBox="1"/>
          <p:nvPr/>
        </p:nvSpPr>
        <p:spPr>
          <a:xfrm>
            <a:off x="629920" y="2400300"/>
            <a:ext cx="2077720" cy="806196"/>
          </a:xfrm>
          <a:prstGeom prst="rect">
            <a:avLst/>
          </a:prstGeom>
          <a:noFill/>
        </p:spPr>
        <p:txBody>
          <a:bodyPr wrap="square" lIns="0" tIns="0" rIns="0" bIns="0">
            <a:spAutoFit/>
          </a:bodyPr>
          <a:lstStyle/>
          <a:p>
            <a:pPr algn="l"/>
            <a:r>
              <a:rPr sz="900" b="0">
                <a:solidFill>
                  <a:srgbClr val="6B6558"/>
                </a:solidFill>
                <a:latin typeface="Segoe UI"/>
              </a:rPr>
              <a:t>Expo / React Native — iOS, Android, Web. Nea AI (Claude Haiku) search advisor. Booking flow: search → lock → pay → confirm.</a:t>
            </a:r>
          </a:p>
        </p:txBody>
      </p:sp>
      <p:sp>
        <p:nvSpPr>
          <p:cNvPr id="14" name="Rounded Rectangle 13"/>
          <p:cNvSpPr/>
          <p:nvPr/>
        </p:nvSpPr>
        <p:spPr>
          <a:xfrm>
            <a:off x="502920" y="350215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920"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Supabase Auth</a:t>
            </a:r>
          </a:p>
        </p:txBody>
      </p:sp>
      <p:sp>
        <p:nvSpPr>
          <p:cNvPr id="16" name="TextBox 15"/>
          <p:cNvSpPr txBox="1"/>
          <p:nvPr/>
        </p:nvSpPr>
        <p:spPr>
          <a:xfrm>
            <a:off x="629920" y="3854196"/>
            <a:ext cx="2077720" cy="531876"/>
          </a:xfrm>
          <a:prstGeom prst="rect">
            <a:avLst/>
          </a:prstGeom>
          <a:noFill/>
        </p:spPr>
        <p:txBody>
          <a:bodyPr wrap="square" lIns="0" tIns="0" rIns="0" bIns="0">
            <a:spAutoFit/>
          </a:bodyPr>
          <a:lstStyle/>
          <a:p>
            <a:pPr algn="l"/>
            <a:r>
              <a:rPr sz="900" b="0">
                <a:solidFill>
                  <a:srgbClr val="6B6558"/>
                </a:solidFill>
                <a:latin typeface="Segoe UI"/>
              </a:rPr>
              <a:t>Google (live) · Apple (native code shipped, provider secret pending) · Phone OTP · Guest.</a:t>
            </a:r>
          </a:p>
        </p:txBody>
      </p:sp>
      <p:sp>
        <p:nvSpPr>
          <p:cNvPr id="17" name="Rounded Rectangle 16"/>
          <p:cNvSpPr/>
          <p:nvPr/>
        </p:nvSpPr>
        <p:spPr>
          <a:xfrm>
            <a:off x="3145536" y="2363724"/>
            <a:ext cx="2331720" cy="17830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72536" y="247802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balkanea-lead-webhook</a:t>
            </a:r>
          </a:p>
        </p:txBody>
      </p:sp>
      <p:sp>
        <p:nvSpPr>
          <p:cNvPr id="19" name="TextBox 18"/>
          <p:cNvSpPr txBox="1"/>
          <p:nvPr/>
        </p:nvSpPr>
        <p:spPr>
          <a:xfrm>
            <a:off x="3272536" y="2715768"/>
            <a:ext cx="2077720" cy="1354836"/>
          </a:xfrm>
          <a:prstGeom prst="rect">
            <a:avLst/>
          </a:prstGeom>
          <a:noFill/>
        </p:spPr>
        <p:txBody>
          <a:bodyPr wrap="square" lIns="0" tIns="0" rIns="0" bIns="0">
            <a:spAutoFit/>
          </a:bodyPr>
          <a:lstStyle/>
          <a:p>
            <a:pPr algn="l"/>
            <a:r>
              <a:rPr sz="900" b="0">
                <a:solidFill>
                  <a:srgbClr val="6B6558"/>
                </a:solidFill>
                <a:latin typeface="Segoe UI"/>
              </a:rPr>
              <a:t>Vercel serverless (Node.js). Hotel search proxy, RateHawk mobile workflow (SERP / Prebook / create-order), payment gateway, Salesforce sync.</a:t>
            </a:r>
          </a:p>
        </p:txBody>
      </p:sp>
      <p:sp>
        <p:nvSpPr>
          <p:cNvPr id="20" name="Rounded Rectangle 19"/>
          <p:cNvSpPr/>
          <p:nvPr/>
        </p:nvSpPr>
        <p:spPr>
          <a:xfrm>
            <a:off x="5788152"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15152" y="234086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balkanea_hotels_sbx</a:t>
            </a:r>
          </a:p>
        </p:txBody>
      </p:sp>
      <p:sp>
        <p:nvSpPr>
          <p:cNvPr id="22" name="TextBox 21"/>
          <p:cNvSpPr txBox="1"/>
          <p:nvPr/>
        </p:nvSpPr>
        <p:spPr>
          <a:xfrm>
            <a:off x="5915152" y="2578608"/>
            <a:ext cx="2077720" cy="627888"/>
          </a:xfrm>
          <a:prstGeom prst="rect">
            <a:avLst/>
          </a:prstGeom>
          <a:noFill/>
        </p:spPr>
        <p:txBody>
          <a:bodyPr wrap="square" lIns="0" tIns="0" rIns="0" bIns="0">
            <a:spAutoFit/>
          </a:bodyPr>
          <a:lstStyle/>
          <a:p>
            <a:pPr algn="l"/>
            <a:r>
              <a:rPr sz="900" b="0">
                <a:solidFill>
                  <a:srgbClr val="6B6558"/>
                </a:solidFill>
                <a:latin typeface="Segoe UI"/>
              </a:rPr>
              <a:t>850,218 hotels / 3.9M rooms, all 10 countries. Region-filtered search, daily refresh from RateHawk dump.</a:t>
            </a:r>
          </a:p>
        </p:txBody>
      </p:sp>
      <p:sp>
        <p:nvSpPr>
          <p:cNvPr id="23" name="Rounded Rectangle 22"/>
          <p:cNvSpPr/>
          <p:nvPr/>
        </p:nvSpPr>
        <p:spPr>
          <a:xfrm>
            <a:off x="7545832" y="2137156"/>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24" name="Rounded Rectangle 23"/>
          <p:cNvSpPr/>
          <p:nvPr/>
        </p:nvSpPr>
        <p:spPr>
          <a:xfrm>
            <a:off x="5788152" y="3502152"/>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15152"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balkanea_sbx</a:t>
            </a:r>
          </a:p>
        </p:txBody>
      </p:sp>
      <p:sp>
        <p:nvSpPr>
          <p:cNvPr id="26" name="TextBox 25"/>
          <p:cNvSpPr txBox="1"/>
          <p:nvPr/>
        </p:nvSpPr>
        <p:spPr>
          <a:xfrm>
            <a:off x="5915152" y="3854196"/>
            <a:ext cx="2077720" cy="806196"/>
          </a:xfrm>
          <a:prstGeom prst="rect">
            <a:avLst/>
          </a:prstGeom>
          <a:noFill/>
        </p:spPr>
        <p:txBody>
          <a:bodyPr wrap="square" lIns="0" tIns="0" rIns="0" bIns="0">
            <a:spAutoFit/>
          </a:bodyPr>
          <a:lstStyle/>
          <a:p>
            <a:pPr algn="l"/>
            <a:r>
              <a:rPr sz="900" b="0">
                <a:solidFill>
                  <a:srgbClr val="6B6558"/>
                </a:solidFill>
                <a:latin typeface="Segoe UI"/>
              </a:rPr>
              <a:t>Bookings, profiles, payment_reference / payment_state. Migration ready, on hold pending the payment decision.</a:t>
            </a:r>
          </a:p>
        </p:txBody>
      </p:sp>
      <p:sp>
        <p:nvSpPr>
          <p:cNvPr id="27" name="Rounded Rectangle 26"/>
          <p:cNvSpPr/>
          <p:nvPr/>
        </p:nvSpPr>
        <p:spPr>
          <a:xfrm>
            <a:off x="8430768" y="2048256"/>
            <a:ext cx="3255264"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57768" y="2340864"/>
            <a:ext cx="3001264" cy="201168"/>
          </a:xfrm>
          <a:prstGeom prst="rect">
            <a:avLst/>
          </a:prstGeom>
          <a:noFill/>
        </p:spPr>
        <p:txBody>
          <a:bodyPr wrap="square" lIns="0" tIns="0" rIns="0" bIns="0">
            <a:spAutoFit/>
          </a:bodyPr>
          <a:lstStyle/>
          <a:p>
            <a:pPr algn="l"/>
            <a:r>
              <a:rPr sz="1150" b="1">
                <a:solidFill>
                  <a:srgbClr val="1A1A2E"/>
                </a:solidFill>
                <a:latin typeface="Segoe UI Semibold"/>
              </a:rPr>
              <a:t>RateHawk</a:t>
            </a:r>
          </a:p>
        </p:txBody>
      </p:sp>
      <p:sp>
        <p:nvSpPr>
          <p:cNvPr id="29" name="TextBox 28"/>
          <p:cNvSpPr txBox="1"/>
          <p:nvPr/>
        </p:nvSpPr>
        <p:spPr>
          <a:xfrm>
            <a:off x="8557768" y="2578608"/>
            <a:ext cx="3001264" cy="627888"/>
          </a:xfrm>
          <a:prstGeom prst="rect">
            <a:avLst/>
          </a:prstGeom>
          <a:noFill/>
        </p:spPr>
        <p:txBody>
          <a:bodyPr wrap="square" lIns="0" tIns="0" rIns="0" bIns="0">
            <a:spAutoFit/>
          </a:bodyPr>
          <a:lstStyle/>
          <a:p>
            <a:pPr algn="l"/>
            <a:r>
              <a:rPr sz="900" b="0">
                <a:solidFill>
                  <a:srgbClr val="6B6558"/>
                </a:solidFill>
                <a:latin typeface="Segoe UI"/>
              </a:rPr>
              <a:t>Separate mobile Office (contract "balkanea-mobile", confirmed 8/14). Sandbox key incoming → certification → production key.</a:t>
            </a:r>
          </a:p>
        </p:txBody>
      </p:sp>
      <p:sp>
        <p:nvSpPr>
          <p:cNvPr id="30" name="Rounded Rectangle 29"/>
          <p:cNvSpPr/>
          <p:nvPr/>
        </p:nvSpPr>
        <p:spPr>
          <a:xfrm>
            <a:off x="10640822" y="2137156"/>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IN PROGRESS</a:t>
            </a:r>
          </a:p>
        </p:txBody>
      </p:sp>
      <p:sp>
        <p:nvSpPr>
          <p:cNvPr id="31" name="Rounded Rectangle 30"/>
          <p:cNvSpPr/>
          <p:nvPr/>
        </p:nvSpPr>
        <p:spPr>
          <a:xfrm>
            <a:off x="8430768" y="3483864"/>
            <a:ext cx="3255264" cy="960120"/>
          </a:xfrm>
          <a:prstGeom prst="roundRect">
            <a:avLst>
              <a:gd name="adj" fmla="val 9000"/>
            </a:avLst>
          </a:prstGeom>
          <a:solidFill>
            <a:srgbClr val="FFFFFF"/>
          </a:solidFill>
          <a:ln w="15875">
            <a:solidFill>
              <a:srgbClr val="B8790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57768" y="3776472"/>
            <a:ext cx="3001264" cy="201168"/>
          </a:xfrm>
          <a:prstGeom prst="rect">
            <a:avLst/>
          </a:prstGeom>
          <a:noFill/>
        </p:spPr>
        <p:txBody>
          <a:bodyPr wrap="square" lIns="0" tIns="0" rIns="0" bIns="0">
            <a:spAutoFit/>
          </a:bodyPr>
          <a:lstStyle/>
          <a:p>
            <a:pPr algn="l"/>
            <a:r>
              <a:rPr sz="1150" b="1">
                <a:solidFill>
                  <a:srgbClr val="B8790A"/>
                </a:solidFill>
                <a:latin typeface="Segoe UI Semibold"/>
              </a:rPr>
              <a:t>Payment gateway (NLB-direct)</a:t>
            </a:r>
          </a:p>
        </p:txBody>
      </p:sp>
      <p:sp>
        <p:nvSpPr>
          <p:cNvPr id="33" name="TextBox 32"/>
          <p:cNvSpPr txBox="1"/>
          <p:nvPr/>
        </p:nvSpPr>
        <p:spPr>
          <a:xfrm>
            <a:off x="8557768" y="4014216"/>
            <a:ext cx="3001264" cy="353568"/>
          </a:xfrm>
          <a:prstGeom prst="rect">
            <a:avLst/>
          </a:prstGeom>
          <a:noFill/>
        </p:spPr>
        <p:txBody>
          <a:bodyPr wrap="square" lIns="0" tIns="0" rIns="0" bIns="0">
            <a:spAutoFit/>
          </a:bodyPr>
          <a:lstStyle/>
          <a:p>
            <a:pPr algn="l"/>
            <a:r>
              <a:rPr sz="900" b="0">
                <a:solidFill>
                  <a:srgbClr val="6B6558"/>
                </a:solidFill>
                <a:latin typeface="Segoe UI"/>
              </a:rPr>
              <a:t>No WooCommerce, per Ray. Real spec not yet in hand — asked Hristijan/Ivan. Nothing here is built.</a:t>
            </a:r>
          </a:p>
        </p:txBody>
      </p:sp>
      <p:sp>
        <p:nvSpPr>
          <p:cNvPr id="34" name="Rounded Rectangle 33"/>
          <p:cNvSpPr/>
          <p:nvPr/>
        </p:nvSpPr>
        <p:spPr>
          <a:xfrm>
            <a:off x="11179302" y="3572764"/>
            <a:ext cx="40513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TBD</a:t>
            </a:r>
          </a:p>
        </p:txBody>
      </p:sp>
      <p:sp>
        <p:nvSpPr>
          <p:cNvPr id="35" name="Rounded Rectangle 34"/>
          <p:cNvSpPr/>
          <p:nvPr/>
        </p:nvSpPr>
        <p:spPr>
          <a:xfrm>
            <a:off x="8430768" y="4645152"/>
            <a:ext cx="3255264" cy="8686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557768" y="4759452"/>
            <a:ext cx="3001264" cy="201168"/>
          </a:xfrm>
          <a:prstGeom prst="rect">
            <a:avLst/>
          </a:prstGeom>
          <a:noFill/>
        </p:spPr>
        <p:txBody>
          <a:bodyPr wrap="square" lIns="0" tIns="0" rIns="0" bIns="0">
            <a:spAutoFit/>
          </a:bodyPr>
          <a:lstStyle/>
          <a:p>
            <a:pPr algn="l"/>
            <a:r>
              <a:rPr sz="1150" b="1">
                <a:solidFill>
                  <a:srgbClr val="1A1A2E"/>
                </a:solidFill>
                <a:latin typeface="Segoe UI Semibold"/>
              </a:rPr>
              <a:t>Salesforce CRM</a:t>
            </a:r>
          </a:p>
        </p:txBody>
      </p:sp>
      <p:sp>
        <p:nvSpPr>
          <p:cNvPr id="37" name="TextBox 36"/>
          <p:cNvSpPr txBox="1"/>
          <p:nvPr/>
        </p:nvSpPr>
        <p:spPr>
          <a:xfrm>
            <a:off x="8557768" y="4997196"/>
            <a:ext cx="3001264" cy="440436"/>
          </a:xfrm>
          <a:prstGeom prst="rect">
            <a:avLst/>
          </a:prstGeom>
          <a:noFill/>
        </p:spPr>
        <p:txBody>
          <a:bodyPr wrap="square" lIns="0" tIns="0" rIns="0" bIns="0">
            <a:spAutoFit/>
          </a:bodyPr>
          <a:lstStyle/>
          <a:p>
            <a:pPr algn="l"/>
            <a:r>
              <a:rPr sz="900" b="0">
                <a:solidFill>
                  <a:srgbClr val="6B6558"/>
                </a:solidFill>
                <a:latin typeface="Segoe UI"/>
              </a:rPr>
              <a:t>Leads, booking sync, agent escalation.</a:t>
            </a:r>
          </a:p>
        </p:txBody>
      </p:sp>
      <p:cxnSp>
        <p:nvCxnSpPr>
          <p:cNvPr id="38" name="Connector 37"/>
          <p:cNvCxnSpPr/>
          <p:nvPr/>
        </p:nvCxnSpPr>
        <p:spPr>
          <a:xfrm>
            <a:off x="1668780" y="3282696"/>
            <a:ext cx="0" cy="21945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4420" y="3310128"/>
            <a:ext cx="1188720" cy="164592"/>
          </a:xfrm>
          <a:prstGeom prst="rect">
            <a:avLst/>
          </a:prstGeom>
          <a:solidFill>
            <a:srgbClr val="FAF7F2"/>
          </a:solidFill>
          <a:ln>
            <a:noFill/>
          </a:ln>
        </p:spPr>
        <p:txBody>
          <a:bodyPr wrap="square" lIns="0" tIns="0" rIns="0" bIns="0">
            <a:spAutoFit/>
          </a:bodyPr>
          <a:lstStyle/>
          <a:p>
            <a:pPr algn="ctr"/>
            <a:r>
              <a:rPr sz="800" b="0">
                <a:solidFill>
                  <a:srgbClr val="9B9384"/>
                </a:solidFill>
                <a:latin typeface="Segoe UI"/>
              </a:rPr>
              <a:t>client SDK</a:t>
            </a:r>
          </a:p>
        </p:txBody>
      </p:sp>
      <p:cxnSp>
        <p:nvCxnSpPr>
          <p:cNvPr id="41" name="Connector 40"/>
          <p:cNvCxnSpPr/>
          <p:nvPr/>
        </p:nvCxnSpPr>
        <p:spPr>
          <a:xfrm flipV="1">
            <a:off x="5477256" y="2665476"/>
            <a:ext cx="310896"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477256" y="3255264"/>
            <a:ext cx="310896" cy="864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477256" y="2665476"/>
            <a:ext cx="2953512"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477256" y="3255264"/>
            <a:ext cx="2953512" cy="182422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477256" y="3255264"/>
            <a:ext cx="2953512" cy="708660"/>
          </a:xfrm>
          <a:prstGeom prst="line">
            <a:avLst/>
          </a:prstGeom>
          <a:ln w="19050">
            <a:solidFill>
              <a:srgbClr val="B879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02920" y="6190488"/>
            <a:ext cx="365760" cy="0"/>
          </a:xfrm>
          <a:prstGeom prst="line">
            <a:avLst/>
          </a:prstGeom>
          <a:ln w="19050">
            <a:solidFill>
              <a:srgbClr val="B8790A"/>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108192"/>
            <a:ext cx="6400800" cy="182880"/>
          </a:xfrm>
          <a:prstGeom prst="rect">
            <a:avLst/>
          </a:prstGeom>
          <a:noFill/>
        </p:spPr>
        <p:txBody>
          <a:bodyPr wrap="square" lIns="0" tIns="0" rIns="0" bIns="0">
            <a:spAutoFit/>
          </a:bodyPr>
          <a:lstStyle/>
          <a:p>
            <a:pPr algn="l"/>
            <a:r>
              <a:rPr sz="900" b="0">
                <a:solidFill>
                  <a:srgbClr val="9B9384"/>
                </a:solidFill>
                <a:latin typeface="Segoe UI"/>
              </a:rPr>
              <a:t>= not yet built, pending the NLB-direct spec from Hristijan/Ivan</a:t>
            </a:r>
          </a:p>
        </p:txBody>
      </p:sp>
      <p:sp>
        <p:nvSpPr>
          <p:cNvPr id="48" name="Rounded Rectangle 47"/>
          <p:cNvSpPr/>
          <p:nvPr/>
        </p:nvSpPr>
        <p:spPr>
          <a:xfrm>
            <a:off x="502920" y="4608576"/>
            <a:ext cx="2331720" cy="129844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9920" y="4901184"/>
            <a:ext cx="2077720" cy="201168"/>
          </a:xfrm>
          <a:prstGeom prst="rect">
            <a:avLst/>
          </a:prstGeom>
          <a:noFill/>
        </p:spPr>
        <p:txBody>
          <a:bodyPr wrap="square" lIns="0" tIns="0" rIns="0" bIns="0">
            <a:spAutoFit/>
          </a:bodyPr>
          <a:lstStyle/>
          <a:p>
            <a:pPr algn="l"/>
            <a:r>
              <a:rPr sz="1150" b="1">
                <a:solidFill>
                  <a:srgbClr val="1A1A2E"/>
                </a:solidFill>
                <a:latin typeface="Segoe UI Semibold"/>
              </a:rPr>
              <a:t>Admin Portal</a:t>
            </a:r>
          </a:p>
        </p:txBody>
      </p:sp>
      <p:sp>
        <p:nvSpPr>
          <p:cNvPr id="50" name="TextBox 49"/>
          <p:cNvSpPr txBox="1"/>
          <p:nvPr/>
        </p:nvSpPr>
        <p:spPr>
          <a:xfrm>
            <a:off x="629920" y="5138928"/>
            <a:ext cx="2077720" cy="691896"/>
          </a:xfrm>
          <a:prstGeom prst="rect">
            <a:avLst/>
          </a:prstGeom>
          <a:noFill/>
        </p:spPr>
        <p:txBody>
          <a:bodyPr wrap="square" lIns="0" tIns="0" rIns="0" bIns="0">
            <a:spAutoFit/>
          </a:bodyPr>
          <a:lstStyle/>
          <a:p>
            <a:pPr algn="l"/>
            <a:r>
              <a:rPr sz="900" b="0">
                <a:solidFill>
                  <a:srgbClr val="6B6558"/>
                </a:solidFill>
                <a:latin typeface="Segoe UI"/>
              </a:rPr>
              <a:t>admin-payments.html — bookings + payment state, Capture/Void stubbed. Doesn’t cover WooCommerce’s refunds/cancellations/invoicing yet — inventorying that gap for Monday.</a:t>
            </a:r>
          </a:p>
        </p:txBody>
      </p:sp>
      <p:sp>
        <p:nvSpPr>
          <p:cNvPr id="51" name="Rounded Rectangle 50"/>
          <p:cNvSpPr/>
          <p:nvPr/>
        </p:nvSpPr>
        <p:spPr>
          <a:xfrm>
            <a:off x="2058670" y="469747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PARTIAL</a:t>
            </a:r>
          </a:p>
        </p:txBody>
      </p:sp>
      <p:cxnSp>
        <p:nvCxnSpPr>
          <p:cNvPr id="52" name="Connector 51"/>
          <p:cNvCxnSpPr/>
          <p:nvPr/>
        </p:nvCxnSpPr>
        <p:spPr>
          <a:xfrm>
            <a:off x="2834640" y="2665476"/>
            <a:ext cx="310896" cy="58521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834640" y="3250692"/>
            <a:ext cx="310896" cy="2007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07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 implementation actually costs</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performs all engineering — the cost drivers are calendar time, a small set of fixed fees, and the hotel-DB’s own hosting bill.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8</a:t>
            </a:r>
          </a:p>
        </p:txBody>
      </p:sp>
      <p:sp>
        <p:nvSpPr>
          <p:cNvPr id="7" name="Rounded Rectangle 6"/>
          <p:cNvSpPr/>
          <p:nvPr/>
        </p:nvSpPr>
        <p:spPr>
          <a:xfrm>
            <a:off x="502920" y="2148840"/>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302471" y="2295144"/>
            <a:ext cx="12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02471" y="2295144"/>
            <a:ext cx="12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Near-zero marginal cost</a:t>
            </a:r>
          </a:p>
        </p:txBody>
      </p:sp>
      <p:sp>
        <p:nvSpPr>
          <p:cNvPr id="10" name="TextBox 9"/>
          <p:cNvSpPr txBox="1"/>
          <p:nvPr/>
        </p:nvSpPr>
        <p:spPr>
          <a:xfrm>
            <a:off x="649224" y="2331445"/>
            <a:ext cx="9573247" cy="200055"/>
          </a:xfrm>
          <a:prstGeom prst="rect">
            <a:avLst/>
          </a:prstGeom>
          <a:noFill/>
        </p:spPr>
        <p:txBody>
          <a:bodyPr wrap="square" lIns="0" tIns="0" rIns="0" bIns="0" anchor="ctr">
            <a:spAutoFit/>
          </a:bodyPr>
          <a:lstStyle/>
          <a:p>
            <a:pPr algn="l">
              <a:spcAft>
                <a:spcPts val="0"/>
              </a:spcAft>
            </a:pPr>
            <a:r>
              <a:rPr sz="1300" b="1" dirty="0">
                <a:solidFill>
                  <a:srgbClr val="1A1A2E"/>
                </a:solidFill>
                <a:latin typeface="Segoe UI Semibold"/>
              </a:rPr>
              <a:t>Engineering</a:t>
            </a:r>
            <a:r>
              <a:rPr lang="en-US" sz="1300" b="1" dirty="0">
                <a:solidFill>
                  <a:srgbClr val="1A1A2E"/>
                </a:solidFill>
                <a:latin typeface="Segoe UI Semibold"/>
              </a:rPr>
              <a:t>/AI</a:t>
            </a:r>
            <a:r>
              <a:rPr sz="1300" b="1" dirty="0">
                <a:solidFill>
                  <a:srgbClr val="1A1A2E"/>
                </a:solidFill>
                <a:latin typeface="Segoe UI Semibold"/>
              </a:rPr>
              <a:t> labor</a:t>
            </a:r>
          </a:p>
        </p:txBody>
      </p:sp>
      <p:sp>
        <p:nvSpPr>
          <p:cNvPr id="11" name="TextBox 10"/>
          <p:cNvSpPr txBox="1"/>
          <p:nvPr/>
        </p:nvSpPr>
        <p:spPr>
          <a:xfrm>
            <a:off x="649224" y="2615184"/>
            <a:ext cx="10893247" cy="166199"/>
          </a:xfrm>
          <a:prstGeom prst="rect">
            <a:avLst/>
          </a:prstGeom>
          <a:noFill/>
        </p:spPr>
        <p:txBody>
          <a:bodyPr wrap="square" lIns="0" tIns="0" rIns="0" bIns="0" anchor="t">
            <a:spAutoFit/>
          </a:bodyPr>
          <a:lstStyle/>
          <a:p>
            <a:pPr algn="l">
              <a:lnSpc>
                <a:spcPct val="112000"/>
              </a:lnSpc>
              <a:spcAft>
                <a:spcPts val="0"/>
              </a:spcAft>
            </a:pPr>
            <a:r>
              <a:rPr lang="en-US" sz="1050" b="0">
                <a:solidFill>
                  <a:srgbClr val="6B6558"/>
                </a:solidFill>
                <a:latin typeface="Segoe UI"/>
              </a:rPr>
              <a:t>Estimated $400 AI Cost</a:t>
            </a:r>
            <a:endParaRPr sz="1050" b="0" dirty="0">
              <a:solidFill>
                <a:srgbClr val="6B6558"/>
              </a:solidFill>
              <a:latin typeface="Segoe UI"/>
            </a:endParaRPr>
          </a:p>
        </p:txBody>
      </p:sp>
      <p:sp>
        <p:nvSpPr>
          <p:cNvPr id="12" name="Rounded Rectangle 11"/>
          <p:cNvSpPr/>
          <p:nvPr/>
        </p:nvSpPr>
        <p:spPr>
          <a:xfrm>
            <a:off x="502920" y="3867912"/>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002471" y="4014216"/>
            <a:ext cx="15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02471" y="4014216"/>
            <a:ext cx="15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Existing-team time · rate TBD</a:t>
            </a:r>
          </a:p>
        </p:txBody>
      </p:sp>
      <p:sp>
        <p:nvSpPr>
          <p:cNvPr id="15" name="TextBox 14"/>
          <p:cNvSpPr txBox="1"/>
          <p:nvPr/>
        </p:nvSpPr>
        <p:spPr>
          <a:xfrm>
            <a:off x="649224" y="4050517"/>
            <a:ext cx="92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Testing &amp; design</a:t>
            </a:r>
          </a:p>
        </p:txBody>
      </p:sp>
      <p:sp>
        <p:nvSpPr>
          <p:cNvPr id="16" name="TextBox 15"/>
          <p:cNvSpPr txBox="1"/>
          <p:nvPr/>
        </p:nvSpPr>
        <p:spPr>
          <a:xfrm>
            <a:off x="649224" y="4334256"/>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QA pass draws on TestFlight testers</a:t>
            </a:r>
            <a:r>
              <a:rPr lang="en-US" sz="1050" dirty="0">
                <a:solidFill>
                  <a:srgbClr val="6B6558"/>
                </a:solidFill>
                <a:latin typeface="Segoe UI"/>
              </a:rPr>
              <a:t>.</a:t>
            </a:r>
            <a:r>
              <a:rPr sz="1050" b="0" dirty="0">
                <a:solidFill>
                  <a:srgbClr val="6B6558"/>
                </a:solidFill>
                <a:latin typeface="Segoe UI"/>
              </a:rPr>
              <a:t> Store-asset design (screenshots, listing copy) is a small, scoped task on top of UI that's already built and </a:t>
            </a:r>
            <a:r>
              <a:rPr sz="1050" b="0" dirty="0" err="1">
                <a:solidFill>
                  <a:srgbClr val="6B6558"/>
                </a:solidFill>
                <a:latin typeface="Segoe UI"/>
              </a:rPr>
              <a:t>speced</a:t>
            </a:r>
            <a:endParaRPr sz="1050" b="0" dirty="0">
              <a:solidFill>
                <a:srgbClr val="6B6558"/>
              </a:solidFill>
              <a:latin typeface="Segoe UI"/>
            </a:endParaRPr>
          </a:p>
        </p:txBody>
      </p:sp>
      <p:sp>
        <p:nvSpPr>
          <p:cNvPr id="17" name="Rounded Rectangle 16"/>
          <p:cNvSpPr/>
          <p:nvPr/>
        </p:nvSpPr>
        <p:spPr>
          <a:xfrm>
            <a:off x="502920" y="4727448"/>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2471" y="4873752"/>
            <a:ext cx="20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02471" y="4873752"/>
            <a:ext cx="20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$124 one-time / ongoing, both platforms</a:t>
            </a:r>
          </a:p>
        </p:txBody>
      </p:sp>
      <p:sp>
        <p:nvSpPr>
          <p:cNvPr id="20" name="TextBox 19"/>
          <p:cNvSpPr txBox="1"/>
          <p:nvPr/>
        </p:nvSpPr>
        <p:spPr>
          <a:xfrm>
            <a:off x="649224" y="4910053"/>
            <a:ext cx="87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Store &amp; account fees</a:t>
            </a:r>
          </a:p>
        </p:txBody>
      </p:sp>
      <p:sp>
        <p:nvSpPr>
          <p:cNvPr id="21" name="TextBox 20"/>
          <p:cNvSpPr txBox="1"/>
          <p:nvPr/>
        </p:nvSpPr>
        <p:spPr>
          <a:xfrm>
            <a:off x="649224" y="519379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Apple Developer Program: $99/yr (already paid, approved). Google Play: $25 one-time. No other store-side fees until real transactions flow.</a:t>
            </a:r>
          </a:p>
        </p:txBody>
      </p:sp>
      <p:sp>
        <p:nvSpPr>
          <p:cNvPr id="22" name="Rounded Rectangle 21"/>
          <p:cNvSpPr/>
          <p:nvPr/>
        </p:nvSpPr>
        <p:spPr>
          <a:xfrm>
            <a:off x="502920" y="5586984"/>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602471" y="5733288"/>
            <a:ext cx="9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2471" y="5733288"/>
            <a:ext cx="9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Partner approvals</a:t>
            </a:r>
          </a:p>
        </p:txBody>
      </p:sp>
      <p:sp>
        <p:nvSpPr>
          <p:cNvPr id="25" name="TextBox 24"/>
          <p:cNvSpPr txBox="1"/>
          <p:nvPr/>
        </p:nvSpPr>
        <p:spPr>
          <a:xfrm>
            <a:off x="649224" y="5769589"/>
            <a:ext cx="98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What's NOT a dollar cost here</a:t>
            </a:r>
          </a:p>
        </p:txBody>
      </p:sp>
      <p:sp>
        <p:nvSpPr>
          <p:cNvPr id="26" name="TextBox 25"/>
          <p:cNvSpPr txBox="1"/>
          <p:nvPr/>
        </p:nvSpPr>
        <p:spPr>
          <a:xfrm>
            <a:off x="649224" y="6053328"/>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sandbox activation and the payment-architecture decision are relationship items, not engineering spend — the cost is delay risk against the Aug/Sept target, not a line item.</a:t>
            </a:r>
          </a:p>
        </p:txBody>
      </p:sp>
      <p:sp>
        <p:nvSpPr>
          <p:cNvPr id="27" name="DBHosting Container"/>
          <p:cNvSpPr/>
          <p:nvPr/>
        </p:nvSpPr>
        <p:spPr>
          <a:xfrm>
            <a:off x="502920" y="3008376"/>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BHosting BadgeRect"/>
          <p:cNvSpPr/>
          <p:nvPr/>
        </p:nvSpPr>
        <p:spPr>
          <a:xfrm>
            <a:off x="9749231" y="3154680"/>
            <a:ext cx="179324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BHosting BadgeText"/>
          <p:cNvSpPr txBox="1"/>
          <p:nvPr/>
        </p:nvSpPr>
        <p:spPr>
          <a:xfrm>
            <a:off x="9749231" y="3154680"/>
            <a:ext cx="179324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LIVE — SCALES WITH USAGE</a:t>
            </a:r>
          </a:p>
        </p:txBody>
      </p:sp>
      <p:sp>
        <p:nvSpPr>
          <p:cNvPr id="30" name="DBHosting Title"/>
          <p:cNvSpPr txBox="1"/>
          <p:nvPr/>
        </p:nvSpPr>
        <p:spPr>
          <a:xfrm>
            <a:off x="649224" y="3190981"/>
            <a:ext cx="9573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Hotel database hosting (Supabase)</a:t>
            </a:r>
          </a:p>
        </p:txBody>
      </p:sp>
      <p:sp>
        <p:nvSpPr>
          <p:cNvPr id="31" name="DBHosting Desc"/>
          <p:cNvSpPr txBox="1"/>
          <p:nvPr/>
        </p:nvSpPr>
        <p:spPr>
          <a:xfrm>
            <a:off x="649224" y="3474720"/>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Sandbox running now at ~$25/mo (Pro plan, Medium compute). Production baseline ~$75/mo once live; HA read replica deferred until traffic justifies it. Backups skipped.</a:t>
            </a:r>
            <a:endParaRPr sz="1050" b="0" dirty="0">
              <a:solidFill>
                <a:srgbClr val="6B6558"/>
              </a:solidFill>
              <a:latin typeface="Segoe U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07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Running cost vs. margin — 10 vs. 100 bookings/day</a:t>
            </a:r>
          </a:p>
        </p:txBody>
      </p:sp>
      <p:sp>
        <p:nvSpPr>
          <p:cNvPr id="4" name="TextBox 3"/>
          <p:cNvSpPr txBox="1"/>
          <p:nvPr/>
        </p:nvSpPr>
        <p:spPr>
          <a:xfrm>
            <a:off x="502920" y="1417320"/>
            <a:ext cx="10800000" cy="415498"/>
          </a:xfrm>
          <a:prstGeom prst="rect">
            <a:avLst/>
          </a:prstGeom>
          <a:noFill/>
        </p:spPr>
        <p:txBody>
          <a:bodyPr wrap="square" lIns="0" tIns="0" rIns="0" bIns="0" anchor="t">
            <a:spAutoFit/>
          </a:bodyPr>
          <a:lstStyle/>
          <a:p>
            <a:pPr algn="l">
              <a:spcAft>
                <a:spcPts val="0"/>
              </a:spcAft>
            </a:pPr>
            <a:r>
              <a:rPr sz="1350" b="0" dirty="0">
                <a:solidFill>
                  <a:srgbClr val="6B6558"/>
                </a:solidFill>
                <a:latin typeface="Segoe UI"/>
              </a:rPr>
              <a:t>3% chat-to-booking conversion, 3% </a:t>
            </a:r>
            <a:r>
              <a:rPr sz="1350" b="0" dirty="0" err="1">
                <a:solidFill>
                  <a:srgbClr val="6B6558"/>
                </a:solidFill>
                <a:latin typeface="Segoe UI"/>
              </a:rPr>
              <a:t>RateHawk</a:t>
            </a:r>
            <a:r>
              <a:rPr sz="1350" b="0" dirty="0">
                <a:solidFill>
                  <a:srgbClr val="6B6558"/>
                </a:solidFill>
                <a:latin typeface="Segoe UI"/>
              </a:rPr>
              <a:t> margin (Luke, July 21), €800 avg. booking value (illustrative — </a:t>
            </a:r>
            <a:r>
              <a:rPr lang="en-US" sz="1350" b="0" dirty="0">
                <a:solidFill>
                  <a:srgbClr val="6B6558"/>
                </a:solidFill>
                <a:latin typeface="Segoe UI"/>
              </a:rPr>
              <a:t>tbc</a:t>
            </a:r>
            <a:r>
              <a:rPr sz="1350" b="0" dirty="0">
                <a:solidFill>
                  <a:srgbClr val="6B6558"/>
                </a:solidFill>
                <a:latin typeface="Segoe UI"/>
              </a:rPr>
              <a:t>). Same per-session cost baseline as the architecture deck ($0.08/session, Sonnet).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9</a:t>
            </a:r>
          </a:p>
        </p:txBody>
      </p:sp>
      <p:sp>
        <p:nvSpPr>
          <p:cNvPr id="7" name="Rounded Rectangle 6"/>
          <p:cNvSpPr/>
          <p:nvPr/>
        </p:nvSpPr>
        <p:spPr>
          <a:xfrm>
            <a:off x="502920"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2920"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 bookings/day</a:t>
            </a:r>
          </a:p>
        </p:txBody>
      </p:sp>
      <p:sp>
        <p:nvSpPr>
          <p:cNvPr id="9" name="TextBox 8"/>
          <p:cNvSpPr txBox="1"/>
          <p:nvPr/>
        </p:nvSpPr>
        <p:spPr>
          <a:xfrm>
            <a:off x="702920"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10" name="TextBox 9"/>
          <p:cNvSpPr txBox="1"/>
          <p:nvPr/>
        </p:nvSpPr>
        <p:spPr>
          <a:xfrm>
            <a:off x="4213552"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a:t>
            </a:r>
          </a:p>
        </p:txBody>
      </p:sp>
      <p:sp>
        <p:nvSpPr>
          <p:cNvPr id="11" name="TextBox 10"/>
          <p:cNvSpPr txBox="1"/>
          <p:nvPr/>
        </p:nvSpPr>
        <p:spPr>
          <a:xfrm>
            <a:off x="702920"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12" name="TextBox 11"/>
          <p:cNvSpPr txBox="1"/>
          <p:nvPr/>
        </p:nvSpPr>
        <p:spPr>
          <a:xfrm>
            <a:off x="4213552"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a:t>
            </a:r>
          </a:p>
        </p:txBody>
      </p:sp>
      <p:sp>
        <p:nvSpPr>
          <p:cNvPr id="13" name="TextBox 12"/>
          <p:cNvSpPr txBox="1"/>
          <p:nvPr/>
        </p:nvSpPr>
        <p:spPr>
          <a:xfrm>
            <a:off x="702920"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14" name="TextBox 13"/>
          <p:cNvSpPr txBox="1"/>
          <p:nvPr/>
        </p:nvSpPr>
        <p:spPr>
          <a:xfrm>
            <a:off x="4213552"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$935</a:t>
            </a:r>
          </a:p>
        </p:txBody>
      </p:sp>
      <p:sp>
        <p:nvSpPr>
          <p:cNvPr id="15" name="TextBox 14"/>
          <p:cNvSpPr txBox="1"/>
          <p:nvPr/>
        </p:nvSpPr>
        <p:spPr>
          <a:xfrm>
            <a:off x="702920"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16" name="TextBox 15"/>
          <p:cNvSpPr txBox="1"/>
          <p:nvPr/>
        </p:nvSpPr>
        <p:spPr>
          <a:xfrm>
            <a:off x="4213552"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a:t>
            </a:r>
          </a:p>
        </p:txBody>
      </p:sp>
      <p:sp>
        <p:nvSpPr>
          <p:cNvPr id="17" name="Rounded Rectangle 16"/>
          <p:cNvSpPr/>
          <p:nvPr/>
        </p:nvSpPr>
        <p:spPr>
          <a:xfrm>
            <a:off x="662920"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2920"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19" name="TextBox 18"/>
          <p:cNvSpPr txBox="1"/>
          <p:nvPr/>
        </p:nvSpPr>
        <p:spPr>
          <a:xfrm>
            <a:off x="4213552"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~$6,841</a:t>
            </a:r>
          </a:p>
        </p:txBody>
      </p:sp>
      <p:sp>
        <p:nvSpPr>
          <p:cNvPr id="20" name="TextBox 19"/>
          <p:cNvSpPr txBox="1"/>
          <p:nvPr/>
        </p:nvSpPr>
        <p:spPr>
          <a:xfrm>
            <a:off x="702920"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~12% of margin revenue</a:t>
            </a:r>
          </a:p>
        </p:txBody>
      </p:sp>
      <p:sp>
        <p:nvSpPr>
          <p:cNvPr id="21" name="Rounded Rectangle 20"/>
          <p:cNvSpPr/>
          <p:nvPr/>
        </p:nvSpPr>
        <p:spPr>
          <a:xfrm>
            <a:off x="6178143"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8143"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100 bookings/day</a:t>
            </a:r>
          </a:p>
        </p:txBody>
      </p:sp>
      <p:sp>
        <p:nvSpPr>
          <p:cNvPr id="23" name="TextBox 22"/>
          <p:cNvSpPr txBox="1"/>
          <p:nvPr/>
        </p:nvSpPr>
        <p:spPr>
          <a:xfrm>
            <a:off x="6378143"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24" name="TextBox 23"/>
          <p:cNvSpPr txBox="1"/>
          <p:nvPr/>
        </p:nvSpPr>
        <p:spPr>
          <a:xfrm>
            <a:off x="9888775"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3,000</a:t>
            </a:r>
          </a:p>
        </p:txBody>
      </p:sp>
      <p:sp>
        <p:nvSpPr>
          <p:cNvPr id="25" name="TextBox 24"/>
          <p:cNvSpPr txBox="1"/>
          <p:nvPr/>
        </p:nvSpPr>
        <p:spPr>
          <a:xfrm>
            <a:off x="6378143"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26" name="TextBox 25"/>
          <p:cNvSpPr txBox="1"/>
          <p:nvPr/>
        </p:nvSpPr>
        <p:spPr>
          <a:xfrm>
            <a:off x="9888775"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100,000</a:t>
            </a:r>
          </a:p>
        </p:txBody>
      </p:sp>
      <p:sp>
        <p:nvSpPr>
          <p:cNvPr id="27" name="TextBox 26"/>
          <p:cNvSpPr txBox="1"/>
          <p:nvPr/>
        </p:nvSpPr>
        <p:spPr>
          <a:xfrm>
            <a:off x="6378143"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28" name="TextBox 27"/>
          <p:cNvSpPr txBox="1"/>
          <p:nvPr/>
        </p:nvSpPr>
        <p:spPr>
          <a:xfrm>
            <a:off x="9888775"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$8,472</a:t>
            </a:r>
          </a:p>
        </p:txBody>
      </p:sp>
      <p:sp>
        <p:nvSpPr>
          <p:cNvPr id="29" name="TextBox 28"/>
          <p:cNvSpPr txBox="1"/>
          <p:nvPr/>
        </p:nvSpPr>
        <p:spPr>
          <a:xfrm>
            <a:off x="6378143"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30" name="TextBox 29"/>
          <p:cNvSpPr txBox="1"/>
          <p:nvPr/>
        </p:nvSpPr>
        <p:spPr>
          <a:xfrm>
            <a:off x="9888775"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~$77,760</a:t>
            </a:r>
          </a:p>
        </p:txBody>
      </p:sp>
      <p:sp>
        <p:nvSpPr>
          <p:cNvPr id="31" name="Rounded Rectangle 30"/>
          <p:cNvSpPr/>
          <p:nvPr/>
        </p:nvSpPr>
        <p:spPr>
          <a:xfrm>
            <a:off x="6338143"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78143"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33" name="TextBox 32"/>
          <p:cNvSpPr txBox="1"/>
          <p:nvPr/>
        </p:nvSpPr>
        <p:spPr>
          <a:xfrm>
            <a:off x="9888775"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~$69,288</a:t>
            </a:r>
          </a:p>
        </p:txBody>
      </p:sp>
      <p:sp>
        <p:nvSpPr>
          <p:cNvPr id="34" name="TextBox 33"/>
          <p:cNvSpPr txBox="1"/>
          <p:nvPr/>
        </p:nvSpPr>
        <p:spPr>
          <a:xfrm>
            <a:off x="6378143"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~11% of margin revenue</a:t>
            </a:r>
          </a:p>
        </p:txBody>
      </p:sp>
      <p:sp>
        <p:nvSpPr>
          <p:cNvPr id="35" name="TextBox 34"/>
          <p:cNvSpPr txBox="1"/>
          <p:nvPr/>
        </p:nvSpPr>
        <p:spPr>
          <a:xfrm>
            <a:off x="502920" y="5850000"/>
            <a:ext cx="11185855" cy="400000"/>
          </a:xfrm>
          <a:prstGeom prst="rect">
            <a:avLst/>
          </a:prstGeom>
          <a:noFill/>
        </p:spPr>
        <p:txBody>
          <a:bodyPr wrap="square" lIns="0" tIns="0" rIns="0" bIns="0" anchor="t">
            <a:spAutoFit/>
          </a:bodyPr>
          <a:lstStyle/>
          <a:p>
            <a:pPr algn="l">
              <a:lnSpc>
                <a:spcPct val="120000"/>
              </a:lnSpc>
              <a:spcAft>
                <a:spcPts val="0"/>
              </a:spcAft>
            </a:pPr>
            <a:r>
              <a:rPr sz="1000" b="0">
                <a:solidFill>
                  <a:srgbClr val="6B6558"/>
                </a:solidFill>
                <a:latin typeface="Segoe UI"/>
              </a:rPr>
              <a:t>Same story at both scales — compute/infrastructure is a small, roughly flat share of margin (~11–12%). Confirms Luke's own read from July 21: marketing/adoption is the real bottleneck, not running cost. On Haiku 4.5 instead of Sonnet, running cost drops to ~$435/mo (10's) and ~$3,472/mo (100's) — further shrinking that share, at a quality trade-off worth testing before committing.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08  —  STILL OPEN</a:t>
            </a:r>
          </a:p>
        </p:txBody>
      </p:sp>
      <p:sp>
        <p:nvSpPr>
          <p:cNvPr id="3" name="TextBox 2"/>
          <p:cNvSpPr txBox="1"/>
          <p:nvPr/>
        </p:nvSpPr>
        <p:spPr>
          <a:xfrm>
            <a:off x="502920" y="749808"/>
            <a:ext cx="11185855" cy="415498"/>
          </a:xfrm>
          <a:prstGeom prst="rect">
            <a:avLst/>
          </a:prstGeom>
          <a:noFill/>
        </p:spPr>
        <p:txBody>
          <a:bodyPr wrap="square" lIns="0" tIns="0" rIns="0" bIns="0" anchor="t">
            <a:spAutoFit/>
          </a:bodyPr>
          <a:lstStyle/>
          <a:p>
            <a:pPr algn="l">
              <a:spcAft>
                <a:spcPts val="0"/>
              </a:spcAft>
            </a:pPr>
            <a:r>
              <a:rPr sz="2700" b="1" dirty="0">
                <a:solidFill>
                  <a:srgbClr val="1A1A2E"/>
                </a:solidFill>
                <a:latin typeface="Segoe UI Semibold"/>
              </a:rPr>
              <a:t>What's still open, and </a:t>
            </a:r>
            <a:r>
              <a:rPr sz="2700" b="1">
                <a:solidFill>
                  <a:srgbClr val="1A1A2E"/>
                </a:solidFill>
                <a:latin typeface="Segoe UI Semibold"/>
              </a:rPr>
              <a:t>what's moving</a:t>
            </a:r>
            <a:r>
              <a:rPr lang="en-US" sz="2700" b="1">
                <a:solidFill>
                  <a:srgbClr val="1A1A2E"/>
                </a:solidFill>
                <a:latin typeface="Segoe UI Semibold"/>
              </a:rPr>
              <a:t>.</a:t>
            </a:r>
            <a:endParaRPr sz="2700" b="1" dirty="0">
              <a:solidFill>
                <a:srgbClr val="1A1A2E"/>
              </a:solidFill>
              <a:latin typeface="Segoe UI Semibold"/>
            </a:endParaRP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Plus one hard scheduling constraint that should anchor any target date.</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10</a:t>
            </a:r>
          </a:p>
        </p:txBody>
      </p:sp>
      <p:sp>
        <p:nvSpPr>
          <p:cNvPr id="7" name="Rounded Rectangle 6"/>
          <p:cNvSpPr/>
          <p:nvPr/>
        </p:nvSpPr>
        <p:spPr>
          <a:xfrm>
            <a:off x="502920" y="2148840"/>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 y="2289144"/>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RateHawk sandbox</a:t>
            </a:r>
          </a:p>
        </p:txBody>
      </p:sp>
      <p:sp>
        <p:nvSpPr>
          <p:cNvPr id="9" name="TextBox 8"/>
          <p:cNvSpPr txBox="1"/>
          <p:nvPr/>
        </p:nvSpPr>
        <p:spPr>
          <a:xfrm>
            <a:off x="4802920" y="2289144"/>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Key landed 8/17 (ID 954) but first calls return incorrect_credentials — looks like IP whitelisting, not a bad key. Next: get Balkanea's outbound IP whitelisted (checking if Hristijan's existing server IP already is), then start the certification checklist — which also needs 2 test hotels added to our DB first.</a:t>
            </a:r>
          </a:p>
        </p:txBody>
      </p:sp>
      <p:sp>
        <p:nvSpPr>
          <p:cNvPr id="10" name="Rounded Rectangle 9"/>
          <p:cNvSpPr/>
          <p:nvPr/>
        </p:nvSpPr>
        <p:spPr>
          <a:xfrm>
            <a:off x="502920" y="3231134"/>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3371438"/>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Search-flow design</a:t>
            </a:r>
          </a:p>
        </p:txBody>
      </p:sp>
      <p:sp>
        <p:nvSpPr>
          <p:cNvPr id="12" name="TextBox 11"/>
          <p:cNvSpPr txBox="1"/>
          <p:nvPr/>
        </p:nvSpPr>
        <p:spPr>
          <a:xfrm>
            <a:off x="4802920" y="3371438"/>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Resolved by RateHawk's own rules, not a preference: their docs prohibit live Content API calls during search, so DB-first is required. Still needs building.</a:t>
            </a:r>
          </a:p>
        </p:txBody>
      </p:sp>
      <p:sp>
        <p:nvSpPr>
          <p:cNvPr id="13" name="Rounded Rectangle 12"/>
          <p:cNvSpPr/>
          <p:nvPr/>
        </p:nvSpPr>
        <p:spPr>
          <a:xfrm>
            <a:off x="502920" y="4313428"/>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 y="4453732"/>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Payment path</a:t>
            </a:r>
          </a:p>
        </p:txBody>
      </p:sp>
      <p:sp>
        <p:nvSpPr>
          <p:cNvPr id="15" name="TextBox 14"/>
          <p:cNvSpPr txBox="1"/>
          <p:nvPr/>
        </p:nvSpPr>
        <p:spPr>
          <a:xfrm>
            <a:off x="4802920" y="4453732"/>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Confirmed 8/14: NLB-direct is real, ~2–3 days to build, Hristijan's top priority — blocked only on NLB whitelisting the server IP. Separately: RateHawk's booking flow draws on its own deposit balance, not the guest's card, so RateHawk build work doesn't have to wait on this.</a:t>
            </a:r>
          </a:p>
        </p:txBody>
      </p:sp>
      <p:sp>
        <p:nvSpPr>
          <p:cNvPr id="16" name="Rounded Rectangle 15"/>
          <p:cNvSpPr/>
          <p:nvPr/>
        </p:nvSpPr>
        <p:spPr>
          <a:xfrm>
            <a:off x="502920" y="5395722"/>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 y="5536026"/>
            <a:ext cx="4000000" cy="215444"/>
          </a:xfrm>
          <a:prstGeom prst="rect">
            <a:avLst/>
          </a:prstGeom>
          <a:noFill/>
        </p:spPr>
        <p:txBody>
          <a:bodyPr wrap="square" lIns="0" tIns="0" rIns="0" bIns="0" anchor="t">
            <a:spAutoFit/>
          </a:bodyPr>
          <a:lstStyle/>
          <a:p>
            <a:pPr algn="l">
              <a:spcAft>
                <a:spcPts val="0"/>
              </a:spcAft>
            </a:pPr>
            <a:r>
              <a:rPr sz="1400" b="1" dirty="0">
                <a:solidFill>
                  <a:srgbClr val="1A1A2E"/>
                </a:solidFill>
                <a:latin typeface="Segoe UI Semibold"/>
              </a:rPr>
              <a:t>deliverables to unblock this week</a:t>
            </a:r>
          </a:p>
        </p:txBody>
      </p:sp>
      <p:sp>
        <p:nvSpPr>
          <p:cNvPr id="18" name="TextBox 17"/>
          <p:cNvSpPr txBox="1"/>
          <p:nvPr/>
        </p:nvSpPr>
        <p:spPr>
          <a:xfrm>
            <a:off x="4802920" y="5536026"/>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IP-whitelist status for both NLB and RateHawk, from Hristijan</a:t>
            </a:r>
          </a:p>
        </p:txBody>
      </p:sp>
      <p:sp>
        <p:nvSpPr>
          <p:cNvPr id="19" name="TextBox 18"/>
          <p:cNvSpPr txBox="1"/>
          <p:nvPr/>
        </p:nvSpPr>
        <p:spPr>
          <a:xfrm>
            <a:off x="502919" y="6345556"/>
            <a:ext cx="11185855" cy="280000"/>
          </a:xfrm>
          <a:prstGeom prst="rect">
            <a:avLst/>
          </a:prstGeom>
          <a:noFill/>
        </p:spPr>
        <p:txBody>
          <a:bodyPr wrap="square" lIns="0" tIns="0" rIns="0" bIns="0" anchor="t">
            <a:spAutoFit/>
          </a:bodyPr>
          <a:lstStyle/>
          <a:p>
            <a:pPr algn="l">
              <a:spcAft>
                <a:spcPts val="0"/>
              </a:spcAft>
            </a:pPr>
            <a:r>
              <a:rPr sz="950" b="1" dirty="0">
                <a:solidFill>
                  <a:srgbClr val="9B9384"/>
                </a:solidFill>
                <a:latin typeface="Segoe UI"/>
              </a:rPr>
              <a:t>Store submission, once ready: </a:t>
            </a:r>
            <a:r>
              <a:rPr sz="950" b="0" dirty="0">
                <a:solidFill>
                  <a:srgbClr val="9B9384"/>
                </a:solidFill>
                <a:latin typeface="Segoe UI"/>
              </a:rPr>
              <a:t>no Google Play account yet · Apple review ~3–5 days · Google's 14-day closed-testing minimum · ~1 month+ total, RateHawk cert now runs in parallel.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302</TotalTime>
  <Words>2256</Words>
  <Application>Microsoft Office PowerPoint</Application>
  <PresentationFormat>Widescreen</PresentationFormat>
  <Paragraphs>180</Paragraphs>
  <Slides>10</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Ray Weale</dc:creator>
  <cp:keywords/>
  <dc:description>generated using python-pptx</dc:description>
  <cp:lastModifiedBy>Ray Weale</cp:lastModifiedBy>
  <cp:revision>8</cp:revision>
  <dcterms:created xsi:type="dcterms:W3CDTF">2013-01-27T09:14:16Z</dcterms:created>
  <dcterms:modified xsi:type="dcterms:W3CDTF">2026-08-17T16:32:50Z</dcterms:modified>
  <cp:category/>
</cp:coreProperties>
</file>