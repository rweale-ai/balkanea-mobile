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7" r:id="rId6"/>
    <p:sldId id="268" r:id="rId7"/>
    <p:sldId id="265" r:id="rId8"/>
    <p:sldId id="260" r:id="rId9"/>
    <p:sldId id="264" r:id="rId10"/>
    <p:sldId id="261" r:id="rId11"/>
    <p:sldId id="270" r:id="rId19"/>
    <p:sldId id="262" r:id="rId12"/>
    <p:sldId id="271" r:id="rId20"/>
    <p:sldId id="269" r:id="rId18"/>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106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5.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4.xml"/><Relationship Id="rId19" Type="http://schemas.openxmlformats.org/officeDocument/2006/relationships/slide" Target="slides/slide11.xml"/><Relationship Id="rId20"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2A"/>
        </a:solidFill>
        <a:effectLst/>
      </p:bgPr>
    </p:bg>
    <p:spTree>
      <p:nvGrpSpPr>
        <p:cNvPr id="1" name=""/>
        <p:cNvGrpSpPr/>
        <p:nvPr/>
      </p:nvGrpSpPr>
      <p:grpSpPr>
        <a:xfrm>
          <a:off x="0" y="0"/>
          <a:ext cx="0" cy="0"/>
          <a:chOff x="0" y="0"/>
          <a:chExt cx="0" cy="0"/>
        </a:xfrm>
      </p:grpSpPr>
      <p:sp>
        <p:nvSpPr>
          <p:cNvPr id="2" name="TextBox 1"/>
          <p:cNvSpPr txBox="1"/>
          <p:nvPr/>
        </p:nvSpPr>
        <p:spPr>
          <a:xfrm>
            <a:off x="502920" y="2331720"/>
            <a:ext cx="11185855" cy="365760"/>
          </a:xfrm>
          <a:prstGeom prst="rect">
            <a:avLst/>
          </a:prstGeom>
          <a:noFill/>
        </p:spPr>
        <p:txBody>
          <a:bodyPr wrap="square" lIns="0" tIns="0" rIns="0" bIns="0" anchor="t">
            <a:spAutoFit/>
          </a:bodyPr>
          <a:lstStyle/>
          <a:p>
            <a:pPr algn="l">
              <a:spcAft>
                <a:spcPts val="0"/>
              </a:spcAft>
            </a:pPr>
            <a:r>
              <a:rPr sz="1300" b="1">
                <a:solidFill>
                  <a:srgbClr val="ED8323"/>
                </a:solidFill>
                <a:latin typeface="Segoe UI"/>
              </a:rPr>
              <a:t>BALKANEA MOBILE  —  SANDBOX / TEST READINESS UPDATE</a:t>
            </a:r>
          </a:p>
        </p:txBody>
      </p:sp>
      <p:sp>
        <p:nvSpPr>
          <p:cNvPr id="3" name="TextBox 2"/>
          <p:cNvSpPr txBox="1"/>
          <p:nvPr/>
        </p:nvSpPr>
        <p:spPr>
          <a:xfrm>
            <a:off x="502920" y="2743200"/>
            <a:ext cx="9800000" cy="1554480"/>
          </a:xfrm>
          <a:prstGeom prst="rect">
            <a:avLst/>
          </a:prstGeom>
          <a:noFill/>
        </p:spPr>
        <p:txBody>
          <a:bodyPr wrap="square" lIns="0" tIns="0" rIns="0" bIns="0" anchor="t">
            <a:spAutoFit/>
          </a:bodyPr>
          <a:lstStyle/>
          <a:p>
            <a:pPr algn="l">
              <a:lnSpc>
                <a:spcPct val="105000"/>
              </a:lnSpc>
              <a:spcAft>
                <a:spcPts val="0"/>
              </a:spcAft>
            </a:pPr>
            <a:r>
              <a:rPr sz="4000" b="1">
                <a:solidFill>
                  <a:srgbClr val="FBF6EE"/>
                </a:solidFill>
                <a:latin typeface="Segoe UI Semibold"/>
              </a:rPr>
              <a:t>Cost, risk, and the path to submission</a:t>
            </a:r>
          </a:p>
        </p:txBody>
      </p:sp>
      <p:sp>
        <p:nvSpPr>
          <p:cNvPr id="4" name="TextBox 3"/>
          <p:cNvSpPr txBox="1"/>
          <p:nvPr/>
        </p:nvSpPr>
        <p:spPr>
          <a:xfrm>
            <a:off x="502920" y="4343400"/>
            <a:ext cx="8053816" cy="640080"/>
          </a:xfrm>
          <a:prstGeom prst="rect">
            <a:avLst/>
          </a:prstGeom>
          <a:noFill/>
        </p:spPr>
        <p:txBody>
          <a:bodyPr wrap="square" lIns="0" tIns="0" rIns="0" bIns="0" anchor="t">
            <a:spAutoFit/>
          </a:bodyPr>
          <a:lstStyle/>
          <a:p>
            <a:pPr algn="l">
              <a:lnSpc>
                <a:spcPct val="120000"/>
              </a:lnSpc>
              <a:spcAft>
                <a:spcPts val="0"/>
              </a:spcAft>
            </a:pPr>
            <a:r>
              <a:rPr sz="1450" b="0">
                <a:solidFill>
                  <a:srgbClr val="C9D9D3"/>
                </a:solidFill>
                <a:latin typeface="Segoe UI"/>
              </a:rPr>
              <a:t>RateHawk sandbox booking and payments are verified live end-to-end, now with real pricing in the traveler's currency across all three priced regions (LA/Paris/Dubai). See Risks for what's still open. Cost model updated, certification and store submission plan attached.</a:t>
            </a:r>
          </a:p>
        </p:txBody>
      </p:sp>
      <p:sp>
        <p:nvSpPr>
          <p:cNvPr id="5" name="TextBox 4"/>
          <p:cNvSpPr txBox="1"/>
          <p:nvPr/>
        </p:nvSpPr>
        <p:spPr>
          <a:xfrm>
            <a:off x="502920" y="5166360"/>
            <a:ext cx="11185855" cy="320040"/>
          </a:xfrm>
          <a:prstGeom prst="rect">
            <a:avLst/>
          </a:prstGeom>
          <a:noFill/>
        </p:spPr>
        <p:txBody>
          <a:bodyPr wrap="square" lIns="0" tIns="0" rIns="0" bIns="0" anchor="t">
            <a:spAutoFit/>
          </a:bodyPr>
          <a:lstStyle/>
          <a:p>
            <a:pPr algn="l">
              <a:spcAft>
                <a:spcPts val="0"/>
              </a:spcAft>
            </a:pPr>
            <a:r>
              <a:rPr sz="1150" b="1">
                <a:solidFill>
                  <a:srgbClr val="9FB8AE"/>
                </a:solidFill>
                <a:latin typeface="Segoe UI"/>
              </a:rPr>
              <a:t>Stage:  TestFlight (v1.0.7, build 11)      Systems:  RateHawk (sandbox, cert pending) · Bank checkout (MKD, live) · Supabase auth      Prepared:  August 2026 (update)</a:t>
            </a:r>
          </a:p>
        </p:txBody>
      </p:sp>
      <p:pic>
        <p:nvPicPr>
          <p:cNvPr id="7" name="Picture 6">
            <a:extLst>
              <a:ext uri="{FF2B5EF4-FFF2-40B4-BE49-F238E27FC236}">
                <a16:creationId xmlns:a16="http://schemas.microsoft.com/office/drawing/2014/main" id="{A903FCA3-F03A-B7CA-CCBC-4278F557773B}"/>
              </a:ext>
            </a:extLst>
          </p:cNvPr>
          <p:cNvPicPr>
            <a:picLocks noChangeAspect="1"/>
          </p:cNvPicPr>
          <p:nvPr/>
        </p:nvPicPr>
        <p:blipFill>
          <a:blip r:embed="rId2"/>
          <a:stretch>
            <a:fillRect/>
          </a:stretch>
        </p:blipFill>
        <p:spPr>
          <a:xfrm>
            <a:off x="9737947" y="251460"/>
            <a:ext cx="2081882" cy="4526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01  —  AUTHENTICATION</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Google sign-in is live; Apple is the remaining gap</a:t>
            </a: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Google OAuth is confirmed working end to end. What's left is Apple's provider secret and the Google Play account.</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2</a:t>
            </a:r>
          </a:p>
        </p:txBody>
      </p:sp>
      <p:sp>
        <p:nvSpPr>
          <p:cNvPr id="7" name="Rounded Rectangle 6"/>
          <p:cNvSpPr/>
          <p:nvPr/>
        </p:nvSpPr>
        <p:spPr>
          <a:xfrm>
            <a:off x="502920" y="2148840"/>
            <a:ext cx="11185855" cy="1315042"/>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826191" y="2295144"/>
            <a:ext cx="71628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26191" y="2356308"/>
            <a:ext cx="716280" cy="115416"/>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RESOLVED</a:t>
            </a:r>
            <a:endParaRPr sz="750" b="1" dirty="0">
              <a:solidFill>
                <a:srgbClr val="B8790A"/>
              </a:solidFill>
              <a:latin typeface="Segoe UI"/>
            </a:endParaRPr>
          </a:p>
        </p:txBody>
      </p:sp>
      <p:sp>
        <p:nvSpPr>
          <p:cNvPr id="10" name="TextBox 9"/>
          <p:cNvSpPr txBox="1"/>
          <p:nvPr/>
        </p:nvSpPr>
        <p:spPr>
          <a:xfrm>
            <a:off x="649224" y="2285144"/>
            <a:ext cx="9877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Google OAuth is live</a:t>
            </a:r>
          </a:p>
        </p:txBody>
      </p:sp>
      <p:sp>
        <p:nvSpPr>
          <p:cNvPr id="11" name="TextBox 10"/>
          <p:cNvSpPr txBox="1"/>
          <p:nvPr/>
        </p:nvSpPr>
        <p:spPr>
          <a:xfrm>
            <a:off x="649224" y="2615144"/>
            <a:ext cx="10893247" cy="347146"/>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Confirmed via the Supabase Management API: real client credentials are configured and the balkanea://auth/callback redirect is already allow-listed. No action needed.</a:t>
            </a:r>
          </a:p>
        </p:txBody>
      </p:sp>
      <p:sp>
        <p:nvSpPr>
          <p:cNvPr id="12" name="Rounded Rectangle 11"/>
          <p:cNvSpPr/>
          <p:nvPr/>
        </p:nvSpPr>
        <p:spPr>
          <a:xfrm>
            <a:off x="502920" y="3591898"/>
            <a:ext cx="11185855" cy="1315042"/>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893501" y="3738202"/>
            <a:ext cx="64897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893501" y="3799366"/>
            <a:ext cx="648970" cy="115416"/>
          </a:xfrm>
          <a:prstGeom prst="rect">
            <a:avLst/>
          </a:prstGeom>
          <a:noFill/>
        </p:spPr>
        <p:txBody>
          <a:bodyPr wrap="square" lIns="0" tIns="0" rIns="0" bIns="0" anchor="ctr">
            <a:spAutoFit/>
          </a:bodyPr>
          <a:lstStyle/>
          <a:p>
            <a:pPr algn="ctr">
              <a:spcAft>
                <a:spcPts val="0"/>
              </a:spcAft>
            </a:pPr>
            <a:r>
              <a:rPr sz="750" b="1">
                <a:solidFill>
                  <a:srgbClr val="B8790A"/>
                </a:solidFill>
                <a:latin typeface="Segoe UI"/>
              </a:rPr>
              <a:t>BLOCKED</a:t>
            </a:r>
            <a:endParaRPr sz="750" b="1" dirty="0">
              <a:solidFill>
                <a:srgbClr val="B8790A"/>
              </a:solidFill>
              <a:latin typeface="Segoe UI"/>
            </a:endParaRPr>
          </a:p>
        </p:txBody>
      </p:sp>
      <p:sp>
        <p:nvSpPr>
          <p:cNvPr id="15" name="TextBox 14"/>
          <p:cNvSpPr txBox="1"/>
          <p:nvPr/>
        </p:nvSpPr>
        <p:spPr>
          <a:xfrm>
            <a:off x="649224" y="3728202"/>
            <a:ext cx="10112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Native Sign-in with Apple — built, not switched on</a:t>
            </a:r>
          </a:p>
        </p:txBody>
      </p:sp>
      <p:sp>
        <p:nvSpPr>
          <p:cNvPr id="16" name="TextBox 15"/>
          <p:cNvSpPr txBox="1"/>
          <p:nvPr/>
        </p:nvSpPr>
        <p:spPr>
          <a:xfrm>
            <a:off x="649224" y="4058202"/>
            <a:ext cx="10893247" cy="347146"/>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Native code shipped 8/5, but Supabase's Apple provider has no client secret yet — it'll fail at runtime until that's set. Needs a Services ID + signed JWT from Ray's own Apple Developer account; Claude can't do this part.</a:t>
            </a:r>
          </a:p>
        </p:txBody>
      </p:sp>
      <p:sp>
        <p:nvSpPr>
          <p:cNvPr id="17" name="Rounded Rectangle 16"/>
          <p:cNvSpPr/>
          <p:nvPr/>
        </p:nvSpPr>
        <p:spPr>
          <a:xfrm>
            <a:off x="502920" y="5034956"/>
            <a:ext cx="11185855" cy="1315042"/>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559471" y="5181260"/>
            <a:ext cx="9830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59471" y="5242424"/>
            <a:ext cx="983000" cy="115416"/>
          </a:xfrm>
          <a:prstGeom prst="rect">
            <a:avLst/>
          </a:prstGeom>
          <a:noFill/>
        </p:spPr>
        <p:txBody>
          <a:bodyPr wrap="square" lIns="0" tIns="0" rIns="0" bIns="0" anchor="ctr">
            <a:spAutoFit/>
          </a:bodyPr>
          <a:lstStyle/>
          <a:p>
            <a:pPr algn="ctr">
              <a:spcAft>
                <a:spcPts val="0"/>
              </a:spcAft>
            </a:pPr>
            <a:r>
              <a:rPr lang="en-US" sz="750" b="1" dirty="0">
                <a:solidFill>
                  <a:srgbClr val="B8790A"/>
                </a:solidFill>
                <a:latin typeface="Segoe UI"/>
              </a:rPr>
              <a:t>Open</a:t>
            </a:r>
            <a:endParaRPr sz="750" b="1" dirty="0">
              <a:solidFill>
                <a:srgbClr val="B8790A"/>
              </a:solidFill>
              <a:latin typeface="Segoe UI"/>
            </a:endParaRPr>
          </a:p>
        </p:txBody>
      </p:sp>
      <p:sp>
        <p:nvSpPr>
          <p:cNvPr id="20" name="TextBox 19"/>
          <p:cNvSpPr txBox="1"/>
          <p:nvPr/>
        </p:nvSpPr>
        <p:spPr>
          <a:xfrm>
            <a:off x="649224" y="5171260"/>
            <a:ext cx="9830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Google Play Developer account</a:t>
            </a:r>
          </a:p>
        </p:txBody>
      </p:sp>
      <p:sp>
        <p:nvSpPr>
          <p:cNvPr id="21" name="TextBox 20"/>
          <p:cNvSpPr txBox="1"/>
          <p:nvPr/>
        </p:nvSpPr>
        <p:spPr>
          <a:xfrm>
            <a:off x="649224" y="5501260"/>
            <a:ext cx="10893247" cy="702434"/>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Confirmed on the July 24 call: doesn't exist yet. Needed well ahead of any Android submission, since account verification itself takes calendar time independent of app readiness.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02  —  SEARCH &amp; BOOKING</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RateHawk sandbox is live; full booking flow proven end-to-end</a:t>
            </a: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Sandbox key 973 replaced the blocked key 954 and returns real search results across all sandbox regions. The complete booking sequence -- search, prebook, create order, finish -- has been proven against RateHawk's own certification test hotels, including every mandatory certification scenario.</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3</a:t>
            </a:r>
          </a:p>
        </p:txBody>
      </p:sp>
      <p:sp>
        <p:nvSpPr>
          <p:cNvPr id="7" name="Rounded Rectangle 6"/>
          <p:cNvSpPr/>
          <p:nvPr/>
        </p:nvSpPr>
        <p:spPr>
          <a:xfrm>
            <a:off x="502920" y="2148840"/>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624261" y="2295144"/>
            <a:ext cx="91821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24261" y="2295144"/>
            <a:ext cx="918210" cy="237744"/>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RESOLVED</a:t>
            </a:r>
          </a:p>
        </p:txBody>
      </p:sp>
      <p:sp>
        <p:nvSpPr>
          <p:cNvPr id="10" name="TextBox 9"/>
          <p:cNvSpPr txBox="1"/>
          <p:nvPr/>
        </p:nvSpPr>
        <p:spPr>
          <a:xfrm>
            <a:off x="649224" y="2285144"/>
            <a:ext cx="9877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Sandbox key 973 -- issued and verified 8/24, replacing blocked key 954</a:t>
            </a:r>
          </a:p>
        </p:txBody>
      </p:sp>
      <p:sp>
        <p:nvSpPr>
          <p:cNvPr id="11" name="TextBox 10"/>
          <p:cNvSpPr txBox="1"/>
          <p:nvPr/>
        </p:nvSpPr>
        <p:spPr>
          <a:xfrm>
            <a:off x="649224" y="2615144"/>
            <a:ext cx="10893247" cy="166199"/>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RateHawk confirmed the 401s on key 954 were a technical issue on their side, not IP whitelisting -- a new key (973) was issued and verified with real search results. Sandbox itself needs no IP whitelisting at all; that only applies at production certification (see Risks).</a:t>
            </a:r>
          </a:p>
        </p:txBody>
      </p:sp>
      <p:sp>
        <p:nvSpPr>
          <p:cNvPr id="12" name="Rounded Rectangle 11"/>
          <p:cNvSpPr/>
          <p:nvPr/>
        </p:nvSpPr>
        <p:spPr>
          <a:xfrm>
            <a:off x="502920" y="3231134"/>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758881" y="3377438"/>
            <a:ext cx="78359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58881" y="3377438"/>
            <a:ext cx="783590" cy="237744"/>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CONFIRMED</a:t>
            </a:r>
          </a:p>
        </p:txBody>
      </p:sp>
      <p:sp>
        <p:nvSpPr>
          <p:cNvPr id="15" name="TextBox 14"/>
          <p:cNvSpPr txBox="1"/>
          <p:nvPr/>
        </p:nvSpPr>
        <p:spPr>
          <a:xfrm>
            <a:off x="649224" y="3367438"/>
            <a:ext cx="9924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B2C vs. B2B is a pricing/availability split, not a separate hotel file</a:t>
            </a:r>
          </a:p>
        </p:txBody>
      </p:sp>
      <p:sp>
        <p:nvSpPr>
          <p:cNvPr id="16" name="TextBox 15"/>
          <p:cNvSpPr txBox="1"/>
          <p:nvPr/>
        </p:nvSpPr>
        <p:spPr>
          <a:xfrm>
            <a:off x="649224" y="3697438"/>
            <a:ext cx="10893247" cy="347146"/>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The master dataset (~4M hotels) is shared between B2C and B2B — RateHawk exposes only price/availability differently per credential type. The mobile app's code comment describing a separate 'B2C-approved hotel file' still needs a one-line update.</a:t>
            </a:r>
          </a:p>
        </p:txBody>
      </p:sp>
      <p:sp>
        <p:nvSpPr>
          <p:cNvPr id="17" name="Rounded Rectangle 16"/>
          <p:cNvSpPr/>
          <p:nvPr/>
        </p:nvSpPr>
        <p:spPr>
          <a:xfrm>
            <a:off x="502920" y="4313428"/>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826191" y="4459732"/>
            <a:ext cx="71628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26191" y="4520896"/>
            <a:ext cx="716280" cy="115416"/>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RESOLVED</a:t>
            </a:r>
            <a:endParaRPr sz="750" b="1" dirty="0">
              <a:solidFill>
                <a:srgbClr val="B8790A"/>
              </a:solidFill>
              <a:latin typeface="Segoe UI"/>
            </a:endParaRPr>
          </a:p>
        </p:txBody>
      </p:sp>
      <p:sp>
        <p:nvSpPr>
          <p:cNvPr id="20" name="TextBox 19"/>
          <p:cNvSpPr txBox="1"/>
          <p:nvPr/>
        </p:nvSpPr>
        <p:spPr>
          <a:xfrm>
            <a:off x="649224" y="4449732"/>
            <a:ext cx="10112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Mobile's own hotel database is live</a:t>
            </a:r>
          </a:p>
        </p:txBody>
      </p:sp>
      <p:sp>
        <p:nvSpPr>
          <p:cNvPr id="21" name="TextBox 20"/>
          <p:cNvSpPr txBox="1"/>
          <p:nvPr/>
        </p:nvSpPr>
        <p:spPr>
          <a:xfrm>
            <a:off x="649224" y="4779732"/>
            <a:ext cx="10893247" cy="341670"/>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850,218 hotels / 3,930,128 rooms imported and indexed across all 10 target countries (0 parse errors). Region-filtered, sorted queries benchmarked at ~0.2ms server-side. Hristijan already has Developer access to query it directly.</a:t>
            </a:r>
          </a:p>
        </p:txBody>
      </p:sp>
      <p:sp>
        <p:nvSpPr>
          <p:cNvPr id="22" name="Rounded Rectangle 21"/>
          <p:cNvSpPr/>
          <p:nvPr/>
        </p:nvSpPr>
        <p:spPr>
          <a:xfrm>
            <a:off x="502920" y="5395722"/>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512471" y="5542026"/>
            <a:ext cx="103000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512471" y="5603190"/>
            <a:ext cx="1030000" cy="115416"/>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CONFIRMED</a:t>
            </a:r>
            <a:endParaRPr sz="750" b="1" dirty="0">
              <a:solidFill>
                <a:srgbClr val="B8790A"/>
              </a:solidFill>
              <a:latin typeface="Segoe UI"/>
            </a:endParaRPr>
          </a:p>
        </p:txBody>
      </p:sp>
      <p:sp>
        <p:nvSpPr>
          <p:cNvPr id="25" name="TextBox 24"/>
          <p:cNvSpPr txBox="1"/>
          <p:nvPr/>
        </p:nvSpPr>
        <p:spPr>
          <a:xfrm>
            <a:off x="649224" y="5532026"/>
            <a:ext cx="9783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Full booking flow proven end-to-end in sandbox, including multi-room</a:t>
            </a:r>
          </a:p>
        </p:txBody>
      </p:sp>
      <p:sp>
        <p:nvSpPr>
          <p:cNvPr id="26" name="TextBox 25"/>
          <p:cNvSpPr txBox="1"/>
          <p:nvPr/>
        </p:nvSpPr>
        <p:spPr>
          <a:xfrm>
            <a:off x="649224" y="5862026"/>
            <a:ext cx="10893247" cy="347146"/>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Search → prebook → create order → finish now runs successfully against RateHawk's certification test hotels (Conrad LA, Rosa Bell Motel) -- all 7 mandatory scenarios passed, real order IDs captured. Now fully real-priced (search and room selection) across all 3 regions, in the traveler's real currency.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03  —  PAYMENTS</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Bank checkout works end-to-end -- confirmed live with NLB, in MKD</a:t>
            </a: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Confirmed 8/20 (demo hotel) and 8/25 (real RateHawk hotel, after fixing a merchantTransactionId length bug): real test-card payments clear through NLB via Bankart, from the app's booking flow to a synced Salesforce lead. Settles in MKD -- see Risks for what's still open.</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4</a:t>
            </a:r>
          </a:p>
        </p:txBody>
      </p:sp>
      <p:sp>
        <p:nvSpPr>
          <p:cNvPr id="12" name="Rounded Rectangle 11"/>
          <p:cNvSpPr/>
          <p:nvPr/>
        </p:nvSpPr>
        <p:spPr>
          <a:xfrm>
            <a:off x="421824" y="1960818"/>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610475" y="2107122"/>
            <a:ext cx="8509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610475" y="2107122"/>
            <a:ext cx="850900" cy="237744"/>
          </a:xfrm>
          <a:prstGeom prst="rect">
            <a:avLst/>
          </a:prstGeom>
          <a:noFill/>
        </p:spPr>
        <p:txBody>
          <a:bodyPr wrap="square" lIns="0" tIns="0" rIns="0" bIns="0" anchor="ctr">
            <a:spAutoFit/>
          </a:bodyPr>
          <a:lstStyle/>
          <a:p>
            <a:pPr algn="ctr">
              <a:spcAft>
                <a:spcPts val="0"/>
              </a:spcAft>
            </a:pPr>
            <a:r>
              <a:rPr sz="750" b="1">
                <a:solidFill>
                  <a:srgbClr val="B8790A"/>
                </a:solidFill>
                <a:latin typeface="Segoe UI"/>
              </a:rPr>
              <a:t>SUPERSEDED</a:t>
            </a:r>
          </a:p>
        </p:txBody>
      </p:sp>
      <p:sp>
        <p:nvSpPr>
          <p:cNvPr id="15" name="TextBox 14"/>
          <p:cNvSpPr txBox="1"/>
          <p:nvPr/>
        </p:nvSpPr>
        <p:spPr>
          <a:xfrm>
            <a:off x="568128" y="2097122"/>
            <a:ext cx="10206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WooCommerce bridge — built, verified, ruled out</a:t>
            </a:r>
          </a:p>
        </p:txBody>
      </p:sp>
      <p:sp>
        <p:nvSpPr>
          <p:cNvPr id="16" name="TextBox 15"/>
          <p:cNvSpPr txBox="1"/>
          <p:nvPr/>
        </p:nvSpPr>
        <p:spPr>
          <a:xfrm>
            <a:off x="568128" y="2427122"/>
            <a:ext cx="10893247" cy="341670"/>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Hristijan built and documented the ‘Mobile Payment Bridge’ plugin — WebView opens a guest WooCommerce order-pay page, status polled via REST. Verified live against a real staging order. But it's built entirely on WooCommerce's order-key model, which ‘no WooCommerce in the architecture’ now rules out.</a:t>
            </a:r>
          </a:p>
        </p:txBody>
      </p:sp>
      <p:sp>
        <p:nvSpPr>
          <p:cNvPr id="17" name="Rounded Rectangle 16"/>
          <p:cNvSpPr/>
          <p:nvPr/>
        </p:nvSpPr>
        <p:spPr>
          <a:xfrm>
            <a:off x="421824" y="3043112"/>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071995" y="3189416"/>
            <a:ext cx="1389380" cy="237744"/>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71995" y="3189416"/>
            <a:ext cx="1389380" cy="237744"/>
          </a:xfrm>
          <a:prstGeom prst="rect">
            <a:avLst/>
          </a:prstGeom>
          <a:noFill/>
        </p:spPr>
        <p:txBody>
          <a:bodyPr wrap="square" lIns="0" tIns="0" rIns="0" bIns="0" anchor="ctr">
            <a:spAutoFit/>
          </a:bodyPr>
          <a:lstStyle/>
          <a:p>
            <a:pPr algn="ctr">
              <a:spcAft>
                <a:spcPts val="0"/>
              </a:spcAft>
            </a:pPr>
            <a:r>
              <a:rPr sz="750" b="1">
                <a:solidFill>
                  <a:srgbClr val="2E6B57"/>
                </a:solidFill>
                <a:latin typeface="Segoe UI"/>
              </a:rPr>
              <a:t>CONFIRMED LIVE</a:t>
            </a:r>
          </a:p>
        </p:txBody>
      </p:sp>
      <p:sp>
        <p:nvSpPr>
          <p:cNvPr id="20" name="TextBox 19"/>
          <p:cNvSpPr txBox="1"/>
          <p:nvPr/>
        </p:nvSpPr>
        <p:spPr>
          <a:xfrm>
            <a:off x="568128" y="3179416"/>
            <a:ext cx="9783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Balkanea Payment Bridge -- built and confirmed working end-to-end, MKD settlement</a:t>
            </a:r>
          </a:p>
        </p:txBody>
      </p:sp>
      <p:sp>
        <p:nvSpPr>
          <p:cNvPr id="21" name="TextBox 20"/>
          <p:cNvSpPr txBox="1"/>
          <p:nvPr/>
        </p:nvSpPr>
        <p:spPr>
          <a:xfrm>
            <a:off x="568128" y="3509416"/>
            <a:ext cx="10893247" cy="166199"/>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Hristijan's ‘Balkanea Payment Bridge’ plugin (signed HMAC links, Bankart Gateway V3 hosted card form, async Notify webhook) is live. Confirmed 8/20 and re-confirmed 8/25 against a real RateHawk hotel, settling in MKD (Bankart's only supported currency). 8/25 also found and fixed the root cause of intermittent failures -- Hristijan's plugin was silently exceeding Bankart's 50-character reference limit on real-hotel bookings. Fixed app-side; charges now clear reliably.</a:t>
            </a:r>
          </a:p>
        </p:txBody>
      </p:sp>
      <p:sp>
        <p:nvSpPr>
          <p:cNvPr id="22" name="Rounded Rectangle 21"/>
          <p:cNvSpPr/>
          <p:nvPr/>
        </p:nvSpPr>
        <p:spPr>
          <a:xfrm>
            <a:off x="421824" y="4125406"/>
            <a:ext cx="11185855" cy="954278"/>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206615" y="4271710"/>
            <a:ext cx="125476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06615" y="4271710"/>
            <a:ext cx="1254760" cy="237744"/>
          </a:xfrm>
          <a:prstGeom prst="rect">
            <a:avLst/>
          </a:prstGeom>
          <a:noFill/>
        </p:spPr>
        <p:txBody>
          <a:bodyPr wrap="square" lIns="0" tIns="0" rIns="0" bIns="0" anchor="ctr">
            <a:spAutoFit/>
          </a:bodyPr>
          <a:lstStyle/>
          <a:p>
            <a:pPr algn="ctr">
              <a:spcAft>
                <a:spcPts val="0"/>
              </a:spcAft>
            </a:pPr>
            <a:r>
              <a:rPr sz="750" b="1">
                <a:solidFill>
                  <a:srgbClr val="B8790A"/>
                </a:solidFill>
                <a:latin typeface="Segoe UI"/>
              </a:rPr>
              <a:t>ACTION THIS WEEK</a:t>
            </a:r>
          </a:p>
        </p:txBody>
      </p:sp>
      <p:sp>
        <p:nvSpPr>
          <p:cNvPr id="25" name="TextBox 24"/>
          <p:cNvSpPr txBox="1"/>
          <p:nvPr/>
        </p:nvSpPr>
        <p:spPr>
          <a:xfrm>
            <a:off x="568128" y="4307986"/>
            <a:ext cx="10347247" cy="200055"/>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Outstanding: mobile-responsive card page</a:t>
            </a:r>
          </a:p>
        </p:txBody>
      </p:sp>
      <p:sp>
        <p:nvSpPr>
          <p:cNvPr id="26" name="TextBox 25"/>
          <p:cNvSpPr txBox="1"/>
          <p:nvPr/>
        </p:nvSpPr>
        <p:spPr>
          <a:xfrm>
            <a:off x="568128" y="4591710"/>
            <a:ext cx="10893247" cy="347146"/>
          </a:xfrm>
          <a:prstGeom prst="rect">
            <a:avLst/>
          </a:prstGeom>
          <a:noFill/>
        </p:spPr>
        <p:txBody>
          <a:bodyPr wrap="square" lIns="0" tIns="0" rIns="0" bIns="0" anchor="t">
            <a:spAutoFit/>
          </a:bodyPr>
          <a:lstStyle/>
          <a:p>
            <a:pPr algn="l">
              <a:lnSpc>
                <a:spcPct val="112000"/>
              </a:lnSpc>
              <a:spcAft>
                <a:spcPts val="0"/>
              </a:spcAft>
            </a:pPr>
            <a:r>
              <a:rPr sz="1050">
                <a:solidFill>
                  <a:srgbClr val="6B6558"/>
                </a:solidFill>
                <a:latin typeface="Segoe UI"/>
              </a:rPr>
              <a:t>Bankart's hosted card page still isn't mobile-responsive, and also doesn't collect billing address or a separate ‘name on card’ field (needed since the payer isn't always the guest). A full written spec -- Balkanea's brand colors, autofill support, and these missing fields -- was sent to Hristijan 8/25. Still his to build.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3112" cy="184666"/>
          </a:xfrm>
          <a:prstGeom prst="rect">
            <a:avLst/>
          </a:prstGeom>
          <a:noFill/>
        </p:spPr>
        <p:txBody>
          <a:bodyPr wrap="square" lIns="0" tIns="0" rIns="0" bIns="0">
            <a:spAutoFit/>
          </a:bodyPr>
          <a:lstStyle/>
          <a:p>
            <a:pPr algn="l"/>
            <a:r>
              <a:rPr sz="1200" b="1">
                <a:solidFill>
                  <a:srgbClr val="7A3E0F"/>
                </a:solidFill>
                <a:latin typeface="Segoe UI Semibold"/>
              </a:rPr>
              <a:t>04  —  PROXY: Proposal VS AWS</a:t>
            </a:r>
          </a:p>
        </p:txBody>
      </p:sp>
      <p:sp>
        <p:nvSpPr>
          <p:cNvPr id="3" name="TextBox 2"/>
          <p:cNvSpPr txBox="1"/>
          <p:nvPr/>
        </p:nvSpPr>
        <p:spPr>
          <a:xfrm>
            <a:off x="502920" y="749808"/>
            <a:ext cx="11183112" cy="384721"/>
          </a:xfrm>
          <a:prstGeom prst="rect">
            <a:avLst/>
          </a:prstGeom>
          <a:noFill/>
        </p:spPr>
        <p:txBody>
          <a:bodyPr wrap="square" lIns="0" tIns="0" rIns="0" bIns="0">
            <a:spAutoFit/>
          </a:bodyPr>
          <a:lstStyle/>
          <a:p>
            <a:pPr algn="l"/>
            <a:r>
              <a:rPr sz="2500" b="1" i="0" dirty="0">
                <a:solidFill>
                  <a:srgbClr val="1A1A2E"/>
                </a:solidFill>
                <a:latin typeface="Segoe UI Semibold"/>
              </a:rPr>
              <a:t>proxy proposal vs. what</a:t>
            </a:r>
            <a:r>
              <a:rPr lang="en-US" sz="2500" b="1" i="0" dirty="0">
                <a:solidFill>
                  <a:srgbClr val="1A1A2E"/>
                </a:solidFill>
                <a:latin typeface="Segoe UI Semibold"/>
              </a:rPr>
              <a:t>’s</a:t>
            </a:r>
            <a:r>
              <a:rPr sz="2500" b="1" i="0" dirty="0">
                <a:solidFill>
                  <a:srgbClr val="1A1A2E"/>
                </a:solidFill>
                <a:latin typeface="Segoe UI Semibold"/>
              </a:rPr>
              <a:t> built on AWS</a:t>
            </a:r>
          </a:p>
        </p:txBody>
      </p:sp>
      <p:sp>
        <p:nvSpPr>
          <p:cNvPr id="4" name="TextBox 3"/>
          <p:cNvSpPr txBox="1"/>
          <p:nvPr/>
        </p:nvSpPr>
        <p:spPr>
          <a:xfrm>
            <a:off x="502920" y="1335024"/>
            <a:ext cx="10799064" cy="192360"/>
          </a:xfrm>
          <a:prstGeom prst="rect">
            <a:avLst/>
          </a:prstGeom>
          <a:noFill/>
        </p:spPr>
        <p:txBody>
          <a:bodyPr wrap="square" lIns="0" tIns="0" rIns="0" bIns="0">
            <a:spAutoFit/>
          </a:bodyPr>
          <a:lstStyle/>
          <a:p>
            <a:pPr algn="l"/>
            <a:r>
              <a:rPr sz="1250" b="0">
                <a:solidFill>
                  <a:srgbClr val="6B6558"/>
                </a:solidFill>
                <a:latin typeface="Segoe UI"/>
              </a:rPr>
              <a:t>Scoped to the static-IP RateHawk requires for PRODUCTION certification -- sandbox itself needs no whitelisting (confirmed 8/24). Both columns are real options.</a:t>
            </a:r>
          </a:p>
        </p:txBody>
      </p:sp>
      <p:sp>
        <p:nvSpPr>
          <p:cNvPr id="5" name="TextBox 4"/>
          <p:cNvSpPr txBox="1"/>
          <p:nvPr/>
        </p:nvSpPr>
        <p:spPr>
          <a:xfrm>
            <a:off x="502920" y="6528816"/>
            <a:ext cx="7315200" cy="274320"/>
          </a:xfrm>
          <a:prstGeom prst="rect">
            <a:avLst/>
          </a:prstGeom>
          <a:noFill/>
        </p:spPr>
        <p:txBody>
          <a:bodyPr wrap="square" lIns="0" tIns="0" rIns="0" bIns="0">
            <a:spAutoFit/>
          </a:bodyPr>
          <a:lstStyle/>
          <a:p>
            <a:pPr algn="l"/>
            <a:r>
              <a:rPr sz="900" b="0" i="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tIns="0" rIns="0" bIns="0">
            <a:spAutoFit/>
          </a:bodyPr>
          <a:lstStyle/>
          <a:p>
            <a:pPr algn="r"/>
            <a:r>
              <a:rPr sz="900" b="0">
                <a:solidFill>
                  <a:srgbClr val="9B9384"/>
                </a:solidFill>
                <a:latin typeface="Segoe UI"/>
              </a:rPr>
              <a:t>5</a:t>
            </a:r>
          </a:p>
        </p:txBody>
      </p:sp>
      <p:sp>
        <p:nvSpPr>
          <p:cNvPr id="7" name="TextBox 6"/>
          <p:cNvSpPr txBox="1"/>
          <p:nvPr/>
        </p:nvSpPr>
        <p:spPr>
          <a:xfrm>
            <a:off x="2468880" y="1773935"/>
            <a:ext cx="4480560" cy="161583"/>
          </a:xfrm>
          <a:prstGeom prst="rect">
            <a:avLst/>
          </a:prstGeom>
          <a:noFill/>
        </p:spPr>
        <p:txBody>
          <a:bodyPr wrap="square" lIns="0" tIns="0" rIns="0" bIns="0">
            <a:spAutoFit/>
          </a:bodyPr>
          <a:lstStyle/>
          <a:p>
            <a:pPr algn="l"/>
            <a:r>
              <a:rPr sz="1050" b="1" i="0" dirty="0">
                <a:solidFill>
                  <a:srgbClr val="7A3E0F"/>
                </a:solidFill>
                <a:latin typeface="Segoe UI Semibold"/>
              </a:rPr>
              <a:t>PROXY PROPOSAL</a:t>
            </a:r>
          </a:p>
        </p:txBody>
      </p:sp>
      <p:sp>
        <p:nvSpPr>
          <p:cNvPr id="8" name="TextBox 7"/>
          <p:cNvSpPr txBox="1"/>
          <p:nvPr/>
        </p:nvSpPr>
        <p:spPr>
          <a:xfrm>
            <a:off x="7114032" y="1773935"/>
            <a:ext cx="4480560" cy="256032"/>
          </a:xfrm>
          <a:prstGeom prst="rect">
            <a:avLst/>
          </a:prstGeom>
          <a:noFill/>
        </p:spPr>
        <p:txBody>
          <a:bodyPr wrap="square" lIns="0" tIns="0" rIns="0" bIns="0">
            <a:spAutoFit/>
          </a:bodyPr>
          <a:lstStyle/>
          <a:p>
            <a:pPr algn="l"/>
            <a:r>
              <a:rPr sz="1050" b="1" i="0">
                <a:solidFill>
                  <a:srgbClr val="7A3E0F"/>
                </a:solidFill>
                <a:latin typeface="Segoe UI Semibold"/>
              </a:rPr>
              <a:t>OUR AWS BUILD (LIVE TODAY)</a:t>
            </a:r>
          </a:p>
        </p:txBody>
      </p:sp>
      <p:sp>
        <p:nvSpPr>
          <p:cNvPr id="9" name="Rounded Rectangle 8"/>
          <p:cNvSpPr/>
          <p:nvPr/>
        </p:nvSpPr>
        <p:spPr>
          <a:xfrm>
            <a:off x="502920" y="2084831"/>
            <a:ext cx="11183112" cy="731520"/>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9920" y="2176271"/>
            <a:ext cx="1762760" cy="457200"/>
          </a:xfrm>
          <a:prstGeom prst="rect">
            <a:avLst/>
          </a:prstGeom>
          <a:noFill/>
        </p:spPr>
        <p:txBody>
          <a:bodyPr wrap="square" lIns="0" tIns="0" rIns="0" bIns="0">
            <a:spAutoFit/>
          </a:bodyPr>
          <a:lstStyle/>
          <a:p>
            <a:pPr algn="l"/>
            <a:r>
              <a:rPr sz="1100" b="1" i="0">
                <a:solidFill>
                  <a:srgbClr val="1A1A2E"/>
                </a:solidFill>
                <a:latin typeface="Segoe UI Semibold"/>
              </a:rPr>
              <a:t>COST</a:t>
            </a:r>
          </a:p>
        </p:txBody>
      </p:sp>
      <p:sp>
        <p:nvSpPr>
          <p:cNvPr id="11" name="TextBox 10"/>
          <p:cNvSpPr txBox="1"/>
          <p:nvPr/>
        </p:nvSpPr>
        <p:spPr>
          <a:xfrm>
            <a:off x="2595880" y="2157983"/>
            <a:ext cx="4226560" cy="585216"/>
          </a:xfrm>
          <a:prstGeom prst="rect">
            <a:avLst/>
          </a:prstGeom>
          <a:noFill/>
        </p:spPr>
        <p:txBody>
          <a:bodyPr wrap="square" lIns="0" tIns="0" rIns="0" bIns="0">
            <a:spAutoFit/>
          </a:bodyPr>
          <a:lstStyle/>
          <a:p>
            <a:pPr algn="l"/>
            <a:r>
              <a:rPr sz="950" b="0" i="0" dirty="0">
                <a:solidFill>
                  <a:srgbClr val="6B6558"/>
                </a:solidFill>
                <a:latin typeface="Segoe UI"/>
              </a:rPr>
              <a:t>Not costed in his doc. As specified — VPS + Redis + eventual HA instance — realistically ~$20–50+/</a:t>
            </a:r>
            <a:r>
              <a:rPr sz="950" b="0" i="0" dirty="0" err="1">
                <a:solidFill>
                  <a:srgbClr val="6B6558"/>
                </a:solidFill>
                <a:latin typeface="Segoe UI"/>
              </a:rPr>
              <a:t>mo</a:t>
            </a:r>
            <a:r>
              <a:rPr sz="950" b="0" i="0" dirty="0">
                <a:solidFill>
                  <a:srgbClr val="6B6558"/>
                </a:solidFill>
                <a:latin typeface="Segoe UI"/>
              </a:rPr>
              <a:t>, plus unspecified engineering time to build it.</a:t>
            </a:r>
          </a:p>
        </p:txBody>
      </p:sp>
      <p:sp>
        <p:nvSpPr>
          <p:cNvPr id="12" name="TextBox 11"/>
          <p:cNvSpPr txBox="1"/>
          <p:nvPr/>
        </p:nvSpPr>
        <p:spPr>
          <a:xfrm>
            <a:off x="7241032" y="2157983"/>
            <a:ext cx="4226560" cy="438582"/>
          </a:xfrm>
          <a:prstGeom prst="rect">
            <a:avLst/>
          </a:prstGeom>
          <a:noFill/>
        </p:spPr>
        <p:txBody>
          <a:bodyPr wrap="square" lIns="0" tIns="0" rIns="0" bIns="0">
            <a:spAutoFit/>
          </a:bodyPr>
          <a:lstStyle/>
          <a:p>
            <a:r>
              <a:rPr sz="950" b="0" i="0" dirty="0">
                <a:solidFill>
                  <a:srgbClr val="2E6B57"/>
                </a:solidFill>
                <a:latin typeface="Segoe UI"/>
              </a:rPr>
              <a:t>~$5–8/</a:t>
            </a:r>
            <a:r>
              <a:rPr sz="950" b="0" i="0" dirty="0" err="1">
                <a:solidFill>
                  <a:srgbClr val="2E6B57"/>
                </a:solidFill>
                <a:latin typeface="Segoe UI"/>
              </a:rPr>
              <a:t>mo</a:t>
            </a:r>
            <a:r>
              <a:rPr sz="950" b="0" i="0" dirty="0">
                <a:solidFill>
                  <a:srgbClr val="2E6B57"/>
                </a:solidFill>
                <a:latin typeface="Segoe UI"/>
              </a:rPr>
              <a:t> (single small instance), $0 static IP, $0 TLS. Real, verified spend — not an estimate.</a:t>
            </a:r>
            <a:r>
              <a:rPr lang="en-US" sz="950" b="0" i="0" dirty="0">
                <a:solidFill>
                  <a:srgbClr val="2E6B57"/>
                </a:solidFill>
                <a:latin typeface="Segoe UI"/>
              </a:rPr>
              <a:t> </a:t>
            </a:r>
            <a:r>
              <a:rPr lang="en-US" sz="950" dirty="0">
                <a:solidFill>
                  <a:srgbClr val="6B6558"/>
                </a:solidFill>
                <a:latin typeface="Segoe UI"/>
              </a:rPr>
              <a:t>Redis rate-limiting, </a:t>
            </a:r>
            <a:r>
              <a:rPr lang="en-US" sz="950" dirty="0" err="1">
                <a:solidFill>
                  <a:srgbClr val="6B6558"/>
                </a:solidFill>
                <a:latin typeface="Segoe UI"/>
              </a:rPr>
              <a:t>BullMQ</a:t>
            </a:r>
            <a:r>
              <a:rPr lang="en-US" sz="950" dirty="0">
                <a:solidFill>
                  <a:srgbClr val="6B6558"/>
                </a:solidFill>
                <a:latin typeface="Segoe UI"/>
              </a:rPr>
              <a:t> queueing and HA (standby instance + auto-failover) +$14/month</a:t>
            </a:r>
            <a:endParaRPr sz="950" b="0" i="0" dirty="0">
              <a:solidFill>
                <a:srgbClr val="2E6B57"/>
              </a:solidFill>
              <a:latin typeface="Segoe UI"/>
            </a:endParaRPr>
          </a:p>
        </p:txBody>
      </p:sp>
      <p:sp>
        <p:nvSpPr>
          <p:cNvPr id="13" name="Rounded Rectangle 12"/>
          <p:cNvSpPr/>
          <p:nvPr/>
        </p:nvSpPr>
        <p:spPr>
          <a:xfrm>
            <a:off x="502920" y="2871215"/>
            <a:ext cx="11183112" cy="731520"/>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9920" y="2962655"/>
            <a:ext cx="1762760" cy="457200"/>
          </a:xfrm>
          <a:prstGeom prst="rect">
            <a:avLst/>
          </a:prstGeom>
          <a:noFill/>
        </p:spPr>
        <p:txBody>
          <a:bodyPr wrap="square" lIns="0" tIns="0" rIns="0" bIns="0">
            <a:spAutoFit/>
          </a:bodyPr>
          <a:lstStyle/>
          <a:p>
            <a:pPr algn="l"/>
            <a:r>
              <a:rPr sz="1100" b="1" i="0">
                <a:solidFill>
                  <a:srgbClr val="1A1A2E"/>
                </a:solidFill>
                <a:latin typeface="Segoe UI Semibold"/>
              </a:rPr>
              <a:t>PERFORMANCE</a:t>
            </a:r>
          </a:p>
        </p:txBody>
      </p:sp>
      <p:sp>
        <p:nvSpPr>
          <p:cNvPr id="15" name="TextBox 14"/>
          <p:cNvSpPr txBox="1"/>
          <p:nvPr/>
        </p:nvSpPr>
        <p:spPr>
          <a:xfrm>
            <a:off x="2595880" y="2944367"/>
            <a:ext cx="4226560" cy="292388"/>
          </a:xfrm>
          <a:prstGeom prst="rect">
            <a:avLst/>
          </a:prstGeom>
          <a:noFill/>
        </p:spPr>
        <p:txBody>
          <a:bodyPr wrap="square" lIns="0" tIns="0" rIns="0" bIns="0">
            <a:spAutoFit/>
          </a:bodyPr>
          <a:lstStyle/>
          <a:p>
            <a:pPr algn="l"/>
            <a:r>
              <a:rPr sz="950" b="0" i="0" dirty="0">
                <a:solidFill>
                  <a:srgbClr val="6B6558"/>
                </a:solidFill>
                <a:latin typeface="Segoe UI"/>
              </a:rPr>
              <a:t>Designed for high scale from day one (Redis rate-limiting, </a:t>
            </a:r>
            <a:r>
              <a:rPr sz="950" b="0" i="0" dirty="0" err="1">
                <a:solidFill>
                  <a:srgbClr val="6B6558"/>
                </a:solidFill>
                <a:latin typeface="Segoe UI"/>
              </a:rPr>
              <a:t>BullMQ</a:t>
            </a:r>
            <a:r>
              <a:rPr sz="950" b="0" i="0" dirty="0">
                <a:solidFill>
                  <a:srgbClr val="6B6558"/>
                </a:solidFill>
                <a:latin typeface="Segoe UI"/>
              </a:rPr>
              <a:t> queueing). Higher ceiling, but unbuilt and untested</a:t>
            </a:r>
            <a:r>
              <a:rPr lang="en-US" sz="950" b="0" i="0" dirty="0">
                <a:solidFill>
                  <a:srgbClr val="6B6558"/>
                </a:solidFill>
                <a:latin typeface="Segoe UI"/>
              </a:rPr>
              <a:t>.</a:t>
            </a:r>
            <a:endParaRPr sz="950" b="0" i="0" dirty="0">
              <a:solidFill>
                <a:srgbClr val="6B6558"/>
              </a:solidFill>
              <a:latin typeface="Segoe UI"/>
            </a:endParaRPr>
          </a:p>
        </p:txBody>
      </p:sp>
      <p:sp>
        <p:nvSpPr>
          <p:cNvPr id="16" name="TextBox 15"/>
          <p:cNvSpPr txBox="1"/>
          <p:nvPr/>
        </p:nvSpPr>
        <p:spPr>
          <a:xfrm>
            <a:off x="7241032" y="2944367"/>
            <a:ext cx="4226560" cy="292388"/>
          </a:xfrm>
          <a:prstGeom prst="rect">
            <a:avLst/>
          </a:prstGeom>
          <a:noFill/>
        </p:spPr>
        <p:txBody>
          <a:bodyPr wrap="square" lIns="0" tIns="0" rIns="0" bIns="0">
            <a:spAutoFit/>
          </a:bodyPr>
          <a:lstStyle/>
          <a:p>
            <a:pPr algn="l"/>
            <a:r>
              <a:rPr sz="950" b="0" i="0" dirty="0">
                <a:solidFill>
                  <a:srgbClr val="6B6558"/>
                </a:solidFill>
                <a:latin typeface="Segoe UI"/>
              </a:rPr>
              <a:t>Single lightweight instance </a:t>
            </a:r>
            <a:r>
              <a:rPr lang="en-US" sz="950" dirty="0">
                <a:solidFill>
                  <a:srgbClr val="6B6558"/>
                </a:solidFill>
                <a:latin typeface="Segoe UI"/>
              </a:rPr>
              <a:t>with HA </a:t>
            </a:r>
            <a:r>
              <a:rPr sz="950" b="0" i="0" dirty="0">
                <a:solidFill>
                  <a:srgbClr val="6B6558"/>
                </a:solidFill>
                <a:latin typeface="Segoe UI"/>
              </a:rPr>
              <a:t>handles this thin forwarding workload with large headroom. </a:t>
            </a:r>
            <a:r>
              <a:rPr sz="950" b="0" i="0" dirty="0" err="1">
                <a:solidFill>
                  <a:srgbClr val="6B6558"/>
                </a:solidFill>
                <a:latin typeface="Segoe UI"/>
              </a:rPr>
              <a:t>RateHawk’s</a:t>
            </a:r>
            <a:r>
              <a:rPr sz="950" b="0" i="0" dirty="0">
                <a:solidFill>
                  <a:srgbClr val="6B6558"/>
                </a:solidFill>
                <a:latin typeface="Segoe UI"/>
              </a:rPr>
              <a:t> own rate limits are the real ceiling either way.</a:t>
            </a:r>
          </a:p>
        </p:txBody>
      </p:sp>
      <p:sp>
        <p:nvSpPr>
          <p:cNvPr id="17" name="Rounded Rectangle 16"/>
          <p:cNvSpPr/>
          <p:nvPr/>
        </p:nvSpPr>
        <p:spPr>
          <a:xfrm>
            <a:off x="502920" y="3657599"/>
            <a:ext cx="11183112" cy="731520"/>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9920" y="3749039"/>
            <a:ext cx="1762760" cy="457200"/>
          </a:xfrm>
          <a:prstGeom prst="rect">
            <a:avLst/>
          </a:prstGeom>
          <a:noFill/>
        </p:spPr>
        <p:txBody>
          <a:bodyPr wrap="square" lIns="0" tIns="0" rIns="0" bIns="0">
            <a:spAutoFit/>
          </a:bodyPr>
          <a:lstStyle/>
          <a:p>
            <a:pPr algn="l"/>
            <a:r>
              <a:rPr sz="1100" b="1" i="0">
                <a:solidFill>
                  <a:srgbClr val="1A1A2E"/>
                </a:solidFill>
                <a:latin typeface="Segoe UI Semibold"/>
              </a:rPr>
              <a:t>STABILITY</a:t>
            </a:r>
          </a:p>
        </p:txBody>
      </p:sp>
      <p:sp>
        <p:nvSpPr>
          <p:cNvPr id="19" name="TextBox 18"/>
          <p:cNvSpPr txBox="1"/>
          <p:nvPr/>
        </p:nvSpPr>
        <p:spPr>
          <a:xfrm>
            <a:off x="2595880" y="3730751"/>
            <a:ext cx="4226560" cy="292388"/>
          </a:xfrm>
          <a:prstGeom prst="rect">
            <a:avLst/>
          </a:prstGeom>
          <a:noFill/>
        </p:spPr>
        <p:txBody>
          <a:bodyPr wrap="square" lIns="0" tIns="0" rIns="0" bIns="0">
            <a:spAutoFit/>
          </a:bodyPr>
          <a:lstStyle/>
          <a:p>
            <a:pPr algn="l"/>
            <a:r>
              <a:rPr sz="950" b="0" i="0" dirty="0">
                <a:solidFill>
                  <a:srgbClr val="6B6558"/>
                </a:solidFill>
                <a:latin typeface="Segoe UI"/>
              </a:rPr>
              <a:t>Phase 1 as specified is also single-instance </a:t>
            </a:r>
            <a:r>
              <a:rPr lang="en-US" sz="950" b="0" i="0" dirty="0">
                <a:solidFill>
                  <a:srgbClr val="6B6558"/>
                </a:solidFill>
                <a:latin typeface="Segoe UI"/>
              </a:rPr>
              <a:t>. </a:t>
            </a:r>
            <a:r>
              <a:rPr sz="950" b="0" i="0" dirty="0">
                <a:solidFill>
                  <a:srgbClr val="6B6558"/>
                </a:solidFill>
                <a:latin typeface="Segoe UI"/>
              </a:rPr>
              <a:t>HA to a future phase. Same posture as </a:t>
            </a:r>
            <a:r>
              <a:rPr lang="en-US" sz="950" b="0" i="0" dirty="0">
                <a:solidFill>
                  <a:srgbClr val="6B6558"/>
                </a:solidFill>
                <a:latin typeface="Segoe UI"/>
              </a:rPr>
              <a:t>AWS</a:t>
            </a:r>
            <a:r>
              <a:rPr sz="950" b="0" i="0" dirty="0">
                <a:solidFill>
                  <a:srgbClr val="6B6558"/>
                </a:solidFill>
                <a:latin typeface="Segoe UI"/>
              </a:rPr>
              <a:t>.</a:t>
            </a:r>
          </a:p>
        </p:txBody>
      </p:sp>
      <p:sp>
        <p:nvSpPr>
          <p:cNvPr id="20" name="TextBox 19"/>
          <p:cNvSpPr txBox="1"/>
          <p:nvPr/>
        </p:nvSpPr>
        <p:spPr>
          <a:xfrm>
            <a:off x="7241032" y="3730751"/>
            <a:ext cx="4226560" cy="438582"/>
          </a:xfrm>
          <a:prstGeom prst="rect">
            <a:avLst/>
          </a:prstGeom>
          <a:noFill/>
        </p:spPr>
        <p:txBody>
          <a:bodyPr wrap="square" lIns="0" tIns="0" rIns="0" bIns="0">
            <a:spAutoFit/>
          </a:bodyPr>
          <a:lstStyle/>
          <a:p>
            <a:r>
              <a:rPr sz="950" b="0" i="0" dirty="0">
                <a:solidFill>
                  <a:srgbClr val="6B6558"/>
                </a:solidFill>
                <a:latin typeface="Segoe UI"/>
              </a:rPr>
              <a:t>Single instance</a:t>
            </a:r>
            <a:r>
              <a:rPr lang="en-US" sz="950" b="0" i="0" dirty="0">
                <a:solidFill>
                  <a:srgbClr val="6B6558"/>
                </a:solidFill>
                <a:latin typeface="Segoe UI"/>
              </a:rPr>
              <a:t> with standby instance</a:t>
            </a:r>
            <a:r>
              <a:rPr sz="950" b="0" i="0" dirty="0">
                <a:solidFill>
                  <a:srgbClr val="6B6558"/>
                </a:solidFill>
                <a:latin typeface="Segoe UI"/>
              </a:rPr>
              <a:t>, auto-restart on crash, fully rebuildable from source-controlled scripts. Box itself verified working; </a:t>
            </a:r>
            <a:r>
              <a:rPr sz="950" b="0" i="0" dirty="0" err="1">
                <a:solidFill>
                  <a:srgbClr val="6B6558"/>
                </a:solidFill>
                <a:latin typeface="Segoe UI"/>
              </a:rPr>
              <a:t>RateHawk</a:t>
            </a:r>
            <a:r>
              <a:rPr sz="950" b="0" i="0" dirty="0">
                <a:solidFill>
                  <a:srgbClr val="6B6558"/>
                </a:solidFill>
                <a:latin typeface="Segoe UI"/>
              </a:rPr>
              <a:t>-specific logic not yet built on either side.</a:t>
            </a:r>
            <a:r>
              <a:rPr lang="en-US" sz="950" b="0" i="0" dirty="0">
                <a:solidFill>
                  <a:srgbClr val="6B6558"/>
                </a:solidFill>
                <a:latin typeface="Segoe UI"/>
              </a:rPr>
              <a:t> </a:t>
            </a:r>
            <a:r>
              <a:rPr lang="en-US" sz="950" dirty="0">
                <a:solidFill>
                  <a:srgbClr val="6B6558"/>
                </a:solidFill>
                <a:latin typeface="Segoe UI"/>
              </a:rPr>
              <a:t>HA (standby instance + auto-failover</a:t>
            </a:r>
            <a:endParaRPr sz="950" b="0" i="0" dirty="0">
              <a:solidFill>
                <a:srgbClr val="6B6558"/>
              </a:solidFill>
              <a:latin typeface="Segoe UI"/>
            </a:endParaRPr>
          </a:p>
        </p:txBody>
      </p:sp>
      <p:sp>
        <p:nvSpPr>
          <p:cNvPr id="21" name="Rounded Rectangle 20"/>
          <p:cNvSpPr/>
          <p:nvPr/>
        </p:nvSpPr>
        <p:spPr>
          <a:xfrm>
            <a:off x="502920" y="4443983"/>
            <a:ext cx="11183112" cy="731520"/>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9920" y="4535423"/>
            <a:ext cx="1762760" cy="457200"/>
          </a:xfrm>
          <a:prstGeom prst="rect">
            <a:avLst/>
          </a:prstGeom>
          <a:noFill/>
        </p:spPr>
        <p:txBody>
          <a:bodyPr wrap="square" lIns="0" tIns="0" rIns="0" bIns="0">
            <a:spAutoFit/>
          </a:bodyPr>
          <a:lstStyle/>
          <a:p>
            <a:pPr algn="l"/>
            <a:r>
              <a:rPr sz="1100" b="1" i="0">
                <a:solidFill>
                  <a:srgbClr val="1A1A2E"/>
                </a:solidFill>
                <a:latin typeface="Segoe UI Semibold"/>
              </a:rPr>
              <a:t>SUPPORT</a:t>
            </a:r>
          </a:p>
        </p:txBody>
      </p:sp>
      <p:sp>
        <p:nvSpPr>
          <p:cNvPr id="23" name="TextBox 22"/>
          <p:cNvSpPr txBox="1"/>
          <p:nvPr/>
        </p:nvSpPr>
        <p:spPr>
          <a:xfrm>
            <a:off x="2595880" y="4517135"/>
            <a:ext cx="4226560" cy="146194"/>
          </a:xfrm>
          <a:prstGeom prst="rect">
            <a:avLst/>
          </a:prstGeom>
          <a:noFill/>
        </p:spPr>
        <p:txBody>
          <a:bodyPr wrap="square" lIns="0" tIns="0" rIns="0" bIns="0">
            <a:spAutoFit/>
          </a:bodyPr>
          <a:lstStyle/>
          <a:p>
            <a:pPr algn="l"/>
            <a:r>
              <a:rPr sz="950" b="0" i="0" dirty="0">
                <a:solidFill>
                  <a:srgbClr val="6B6558"/>
                </a:solidFill>
                <a:latin typeface="Segoe UI"/>
              </a:rPr>
              <a:t>No hosting provider or support commitment specified. </a:t>
            </a:r>
          </a:p>
        </p:txBody>
      </p:sp>
      <p:sp>
        <p:nvSpPr>
          <p:cNvPr id="24" name="TextBox 23"/>
          <p:cNvSpPr txBox="1"/>
          <p:nvPr/>
        </p:nvSpPr>
        <p:spPr>
          <a:xfrm>
            <a:off x="7241032" y="4517135"/>
            <a:ext cx="4226560" cy="292388"/>
          </a:xfrm>
          <a:prstGeom prst="rect">
            <a:avLst/>
          </a:prstGeom>
          <a:noFill/>
        </p:spPr>
        <p:txBody>
          <a:bodyPr wrap="square" lIns="0" tIns="0" rIns="0" bIns="0">
            <a:spAutoFit/>
          </a:bodyPr>
          <a:lstStyle/>
          <a:p>
            <a:pPr algn="l"/>
            <a:r>
              <a:rPr sz="950" b="0" i="0" dirty="0">
                <a:solidFill>
                  <a:srgbClr val="2E6B57"/>
                </a:solidFill>
                <a:latin typeface="Segoe UI"/>
              </a:rPr>
              <a:t>Real AWS infrastructure (~99.99% published EC2 SLA). can add paid AWS support later if ever needed. </a:t>
            </a:r>
          </a:p>
        </p:txBody>
      </p:sp>
      <p:sp>
        <p:nvSpPr>
          <p:cNvPr id="25" name="Rounded Rectangle 24"/>
          <p:cNvSpPr/>
          <p:nvPr/>
        </p:nvSpPr>
        <p:spPr>
          <a:xfrm>
            <a:off x="502920" y="5230367"/>
            <a:ext cx="11183112" cy="731520"/>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9920" y="5321807"/>
            <a:ext cx="1762760" cy="457200"/>
          </a:xfrm>
          <a:prstGeom prst="rect">
            <a:avLst/>
          </a:prstGeom>
          <a:noFill/>
        </p:spPr>
        <p:txBody>
          <a:bodyPr wrap="square" lIns="0" tIns="0" rIns="0" bIns="0">
            <a:spAutoFit/>
          </a:bodyPr>
          <a:lstStyle/>
          <a:p>
            <a:pPr algn="l"/>
            <a:r>
              <a:rPr sz="1100" b="1" i="0">
                <a:solidFill>
                  <a:srgbClr val="1A1A2E"/>
                </a:solidFill>
                <a:latin typeface="Segoe UI Semibold"/>
              </a:rPr>
              <a:t>SCALABILITY</a:t>
            </a:r>
          </a:p>
        </p:txBody>
      </p:sp>
      <p:sp>
        <p:nvSpPr>
          <p:cNvPr id="27" name="TextBox 26"/>
          <p:cNvSpPr txBox="1"/>
          <p:nvPr/>
        </p:nvSpPr>
        <p:spPr>
          <a:xfrm>
            <a:off x="2595880" y="5303519"/>
            <a:ext cx="4226560" cy="146194"/>
          </a:xfrm>
          <a:prstGeom prst="rect">
            <a:avLst/>
          </a:prstGeom>
          <a:noFill/>
        </p:spPr>
        <p:txBody>
          <a:bodyPr wrap="square" lIns="0" tIns="0" rIns="0" bIns="0">
            <a:spAutoFit/>
          </a:bodyPr>
          <a:lstStyle/>
          <a:p>
            <a:pPr algn="l"/>
            <a:r>
              <a:rPr sz="950" b="0" i="0" dirty="0">
                <a:solidFill>
                  <a:srgbClr val="6B6558"/>
                </a:solidFill>
                <a:latin typeface="Segoe UI"/>
              </a:rPr>
              <a:t>Redis/</a:t>
            </a:r>
            <a:r>
              <a:rPr sz="950" b="0" i="0" dirty="0" err="1">
                <a:solidFill>
                  <a:srgbClr val="6B6558"/>
                </a:solidFill>
                <a:latin typeface="Segoe UI"/>
              </a:rPr>
              <a:t>BullMQ</a:t>
            </a:r>
            <a:r>
              <a:rPr sz="950" b="0" i="0" dirty="0">
                <a:solidFill>
                  <a:srgbClr val="6B6558"/>
                </a:solidFill>
                <a:latin typeface="Segoe UI"/>
              </a:rPr>
              <a:t>/</a:t>
            </a:r>
            <a:r>
              <a:rPr sz="950" b="0" i="0">
                <a:solidFill>
                  <a:srgbClr val="6B6558"/>
                </a:solidFill>
                <a:latin typeface="Segoe UI"/>
              </a:rPr>
              <a:t>HA </a:t>
            </a:r>
            <a:endParaRPr sz="950" b="0" i="0" dirty="0">
              <a:solidFill>
                <a:srgbClr val="6B6558"/>
              </a:solidFill>
              <a:latin typeface="Segoe UI"/>
            </a:endParaRPr>
          </a:p>
        </p:txBody>
      </p:sp>
      <p:sp>
        <p:nvSpPr>
          <p:cNvPr id="28" name="TextBox 27"/>
          <p:cNvSpPr txBox="1"/>
          <p:nvPr/>
        </p:nvSpPr>
        <p:spPr>
          <a:xfrm>
            <a:off x="7241032" y="5303519"/>
            <a:ext cx="4226560" cy="146194"/>
          </a:xfrm>
          <a:prstGeom prst="rect">
            <a:avLst/>
          </a:prstGeom>
          <a:noFill/>
        </p:spPr>
        <p:txBody>
          <a:bodyPr wrap="square" lIns="0" tIns="0" rIns="0" bIns="0">
            <a:spAutoFit/>
          </a:bodyPr>
          <a:lstStyle/>
          <a:p>
            <a:r>
              <a:rPr lang="en-US" sz="950" dirty="0">
                <a:solidFill>
                  <a:srgbClr val="6B6558"/>
                </a:solidFill>
                <a:latin typeface="Segoe UI"/>
              </a:rPr>
              <a:t>Redis/</a:t>
            </a:r>
            <a:r>
              <a:rPr lang="en-US" sz="950" dirty="0" err="1">
                <a:solidFill>
                  <a:srgbClr val="6B6558"/>
                </a:solidFill>
                <a:latin typeface="Segoe UI"/>
              </a:rPr>
              <a:t>BullMQ</a:t>
            </a:r>
            <a:r>
              <a:rPr lang="en-US" sz="950" dirty="0">
                <a:solidFill>
                  <a:srgbClr val="6B6558"/>
                </a:solidFill>
                <a:latin typeface="Segoe UI"/>
              </a:rPr>
              <a:t>/HA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3112" cy="320040"/>
          </a:xfrm>
          <a:prstGeom prst="rect">
            <a:avLst/>
          </a:prstGeom>
          <a:noFill/>
        </p:spPr>
        <p:txBody>
          <a:bodyPr wrap="square" lIns="0" tIns="0" rIns="0" bIns="0">
            <a:spAutoFit/>
          </a:bodyPr>
          <a:lstStyle/>
          <a:p>
            <a:pPr algn="l"/>
            <a:r>
              <a:rPr sz="1200" b="1">
                <a:solidFill>
                  <a:srgbClr val="7A3E0F"/>
                </a:solidFill>
                <a:latin typeface="Segoe UI Semibold"/>
              </a:rPr>
              <a:t>05  —  ALIGNMENT &amp; RECOMMENDATION</a:t>
            </a:r>
          </a:p>
        </p:txBody>
      </p:sp>
      <p:sp>
        <p:nvSpPr>
          <p:cNvPr id="3" name="TextBox 2"/>
          <p:cNvSpPr txBox="1"/>
          <p:nvPr/>
        </p:nvSpPr>
        <p:spPr>
          <a:xfrm>
            <a:off x="502920" y="749808"/>
            <a:ext cx="11183112" cy="566928"/>
          </a:xfrm>
          <a:prstGeom prst="rect">
            <a:avLst/>
          </a:prstGeom>
          <a:noFill/>
        </p:spPr>
        <p:txBody>
          <a:bodyPr wrap="square" lIns="0" tIns="0" rIns="0" bIns="0">
            <a:spAutoFit/>
          </a:bodyPr>
          <a:lstStyle/>
          <a:p>
            <a:pPr algn="l"/>
            <a:r>
              <a:rPr sz="2500" b="1" i="0">
                <a:solidFill>
                  <a:srgbClr val="1A1A2E"/>
                </a:solidFill>
                <a:latin typeface="Segoe UI Semibold"/>
              </a:rPr>
              <a:t>Same pattern as Analytics — the fastest path to go-live</a:t>
            </a:r>
          </a:p>
        </p:txBody>
      </p:sp>
      <p:sp>
        <p:nvSpPr>
          <p:cNvPr id="4" name="TextBox 3"/>
          <p:cNvSpPr txBox="1"/>
          <p:nvPr/>
        </p:nvSpPr>
        <p:spPr>
          <a:xfrm>
            <a:off x="502920" y="1335024"/>
            <a:ext cx="10799064" cy="411480"/>
          </a:xfrm>
          <a:prstGeom prst="rect">
            <a:avLst/>
          </a:prstGeom>
          <a:noFill/>
        </p:spPr>
        <p:txBody>
          <a:bodyPr wrap="square" lIns="0" tIns="0" rIns="0" bIns="0">
            <a:spAutoFit/>
          </a:bodyPr>
          <a:lstStyle/>
          <a:p>
            <a:pPr algn="l"/>
            <a:r>
              <a:rPr sz="1250" b="0" i="0">
                <a:solidFill>
                  <a:srgbClr val="6B6558"/>
                </a:solidFill>
                <a:latin typeface="Segoe UI"/>
              </a:rPr>
              <a:t>Both options are real. Here is the case for each, and why one fits this specific requirement better.</a:t>
            </a:r>
          </a:p>
        </p:txBody>
      </p:sp>
      <p:sp>
        <p:nvSpPr>
          <p:cNvPr id="5" name="TextBox 4"/>
          <p:cNvSpPr txBox="1"/>
          <p:nvPr/>
        </p:nvSpPr>
        <p:spPr>
          <a:xfrm>
            <a:off x="502920" y="6528816"/>
            <a:ext cx="7315200" cy="274320"/>
          </a:xfrm>
          <a:prstGeom prst="rect">
            <a:avLst/>
          </a:prstGeom>
          <a:noFill/>
        </p:spPr>
        <p:txBody>
          <a:bodyPr wrap="square" lIns="0" tIns="0" rIns="0" bIns="0">
            <a:spAutoFit/>
          </a:bodyPr>
          <a:lstStyle/>
          <a:p>
            <a:pPr algn="l"/>
            <a:r>
              <a:rPr sz="900" b="0" i="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tIns="0" rIns="0" bIns="0">
            <a:spAutoFit/>
          </a:bodyPr>
          <a:lstStyle/>
          <a:p>
            <a:pPr algn="r"/>
            <a:r>
              <a:rPr sz="900" b="0">
                <a:solidFill>
                  <a:srgbClr val="9B9384"/>
                </a:solidFill>
                <a:latin typeface="Segoe UI"/>
              </a:rPr>
              <a:t>6</a:t>
            </a:r>
          </a:p>
        </p:txBody>
      </p:sp>
      <p:sp>
        <p:nvSpPr>
          <p:cNvPr id="7" name="Rounded Rectangle 6"/>
          <p:cNvSpPr/>
          <p:nvPr/>
        </p:nvSpPr>
        <p:spPr>
          <a:xfrm>
            <a:off x="502920" y="2103120"/>
            <a:ext cx="11183112" cy="91440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9920" y="2231136"/>
            <a:ext cx="9466072" cy="219456"/>
          </a:xfrm>
          <a:prstGeom prst="rect">
            <a:avLst/>
          </a:prstGeom>
          <a:noFill/>
        </p:spPr>
        <p:txBody>
          <a:bodyPr wrap="square" lIns="0" tIns="0" rIns="0" bIns="0">
            <a:spAutoFit/>
          </a:bodyPr>
          <a:lstStyle/>
          <a:p>
            <a:pPr algn="l"/>
            <a:r>
              <a:rPr sz="1150" b="1" i="0">
                <a:solidFill>
                  <a:srgbClr val="1A1A2E"/>
                </a:solidFill>
                <a:latin typeface="Segoe UI Semibold"/>
              </a:rPr>
              <a:t>Aligned with the Analytics Architecture, not a one-off</a:t>
            </a:r>
          </a:p>
        </p:txBody>
      </p:sp>
      <p:sp>
        <p:nvSpPr>
          <p:cNvPr id="9" name="TextBox 8"/>
          <p:cNvSpPr txBox="1"/>
          <p:nvPr/>
        </p:nvSpPr>
        <p:spPr>
          <a:xfrm>
            <a:off x="629920" y="2505456"/>
            <a:ext cx="10929112" cy="457200"/>
          </a:xfrm>
          <a:prstGeom prst="rect">
            <a:avLst/>
          </a:prstGeom>
          <a:noFill/>
        </p:spPr>
        <p:txBody>
          <a:bodyPr wrap="square" lIns="0" tIns="0" rIns="0" bIns="0">
            <a:spAutoFit/>
          </a:bodyPr>
          <a:lstStyle/>
          <a:p>
            <a:pPr algn="l"/>
            <a:r>
              <a:rPr sz="980" b="0" i="0">
                <a:solidFill>
                  <a:srgbClr val="6B6558"/>
                </a:solidFill>
                <a:latin typeface="Segoe UI"/>
              </a:rPr>
              <a:t>The same static-IP relay pattern — a small, dedicated, isolated instance with a static IP — is already the documented pattern for Alana Analytics' own extraction relay. Both now live under one AWS Organization, in separate accounts for compliance isolation, following the same internal playbook. Ivan's proposal has no relationship to this existing, already-proven pattern.</a:t>
            </a:r>
          </a:p>
        </p:txBody>
      </p:sp>
      <p:sp>
        <p:nvSpPr>
          <p:cNvPr id="10" name="Rounded Rectangle 9"/>
          <p:cNvSpPr/>
          <p:nvPr/>
        </p:nvSpPr>
        <p:spPr>
          <a:xfrm>
            <a:off x="10268712" y="2192020"/>
            <a:ext cx="1016000" cy="201168"/>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2E6B57"/>
                </a:solidFill>
                <a:latin typeface="Segoe UI Semibold"/>
              </a:rPr>
              <a:t>MARRA-WIDE</a:t>
            </a:r>
          </a:p>
        </p:txBody>
      </p:sp>
      <p:sp>
        <p:nvSpPr>
          <p:cNvPr id="15" name="Rounded Rectangle 14"/>
          <p:cNvSpPr/>
          <p:nvPr/>
        </p:nvSpPr>
        <p:spPr>
          <a:xfrm>
            <a:off x="502920" y="3209544"/>
            <a:ext cx="11183112" cy="1417320"/>
          </a:xfrm>
          <a:prstGeom prst="roundRect">
            <a:avLst>
              <a:gd name="adj" fmla="val 9000"/>
            </a:avLst>
          </a:prstGeom>
          <a:solidFill>
            <a:srgbClr val="E3EEE9"/>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920" y="3337560"/>
            <a:ext cx="9466072" cy="219456"/>
          </a:xfrm>
          <a:prstGeom prst="rect">
            <a:avLst/>
          </a:prstGeom>
          <a:noFill/>
        </p:spPr>
        <p:txBody>
          <a:bodyPr wrap="square" lIns="0" tIns="0" rIns="0" bIns="0">
            <a:spAutoFit/>
          </a:bodyPr>
          <a:lstStyle/>
          <a:p>
            <a:pPr algn="l"/>
            <a:r>
              <a:rPr sz="1150" b="1" i="0">
                <a:solidFill>
                  <a:srgbClr val="1A1A2E"/>
                </a:solidFill>
                <a:latin typeface="Segoe UI Semibold"/>
              </a:rPr>
              <a:t>Recommendation: use the AWS build to reach go-live</a:t>
            </a:r>
          </a:p>
        </p:txBody>
      </p:sp>
      <p:sp>
        <p:nvSpPr>
          <p:cNvPr id="17" name="TextBox 16"/>
          <p:cNvSpPr txBox="1"/>
          <p:nvPr/>
        </p:nvSpPr>
        <p:spPr>
          <a:xfrm>
            <a:off x="629920" y="3611880"/>
            <a:ext cx="10929112" cy="914400"/>
          </a:xfrm>
          <a:prstGeom prst="rect">
            <a:avLst/>
          </a:prstGeom>
          <a:noFill/>
        </p:spPr>
        <p:txBody>
          <a:bodyPr wrap="square" lIns="0" tIns="0" rIns="0" bIns="0">
            <a:spAutoFit/>
          </a:bodyPr>
          <a:lstStyle/>
          <a:p>
            <a:pPr algn="l"/>
            <a:r>
              <a:rPr sz="980" b="0">
                <a:solidFill>
                  <a:srgbClr val="6B6558"/>
                </a:solidFill>
                <a:latin typeface="Segoe UI"/>
              </a:rPr>
              <a:t>For the actual requirement -- a static IP RateHawk's production certification will accept -- the AWS build is live, verified, and ~$5–8/mo today, with no further engineering needed. Ivan's fuller proposal suits a mature, high-traffic system, but adopting it as specified means more cost and an unresolved question of who runs it -- neither of which certification itself requires. Fastest path: use what's already built and verified.</a:t>
            </a:r>
          </a:p>
        </p:txBody>
      </p:sp>
      <p:sp>
        <p:nvSpPr>
          <p:cNvPr id="18" name="Rounded Rectangle 17"/>
          <p:cNvSpPr/>
          <p:nvPr/>
        </p:nvSpPr>
        <p:spPr>
          <a:xfrm>
            <a:off x="9994392" y="3298444"/>
            <a:ext cx="1092200" cy="201168"/>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2E6B57"/>
                </a:solidFill>
                <a:latin typeface="Segoe UI Semibold"/>
              </a:rPr>
              <a:t>RECOMMENDED</a:t>
            </a:r>
          </a:p>
        </p:txBody>
      </p:sp>
      <p:sp>
        <p:nvSpPr>
          <p:cNvPr id="20" name="TextBox 19">
            <a:extLst>
              <a:ext uri="{FF2B5EF4-FFF2-40B4-BE49-F238E27FC236}">
                <a16:creationId xmlns:a16="http://schemas.microsoft.com/office/drawing/2014/main" id="{C2CE49DA-71D9-46FB-4438-7B6BA9A4AFA2}"/>
              </a:ext>
            </a:extLst>
          </p:cNvPr>
          <p:cNvSpPr txBox="1"/>
          <p:nvPr/>
        </p:nvSpPr>
        <p:spPr>
          <a:xfrm>
            <a:off x="1266345" y="4167878"/>
            <a:ext cx="8728047" cy="369332"/>
          </a:xfrm>
          <a:prstGeom prst="rect">
            <a:avLst/>
          </a:prstGeom>
          <a:noFill/>
        </p:spPr>
        <p:txBody>
          <a:bodyPr wrap="square">
            <a:spAutoFit/>
          </a:bodyPr>
          <a:lstStyle/>
          <a:p>
            <a:r>
              <a:rPr lang="en-US" dirty="0"/>
              <a:t>63.185.27.197 - Elastic IP attached to the AWS proxy box in eu-central-1 (Frankfurt)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3112" cy="320040"/>
          </a:xfrm>
          <a:prstGeom prst="rect">
            <a:avLst/>
          </a:prstGeom>
          <a:noFill/>
        </p:spPr>
        <p:txBody>
          <a:bodyPr wrap="square" lIns="0" tIns="0" rIns="0" bIns="0">
            <a:spAutoFit/>
          </a:bodyPr>
          <a:lstStyle/>
          <a:p>
            <a:pPr algn="l"/>
            <a:r>
              <a:rPr sz="1200" b="1">
                <a:solidFill>
                  <a:srgbClr val="7A3E0F"/>
                </a:solidFill>
                <a:latin typeface="Segoe UI Semibold"/>
              </a:rPr>
              <a:t>06  —  LIVE DEMO</a:t>
            </a:r>
          </a:p>
        </p:txBody>
      </p:sp>
      <p:sp>
        <p:nvSpPr>
          <p:cNvPr id="3" name="TextBox 2"/>
          <p:cNvSpPr txBox="1"/>
          <p:nvPr/>
        </p:nvSpPr>
        <p:spPr>
          <a:xfrm>
            <a:off x="502920" y="749808"/>
            <a:ext cx="11183112" cy="415498"/>
          </a:xfrm>
          <a:prstGeom prst="rect">
            <a:avLst/>
          </a:prstGeom>
          <a:noFill/>
        </p:spPr>
        <p:txBody>
          <a:bodyPr wrap="square" lIns="0" tIns="0" rIns="0" bIns="0">
            <a:spAutoFit/>
          </a:bodyPr>
          <a:lstStyle/>
          <a:p>
            <a:pPr algn="l"/>
            <a:r>
              <a:rPr sz="2700" b="1">
                <a:solidFill>
                  <a:srgbClr val="1A1A2E"/>
                </a:solidFill>
                <a:latin typeface="Segoe UI Semibold"/>
              </a:rPr>
              <a:t>End-to-end payment now works — from the app</a:t>
            </a:r>
          </a:p>
        </p:txBody>
      </p:sp>
      <p:sp>
        <p:nvSpPr>
          <p:cNvPr id="4" name="TextBox 3"/>
          <p:cNvSpPr txBox="1"/>
          <p:nvPr/>
        </p:nvSpPr>
        <p:spPr>
          <a:xfrm>
            <a:off x="502920" y="1417320"/>
            <a:ext cx="10799064" cy="502920"/>
          </a:xfrm>
          <a:prstGeom prst="rect">
            <a:avLst/>
          </a:prstGeom>
          <a:noFill/>
        </p:spPr>
        <p:txBody>
          <a:bodyPr wrap="square" lIns="0" tIns="0" rIns="0" bIns="0">
            <a:spAutoFit/>
          </a:bodyPr>
          <a:lstStyle/>
          <a:p>
            <a:pPr algn="l"/>
            <a:r>
              <a:rPr sz="1350" b="0">
                <a:solidFill>
                  <a:srgbClr val="6B6558"/>
                </a:solidFill>
                <a:latin typeface="Segoe UI"/>
              </a:rPr>
              <a:t>Confirmed 8/20: a real test card cleared through NLB, from the mobile app's own booking flow to a synced Salesforce lead.</a:t>
            </a:r>
          </a:p>
        </p:txBody>
      </p:sp>
      <p:sp>
        <p:nvSpPr>
          <p:cNvPr id="5" name="TextBox 4"/>
          <p:cNvSpPr txBox="1"/>
          <p:nvPr/>
        </p:nvSpPr>
        <p:spPr>
          <a:xfrm>
            <a:off x="502920" y="6528816"/>
            <a:ext cx="7315200" cy="274320"/>
          </a:xfrm>
          <a:prstGeom prst="rect">
            <a:avLst/>
          </a:prstGeom>
          <a:noFill/>
        </p:spPr>
        <p:txBody>
          <a:bodyPr wrap="square" lIns="0" tIns="0" rIns="0" bIns="0">
            <a:spAutoFit/>
          </a:bodyPr>
          <a:lstStyle/>
          <a:p>
            <a:pPr algn="l"/>
            <a:r>
              <a:rPr sz="900" b="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tIns="0" rIns="0" bIns="0">
            <a:spAutoFit/>
          </a:bodyPr>
          <a:lstStyle/>
          <a:p>
            <a:pPr algn="r"/>
            <a:r>
              <a:rPr sz="900" b="0">
                <a:solidFill>
                  <a:srgbClr val="9B9384"/>
                </a:solidFill>
                <a:latin typeface="Segoe UI"/>
              </a:rPr>
              <a:t>7</a:t>
            </a:r>
          </a:p>
        </p:txBody>
      </p:sp>
      <p:sp>
        <p:nvSpPr>
          <p:cNvPr id="7" name="Rounded Rectangle 6"/>
          <p:cNvSpPr/>
          <p:nvPr/>
        </p:nvSpPr>
        <p:spPr>
          <a:xfrm>
            <a:off x="502920" y="2148840"/>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9920" y="2276856"/>
            <a:ext cx="9466072" cy="176972"/>
          </a:xfrm>
          <a:prstGeom prst="rect">
            <a:avLst/>
          </a:prstGeom>
          <a:noFill/>
        </p:spPr>
        <p:txBody>
          <a:bodyPr wrap="square" lIns="0" tIns="0" rIns="0" bIns="0">
            <a:spAutoFit/>
          </a:bodyPr>
          <a:lstStyle/>
          <a:p>
            <a:pPr algn="l"/>
            <a:r>
              <a:rPr sz="1150" b="1">
                <a:solidFill>
                  <a:srgbClr val="1A1A2E"/>
                </a:solidFill>
                <a:latin typeface="Segoe UI Semibold"/>
              </a:rPr>
              <a:t>What happened</a:t>
            </a:r>
          </a:p>
        </p:txBody>
      </p:sp>
      <p:sp>
        <p:nvSpPr>
          <p:cNvPr id="9" name="TextBox 8"/>
          <p:cNvSpPr txBox="1"/>
          <p:nvPr/>
        </p:nvSpPr>
        <p:spPr>
          <a:xfrm>
            <a:off x="629920" y="2551176"/>
            <a:ext cx="10929112" cy="428752"/>
          </a:xfrm>
          <a:prstGeom prst="rect">
            <a:avLst/>
          </a:prstGeom>
          <a:noFill/>
        </p:spPr>
        <p:txBody>
          <a:bodyPr wrap="square" lIns="0" tIns="0" rIns="0" bIns="0">
            <a:spAutoFit/>
          </a:bodyPr>
          <a:lstStyle/>
          <a:p>
            <a:pPr algn="l"/>
            <a:r>
              <a:rPr sz="1000" b="0">
                <a:solidFill>
                  <a:srgbClr val="6B6558"/>
                </a:solidFill>
                <a:latin typeface="Segoe UI"/>
              </a:rPr>
              <a:t>A real booking in the app → signed Bankart payment link → Bankart's hosted card form → NLB processing with 3DS → async Notify webhook confirms the booking → Salesforce lead synced. The actual app flow, start to finish — not a browser demo.</a:t>
            </a:r>
          </a:p>
        </p:txBody>
      </p:sp>
      <p:sp>
        <p:nvSpPr>
          <p:cNvPr id="10" name="Rounded Rectangle 9"/>
          <p:cNvSpPr/>
          <p:nvPr/>
        </p:nvSpPr>
        <p:spPr>
          <a:xfrm>
            <a:off x="11111992" y="2237740"/>
            <a:ext cx="47244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LIVE</a:t>
            </a:r>
          </a:p>
        </p:txBody>
      </p:sp>
      <p:sp>
        <p:nvSpPr>
          <p:cNvPr id="11" name="Rounded Rectangle 10"/>
          <p:cNvSpPr/>
          <p:nvPr/>
        </p:nvSpPr>
        <p:spPr>
          <a:xfrm>
            <a:off x="502920" y="3218688"/>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9920" y="3346704"/>
            <a:ext cx="9466072" cy="201168"/>
          </a:xfrm>
          <a:prstGeom prst="rect">
            <a:avLst/>
          </a:prstGeom>
          <a:noFill/>
        </p:spPr>
        <p:txBody>
          <a:bodyPr wrap="square" lIns="0" tIns="0" rIns="0" bIns="0">
            <a:spAutoFit/>
          </a:bodyPr>
          <a:lstStyle/>
          <a:p>
            <a:pPr algn="l"/>
            <a:r>
              <a:rPr sz="1150" b="1">
                <a:solidFill>
                  <a:srgbClr val="1A1A2E"/>
                </a:solidFill>
                <a:latin typeface="Segoe UI Semibold"/>
              </a:rPr>
              <a:t>What it proves: the full stack is real</a:t>
            </a:r>
          </a:p>
        </p:txBody>
      </p:sp>
      <p:sp>
        <p:nvSpPr>
          <p:cNvPr id="13" name="TextBox 12"/>
          <p:cNvSpPr txBox="1"/>
          <p:nvPr/>
        </p:nvSpPr>
        <p:spPr>
          <a:xfrm>
            <a:off x="629920" y="3621024"/>
            <a:ext cx="10929112" cy="428752"/>
          </a:xfrm>
          <a:prstGeom prst="rect">
            <a:avLst/>
          </a:prstGeom>
          <a:noFill/>
        </p:spPr>
        <p:txBody>
          <a:bodyPr wrap="square" lIns="0" tIns="0" rIns="0" bIns="0">
            <a:spAutoFit/>
          </a:bodyPr>
          <a:lstStyle/>
          <a:p>
            <a:pPr algn="l"/>
            <a:r>
              <a:rPr sz="1000" b="0">
                <a:solidFill>
                  <a:srgbClr val="6B6558"/>
                </a:solidFill>
                <a:latin typeface="Segoe UI"/>
              </a:rPr>
              <a:t>This wasn't a sandboxed demo — a real card ran through NLB via Bankart, initiated from the actual mobile app, ending in a confirmed booking and a synced CRM lead. Every layer (signed link, hosted card form, async webhook, Supabase state) is now proven live together, not just individually tested.</a:t>
            </a:r>
          </a:p>
        </p:txBody>
      </p:sp>
      <p:sp>
        <p:nvSpPr>
          <p:cNvPr id="14" name="Rounded Rectangle 13"/>
          <p:cNvSpPr/>
          <p:nvPr/>
        </p:nvSpPr>
        <p:spPr>
          <a:xfrm>
            <a:off x="10775442" y="3307588"/>
            <a:ext cx="80899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CONFIRMED</a:t>
            </a:r>
          </a:p>
        </p:txBody>
      </p:sp>
      <p:sp>
        <p:nvSpPr>
          <p:cNvPr id="15" name="Rounded Rectangle 14"/>
          <p:cNvSpPr/>
          <p:nvPr/>
        </p:nvSpPr>
        <p:spPr>
          <a:xfrm>
            <a:off x="502920" y="4288536"/>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920" y="4416552"/>
            <a:ext cx="9466072" cy="201168"/>
          </a:xfrm>
          <a:prstGeom prst="rect">
            <a:avLst/>
          </a:prstGeom>
          <a:noFill/>
        </p:spPr>
        <p:txBody>
          <a:bodyPr wrap="square" lIns="0" tIns="0" rIns="0" bIns="0">
            <a:spAutoFit/>
          </a:bodyPr>
          <a:lstStyle/>
          <a:p>
            <a:pPr algn="l"/>
            <a:r>
              <a:rPr sz="1150" b="1">
                <a:solidFill>
                  <a:srgbClr val="1A1A2E"/>
                </a:solidFill>
                <a:latin typeface="Segoe UI Semibold"/>
              </a:rPr>
              <a:t>What's still open: the card page isn't mobile-responsive</a:t>
            </a:r>
          </a:p>
        </p:txBody>
      </p:sp>
      <p:sp>
        <p:nvSpPr>
          <p:cNvPr id="17" name="TextBox 16"/>
          <p:cNvSpPr txBox="1"/>
          <p:nvPr/>
        </p:nvSpPr>
        <p:spPr>
          <a:xfrm>
            <a:off x="629920" y="4690872"/>
            <a:ext cx="10929112" cy="428752"/>
          </a:xfrm>
          <a:prstGeom prst="rect">
            <a:avLst/>
          </a:prstGeom>
          <a:noFill/>
        </p:spPr>
        <p:txBody>
          <a:bodyPr wrap="square" lIns="0" tIns="0" rIns="0" bIns="0">
            <a:spAutoFit/>
          </a:bodyPr>
          <a:lstStyle/>
          <a:p>
            <a:pPr algn="l"/>
            <a:r>
              <a:rPr sz="1000" b="0">
                <a:solidFill>
                  <a:srgbClr val="6B6558"/>
                </a:solidFill>
                <a:latin typeface="Segoe UI"/>
              </a:rPr>
              <a:t>Bankart's hosted card page (Hristijan's side, outside our control) has alignment issues on phone and tablet screens — the one open item before this is a clean guest-facing checkout on iOS and Android.</a:t>
            </a:r>
          </a:p>
        </p:txBody>
      </p:sp>
      <p:sp>
        <p:nvSpPr>
          <p:cNvPr id="18" name="Rounded Rectangle 17"/>
          <p:cNvSpPr/>
          <p:nvPr/>
        </p:nvSpPr>
        <p:spPr>
          <a:xfrm>
            <a:off x="10977372" y="4377436"/>
            <a:ext cx="60706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B8790A"/>
                </a:solidFill>
                <a:latin typeface="Segoe UI Semibold"/>
              </a:rPr>
              <a:t>OPEN ITEM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07  —  PLANNING</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Certification, build, test, submit -- phased</a:t>
            </a: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Claude does all technical implementation; testing and store-asset design draw on existing team time. RateHawk's certification review and the app store review clocks are the two timelines genuinely outside our control.</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8</a:t>
            </a:r>
          </a:p>
        </p:txBody>
      </p:sp>
      <p:sp>
        <p:nvSpPr>
          <p:cNvPr id="7" name="Rounded Rectangle 6"/>
          <p:cNvSpPr/>
          <p:nvPr/>
        </p:nvSpPr>
        <p:spPr>
          <a:xfrm>
            <a:off x="502920" y="2148840"/>
            <a:ext cx="11185855" cy="967790"/>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2920" y="2258840"/>
            <a:ext cx="2150000" cy="22000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920" y="2258840"/>
            <a:ext cx="2150000" cy="220000"/>
          </a:xfrm>
          <a:prstGeom prst="rect">
            <a:avLst/>
          </a:prstGeom>
          <a:noFill/>
        </p:spPr>
        <p:txBody>
          <a:bodyPr wrap="square" lIns="0" tIns="0" rIns="0" bIns="0" anchor="ctr">
            <a:spAutoFit/>
          </a:bodyPr>
          <a:lstStyle/>
          <a:p>
            <a:pPr algn="ctr">
              <a:spcAft>
                <a:spcPts val="0"/>
              </a:spcAft>
            </a:pPr>
            <a:r>
              <a:rPr sz="850" b="1">
                <a:solidFill>
                  <a:srgbClr val="B8790A"/>
                </a:solidFill>
                <a:latin typeface="Segoe UI"/>
              </a:rPr>
              <a:t>PHASE 1 - CERTIFY</a:t>
            </a:r>
          </a:p>
        </p:txBody>
      </p:sp>
      <p:sp>
        <p:nvSpPr>
          <p:cNvPr id="10" name="TextBox 9"/>
          <p:cNvSpPr txBox="1"/>
          <p:nvPr/>
        </p:nvSpPr>
        <p:spPr>
          <a:xfrm>
            <a:off x="612920" y="2518840"/>
            <a:ext cx="10800000" cy="230000"/>
          </a:xfrm>
          <a:prstGeom prst="rect">
            <a:avLst/>
          </a:prstGeom>
          <a:noFill/>
        </p:spPr>
        <p:txBody>
          <a:bodyPr wrap="square" lIns="0" tIns="0" rIns="0" bIns="0" anchor="t">
            <a:spAutoFit/>
          </a:bodyPr>
          <a:lstStyle/>
          <a:p>
            <a:pPr algn="l">
              <a:spcAft>
                <a:spcPts val="0"/>
              </a:spcAft>
            </a:pPr>
            <a:r>
              <a:rPr sz="1150" b="1">
                <a:solidFill>
                  <a:srgbClr val="1A1A2E"/>
                </a:solidFill>
                <a:latin typeface="Segoe UI Semibold"/>
              </a:rPr>
              <a:t>Ours to finish, RateHawk's to review</a:t>
            </a:r>
          </a:p>
        </p:txBody>
      </p:sp>
      <p:sp>
        <p:nvSpPr>
          <p:cNvPr id="11" name="TextBox 10"/>
          <p:cNvSpPr txBox="1"/>
          <p:nvPr/>
        </p:nvSpPr>
        <p:spPr>
          <a:xfrm>
            <a:off x="612920" y="2758840"/>
            <a:ext cx="10750000" cy="150426"/>
          </a:xfrm>
          <a:prstGeom prst="rect">
            <a:avLst/>
          </a:prstGeom>
          <a:noFill/>
        </p:spPr>
        <p:txBody>
          <a:bodyPr wrap="square" lIns="0" tIns="0" rIns="0" bIns="0" anchor="t">
            <a:spAutoFit/>
          </a:bodyPr>
          <a:lstStyle/>
          <a:p>
            <a:pPr algn="l">
              <a:lnSpc>
                <a:spcPct val="112000"/>
              </a:lnSpc>
              <a:spcAft>
                <a:spcPts val="0"/>
              </a:spcAft>
            </a:pPr>
            <a:r>
              <a:rPr sz="950" b="0">
                <a:solidFill>
                  <a:srgbClr val="6B6558"/>
                </a:solidFill>
                <a:latin typeface="Segoe UI"/>
              </a:rPr>
              <a:t>Answer RateHawk's Pre-Certification Checklist in full (payment type, RPM limits, static-data sync, price-parsing field, booking-success signal, full error-handling matrix), submit the AWS static IP for whitelisting, and hand back the real order IDs from the 7 passed test scenarios. RateHawk's own review time after that isn't ours to set.</a:t>
            </a:r>
          </a:p>
        </p:txBody>
      </p:sp>
      <p:sp>
        <p:nvSpPr>
          <p:cNvPr id="12" name="Rounded Rectangle 11"/>
          <p:cNvSpPr/>
          <p:nvPr/>
        </p:nvSpPr>
        <p:spPr>
          <a:xfrm>
            <a:off x="502920" y="3226630"/>
            <a:ext cx="11185855" cy="967790"/>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920" y="3336630"/>
            <a:ext cx="2150000" cy="22000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920" y="3336630"/>
            <a:ext cx="2150000" cy="220000"/>
          </a:xfrm>
          <a:prstGeom prst="rect">
            <a:avLst/>
          </a:prstGeom>
          <a:noFill/>
        </p:spPr>
        <p:txBody>
          <a:bodyPr wrap="square" lIns="0" tIns="0" rIns="0" bIns="0" anchor="ctr">
            <a:spAutoFit/>
          </a:bodyPr>
          <a:lstStyle/>
          <a:p>
            <a:pPr algn="ctr">
              <a:spcAft>
                <a:spcPts val="0"/>
              </a:spcAft>
            </a:pPr>
            <a:r>
              <a:rPr sz="850" b="1">
                <a:solidFill>
                  <a:srgbClr val="2E6B57"/>
                </a:solidFill>
                <a:latin typeface="Segoe UI"/>
              </a:rPr>
              <a:t>PHASE 2 - BUILD</a:t>
            </a:r>
          </a:p>
        </p:txBody>
      </p:sp>
      <p:sp>
        <p:nvSpPr>
          <p:cNvPr id="15" name="TextBox 14"/>
          <p:cNvSpPr txBox="1"/>
          <p:nvPr/>
        </p:nvSpPr>
        <p:spPr>
          <a:xfrm>
            <a:off x="612920" y="3596630"/>
            <a:ext cx="10800000" cy="230000"/>
          </a:xfrm>
          <a:prstGeom prst="rect">
            <a:avLst/>
          </a:prstGeom>
          <a:noFill/>
        </p:spPr>
        <p:txBody>
          <a:bodyPr wrap="square" lIns="0" tIns="0" rIns="0" bIns="0" anchor="t">
            <a:spAutoFit/>
          </a:bodyPr>
          <a:lstStyle/>
          <a:p>
            <a:pPr algn="l">
              <a:spcAft>
                <a:spcPts val="0"/>
              </a:spcAft>
            </a:pPr>
            <a:r>
              <a:rPr sz="1150" b="1">
                <a:solidFill>
                  <a:srgbClr val="1A1A2E"/>
                </a:solidFill>
                <a:latin typeface="Segoe UI Semibold"/>
              </a:rPr>
              <a:t>~2–3 weeks · Claude-implemented</a:t>
            </a:r>
          </a:p>
        </p:txBody>
      </p:sp>
      <p:sp>
        <p:nvSpPr>
          <p:cNvPr id="16" name="TextBox 15"/>
          <p:cNvSpPr txBox="1"/>
          <p:nvPr/>
        </p:nvSpPr>
        <p:spPr>
          <a:xfrm>
            <a:off x="612920" y="3836630"/>
            <a:ext cx="10750000" cy="357790"/>
          </a:xfrm>
          <a:prstGeom prst="rect">
            <a:avLst/>
          </a:prstGeom>
          <a:noFill/>
        </p:spPr>
        <p:txBody>
          <a:bodyPr wrap="square" lIns="0" tIns="0" rIns="0" bIns="0" anchor="t">
            <a:spAutoFit/>
          </a:bodyPr>
          <a:lstStyle/>
          <a:p>
            <a:pPr algn="l">
              <a:lnSpc>
                <a:spcPct val="112000"/>
              </a:lnSpc>
              <a:spcAft>
                <a:spcPts val="0"/>
              </a:spcAft>
            </a:pPr>
            <a:r>
              <a:rPr sz="950" b="0">
                <a:solidFill>
                  <a:srgbClr val="6B6558"/>
                </a:solidFill>
                <a:latin typeface="Segoe UI"/>
              </a:rPr>
              <a:t>Replace lib/ratehawk.ts's simulated stub with the real prebook → charge → finish sequence, reconciling that RateHawk charges Balkanea's deposit balance while Bankart charges the guest's card. Build the room-by-room guest configurator that search and booking currently lack entirely (multi-file, not small). Apple's OAuth secret + Google Play account (Ray-owned) proceed in parallel.</a:t>
            </a:r>
          </a:p>
        </p:txBody>
      </p:sp>
      <p:sp>
        <p:nvSpPr>
          <p:cNvPr id="17" name="Rounded Rectangle 16"/>
          <p:cNvSpPr/>
          <p:nvPr/>
        </p:nvSpPr>
        <p:spPr>
          <a:xfrm>
            <a:off x="502920" y="4304420"/>
            <a:ext cx="11185855" cy="967790"/>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2920" y="4414420"/>
            <a:ext cx="2150000" cy="22000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920" y="4414420"/>
            <a:ext cx="2150000" cy="220000"/>
          </a:xfrm>
          <a:prstGeom prst="rect">
            <a:avLst/>
          </a:prstGeom>
          <a:noFill/>
        </p:spPr>
        <p:txBody>
          <a:bodyPr wrap="square" lIns="0" tIns="0" rIns="0" bIns="0" anchor="ctr">
            <a:spAutoFit/>
          </a:bodyPr>
          <a:lstStyle/>
          <a:p>
            <a:pPr algn="ctr">
              <a:spcAft>
                <a:spcPts val="0"/>
              </a:spcAft>
            </a:pPr>
            <a:r>
              <a:rPr sz="850" b="1">
                <a:solidFill>
                  <a:srgbClr val="2E6B57"/>
                </a:solidFill>
                <a:latin typeface="Segoe UI"/>
              </a:rPr>
              <a:t>PHASE 3 - TEST</a:t>
            </a:r>
          </a:p>
        </p:txBody>
      </p:sp>
      <p:sp>
        <p:nvSpPr>
          <p:cNvPr id="20" name="TextBox 19"/>
          <p:cNvSpPr txBox="1"/>
          <p:nvPr/>
        </p:nvSpPr>
        <p:spPr>
          <a:xfrm>
            <a:off x="612920" y="4674420"/>
            <a:ext cx="10800000" cy="230000"/>
          </a:xfrm>
          <a:prstGeom prst="rect">
            <a:avLst/>
          </a:prstGeom>
          <a:noFill/>
        </p:spPr>
        <p:txBody>
          <a:bodyPr wrap="square" lIns="0" tIns="0" rIns="0" bIns="0" anchor="t">
            <a:spAutoFit/>
          </a:bodyPr>
          <a:lstStyle/>
          <a:p>
            <a:pPr algn="l">
              <a:spcAft>
                <a:spcPts val="0"/>
              </a:spcAft>
            </a:pPr>
            <a:r>
              <a:rPr sz="1150" b="1">
                <a:solidFill>
                  <a:srgbClr val="1A1A2E"/>
                </a:solidFill>
                <a:latin typeface="Segoe UI Semibold"/>
              </a:rPr>
              <a:t>~1–2 weeks, parallel across existing testers</a:t>
            </a:r>
          </a:p>
        </p:txBody>
      </p:sp>
      <p:sp>
        <p:nvSpPr>
          <p:cNvPr id="21" name="TextBox 20"/>
          <p:cNvSpPr txBox="1"/>
          <p:nvPr/>
        </p:nvSpPr>
        <p:spPr>
          <a:xfrm>
            <a:off x="612920" y="4914420"/>
            <a:ext cx="10750000" cy="150426"/>
          </a:xfrm>
          <a:prstGeom prst="rect">
            <a:avLst/>
          </a:prstGeom>
          <a:noFill/>
        </p:spPr>
        <p:txBody>
          <a:bodyPr wrap="square" lIns="0" tIns="0" rIns="0" bIns="0" anchor="t">
            <a:spAutoFit/>
          </a:bodyPr>
          <a:lstStyle/>
          <a:p>
            <a:pPr algn="l">
              <a:lnSpc>
                <a:spcPct val="112000"/>
              </a:lnSpc>
              <a:spcAft>
                <a:spcPts val="0"/>
              </a:spcAft>
            </a:pPr>
            <a:r>
              <a:rPr sz="950" b="0">
                <a:solidFill>
                  <a:srgbClr val="6B6558"/>
                </a:solidFill>
                <a:latin typeface="Segoe UI"/>
              </a:rPr>
              <a:t>Auth, search, and single-room booking + payment are already TestFlight-tested. New coverage once Phase 2 lands: multi-room booking end-to-end, RateHawk's full error-handling matrix (booking_form_expired, rate_not_found, soldout, book_limit, 3ds -- not just the happy path), and a repeat real-money payment run to confirm settlement is clean before certification submission. Store assets (screenshots, listing copy) in parallel -- ~2–3 days on top of already-built UI.</a:t>
            </a:r>
          </a:p>
        </p:txBody>
      </p:sp>
      <p:sp>
        <p:nvSpPr>
          <p:cNvPr id="22" name="Rounded Rectangle 21"/>
          <p:cNvSpPr/>
          <p:nvPr/>
        </p:nvSpPr>
        <p:spPr>
          <a:xfrm>
            <a:off x="502920" y="5382210"/>
            <a:ext cx="11185855" cy="967790"/>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12920" y="5492210"/>
            <a:ext cx="2150000" cy="22000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920" y="5492210"/>
            <a:ext cx="2150000" cy="220000"/>
          </a:xfrm>
          <a:prstGeom prst="rect">
            <a:avLst/>
          </a:prstGeom>
          <a:noFill/>
        </p:spPr>
        <p:txBody>
          <a:bodyPr wrap="square" lIns="0" tIns="0" rIns="0" bIns="0" anchor="ctr">
            <a:spAutoFit/>
          </a:bodyPr>
          <a:lstStyle/>
          <a:p>
            <a:pPr algn="ctr">
              <a:spcAft>
                <a:spcPts val="0"/>
              </a:spcAft>
            </a:pPr>
            <a:r>
              <a:rPr sz="850" b="1">
                <a:solidFill>
                  <a:srgbClr val="B8790A"/>
                </a:solidFill>
                <a:latin typeface="Segoe UI"/>
              </a:rPr>
              <a:t>PHASE 4 - SUBMIT</a:t>
            </a:r>
          </a:p>
        </p:txBody>
      </p:sp>
      <p:sp>
        <p:nvSpPr>
          <p:cNvPr id="25" name="TextBox 24"/>
          <p:cNvSpPr txBox="1"/>
          <p:nvPr/>
        </p:nvSpPr>
        <p:spPr>
          <a:xfrm>
            <a:off x="612920" y="5752210"/>
            <a:ext cx="10800000" cy="176972"/>
          </a:xfrm>
          <a:prstGeom prst="rect">
            <a:avLst/>
          </a:prstGeom>
          <a:noFill/>
        </p:spPr>
        <p:txBody>
          <a:bodyPr wrap="square" lIns="0" tIns="0" rIns="0" bIns="0" anchor="t">
            <a:spAutoFit/>
          </a:bodyPr>
          <a:lstStyle/>
          <a:p>
            <a:pPr algn="l">
              <a:spcAft>
                <a:spcPts val="0"/>
              </a:spcAft>
            </a:pPr>
            <a:r>
              <a:rPr sz="1150" b="1">
                <a:solidFill>
                  <a:srgbClr val="1A1A2E"/>
                </a:solidFill>
                <a:latin typeface="Segoe UI Semibold"/>
              </a:rPr>
              <a:t>~1 month+, three review clocks running in parallel</a:t>
            </a:r>
          </a:p>
        </p:txBody>
      </p:sp>
      <p:sp>
        <p:nvSpPr>
          <p:cNvPr id="26" name="TextBox 25"/>
          <p:cNvSpPr txBox="1"/>
          <p:nvPr/>
        </p:nvSpPr>
        <p:spPr>
          <a:xfrm>
            <a:off x="612920" y="5992210"/>
            <a:ext cx="10750000" cy="357790"/>
          </a:xfrm>
          <a:prstGeom prst="rect">
            <a:avLst/>
          </a:prstGeom>
          <a:noFill/>
        </p:spPr>
        <p:txBody>
          <a:bodyPr wrap="square" lIns="0" tIns="0" rIns="0" bIns="0" anchor="t">
            <a:spAutoFit/>
          </a:bodyPr>
          <a:lstStyle/>
          <a:p>
            <a:pPr algn="l">
              <a:lnSpc>
                <a:spcPct val="112000"/>
              </a:lnSpc>
              <a:spcAft>
                <a:spcPts val="0"/>
              </a:spcAft>
            </a:pPr>
            <a:r>
              <a:rPr sz="950" b="0">
                <a:solidFill>
                  <a:srgbClr val="6B6558"/>
                </a:solidFill>
                <a:latin typeface="Segoe UI"/>
              </a:rPr>
              <a:t>Apple review ~3–5 days (real travel payments = higher scrutiny; budget one rejection-and-resubmit round). Google Play's 14-day mandatory closed-testing period is the long pole, and its clock can't start until the Play Developer account exists. RateHawk moves sandbox → production keys only after certification sign-off, on its own timeline, running alongside store review rather than before 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3112" cy="320040"/>
          </a:xfrm>
          <a:prstGeom prst="rect">
            <a:avLst/>
          </a:prstGeom>
          <a:noFill/>
        </p:spPr>
        <p:txBody>
          <a:bodyPr wrap="square" lIns="0" tIns="0" rIns="0" bIns="0">
            <a:spAutoFit/>
          </a:bodyPr>
          <a:lstStyle/>
          <a:p>
            <a:pPr algn="l"/>
            <a:r>
              <a:rPr sz="1200" b="1">
                <a:solidFill>
                  <a:srgbClr val="7A3E0F"/>
                </a:solidFill>
                <a:latin typeface="Segoe UI Semibold"/>
              </a:rPr>
              <a:t>08  —  ARCHITECTURE</a:t>
            </a:r>
          </a:p>
        </p:txBody>
      </p:sp>
      <p:sp>
        <p:nvSpPr>
          <p:cNvPr id="3" name="TextBox 2"/>
          <p:cNvSpPr txBox="1"/>
          <p:nvPr/>
        </p:nvSpPr>
        <p:spPr>
          <a:xfrm>
            <a:off x="502920" y="749808"/>
            <a:ext cx="11183112" cy="502920"/>
          </a:xfrm>
          <a:prstGeom prst="rect">
            <a:avLst/>
          </a:prstGeom>
          <a:noFill/>
        </p:spPr>
        <p:txBody>
          <a:bodyPr wrap="square" lIns="0" tIns="0" rIns="0" bIns="0">
            <a:spAutoFit/>
          </a:bodyPr>
          <a:lstStyle/>
          <a:p>
            <a:pPr algn="l"/>
            <a:r>
              <a:rPr sz="2700" b="1">
                <a:solidFill>
                  <a:srgbClr val="1A1A2E"/>
                </a:solidFill>
                <a:latin typeface="Segoe UI Semibold"/>
              </a:rPr>
              <a:t>Planned production architecture</a:t>
            </a:r>
          </a:p>
        </p:txBody>
      </p:sp>
      <p:sp>
        <p:nvSpPr>
          <p:cNvPr id="4" name="TextBox 3"/>
          <p:cNvSpPr txBox="1"/>
          <p:nvPr/>
        </p:nvSpPr>
        <p:spPr>
          <a:xfrm>
            <a:off x="502920" y="1280160"/>
            <a:ext cx="10799064" cy="365760"/>
          </a:xfrm>
          <a:prstGeom prst="rect">
            <a:avLst/>
          </a:prstGeom>
          <a:noFill/>
        </p:spPr>
        <p:txBody>
          <a:bodyPr wrap="square" lIns="0" tIns="0" rIns="0" bIns="0">
            <a:spAutoFit/>
          </a:bodyPr>
          <a:lstStyle/>
          <a:p>
            <a:pPr algn="l"/>
            <a:r>
              <a:rPr sz="1350" b="0">
                <a:solidFill>
                  <a:srgbClr val="6B6558"/>
                </a:solidFill>
                <a:latin typeface="Segoe UI"/>
              </a:rPr>
              <a:t>Payments and RateHawk booking are now verified live, not just treated as such (see Risks for what's still open); the admin portal's WooCommerce-parity gap is the one box still genuinely open below.</a:t>
            </a:r>
          </a:p>
        </p:txBody>
      </p:sp>
      <p:sp>
        <p:nvSpPr>
          <p:cNvPr id="5" name="TextBox 4"/>
          <p:cNvSpPr txBox="1"/>
          <p:nvPr/>
        </p:nvSpPr>
        <p:spPr>
          <a:xfrm>
            <a:off x="502920" y="6528816"/>
            <a:ext cx="7315200" cy="274320"/>
          </a:xfrm>
          <a:prstGeom prst="rect">
            <a:avLst/>
          </a:prstGeom>
          <a:noFill/>
        </p:spPr>
        <p:txBody>
          <a:bodyPr wrap="square" lIns="0" tIns="0" rIns="0" bIns="0">
            <a:spAutoFit/>
          </a:bodyPr>
          <a:lstStyle/>
          <a:p>
            <a:pPr algn="l"/>
            <a:r>
              <a:rPr sz="900" b="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tIns="0" rIns="0" bIns="0">
            <a:spAutoFit/>
          </a:bodyPr>
          <a:lstStyle/>
          <a:p>
            <a:pPr algn="r"/>
            <a:r>
              <a:rPr sz="900" b="0">
                <a:solidFill>
                  <a:srgbClr val="9B9384"/>
                </a:solidFill>
                <a:latin typeface="Segoe UI"/>
              </a:rPr>
              <a:t>9</a:t>
            </a:r>
          </a:p>
        </p:txBody>
      </p:sp>
      <p:sp>
        <p:nvSpPr>
          <p:cNvPr id="7" name="TextBox 6"/>
          <p:cNvSpPr txBox="1"/>
          <p:nvPr/>
        </p:nvSpPr>
        <p:spPr>
          <a:xfrm>
            <a:off x="502920" y="1783080"/>
            <a:ext cx="2331720" cy="182880"/>
          </a:xfrm>
          <a:prstGeom prst="rect">
            <a:avLst/>
          </a:prstGeom>
          <a:noFill/>
        </p:spPr>
        <p:txBody>
          <a:bodyPr wrap="square" lIns="0" tIns="0" rIns="0" bIns="0">
            <a:spAutoFit/>
          </a:bodyPr>
          <a:lstStyle/>
          <a:p>
            <a:pPr algn="ctr"/>
            <a:r>
              <a:rPr sz="900" b="1">
                <a:solidFill>
                  <a:srgbClr val="9B9384"/>
                </a:solidFill>
                <a:latin typeface="Segoe UI Semibold"/>
              </a:rPr>
              <a:t>CLIENT</a:t>
            </a:r>
          </a:p>
        </p:txBody>
      </p:sp>
      <p:sp>
        <p:nvSpPr>
          <p:cNvPr id="8" name="TextBox 7"/>
          <p:cNvSpPr txBox="1"/>
          <p:nvPr/>
        </p:nvSpPr>
        <p:spPr>
          <a:xfrm>
            <a:off x="3145536" y="1783080"/>
            <a:ext cx="2331720" cy="182880"/>
          </a:xfrm>
          <a:prstGeom prst="rect">
            <a:avLst/>
          </a:prstGeom>
          <a:noFill/>
        </p:spPr>
        <p:txBody>
          <a:bodyPr wrap="square" lIns="0" tIns="0" rIns="0" bIns="0">
            <a:spAutoFit/>
          </a:bodyPr>
          <a:lstStyle/>
          <a:p>
            <a:pPr algn="ctr"/>
            <a:r>
              <a:rPr sz="900" b="1">
                <a:solidFill>
                  <a:srgbClr val="9B9384"/>
                </a:solidFill>
                <a:latin typeface="Segoe UI Semibold"/>
              </a:rPr>
              <a:t>BACKEND</a:t>
            </a:r>
          </a:p>
        </p:txBody>
      </p:sp>
      <p:sp>
        <p:nvSpPr>
          <p:cNvPr id="9" name="TextBox 8"/>
          <p:cNvSpPr txBox="1"/>
          <p:nvPr/>
        </p:nvSpPr>
        <p:spPr>
          <a:xfrm>
            <a:off x="5788152" y="1783080"/>
            <a:ext cx="2331720" cy="182880"/>
          </a:xfrm>
          <a:prstGeom prst="rect">
            <a:avLst/>
          </a:prstGeom>
          <a:noFill/>
        </p:spPr>
        <p:txBody>
          <a:bodyPr wrap="square" lIns="0" tIns="0" rIns="0" bIns="0">
            <a:spAutoFit/>
          </a:bodyPr>
          <a:lstStyle/>
          <a:p>
            <a:pPr algn="ctr"/>
            <a:r>
              <a:rPr sz="900" b="1">
                <a:solidFill>
                  <a:srgbClr val="9B9384"/>
                </a:solidFill>
                <a:latin typeface="Segoe UI Semibold"/>
              </a:rPr>
              <a:t>DATA</a:t>
            </a:r>
          </a:p>
        </p:txBody>
      </p:sp>
      <p:sp>
        <p:nvSpPr>
          <p:cNvPr id="10" name="TextBox 9"/>
          <p:cNvSpPr txBox="1"/>
          <p:nvPr/>
        </p:nvSpPr>
        <p:spPr>
          <a:xfrm>
            <a:off x="8430768" y="1783080"/>
            <a:ext cx="3255264" cy="182880"/>
          </a:xfrm>
          <a:prstGeom prst="rect">
            <a:avLst/>
          </a:prstGeom>
          <a:noFill/>
        </p:spPr>
        <p:txBody>
          <a:bodyPr wrap="square" lIns="0" tIns="0" rIns="0" bIns="0">
            <a:spAutoFit/>
          </a:bodyPr>
          <a:lstStyle/>
          <a:p>
            <a:pPr algn="ctr"/>
            <a:r>
              <a:rPr sz="900" b="1">
                <a:solidFill>
                  <a:srgbClr val="9B9384"/>
                </a:solidFill>
                <a:latin typeface="Segoe UI Semibold"/>
              </a:rPr>
              <a:t>PARTNERS</a:t>
            </a:r>
          </a:p>
        </p:txBody>
      </p:sp>
      <p:sp>
        <p:nvSpPr>
          <p:cNvPr id="11" name="Rounded Rectangle 10"/>
          <p:cNvSpPr/>
          <p:nvPr/>
        </p:nvSpPr>
        <p:spPr>
          <a:xfrm>
            <a:off x="502920" y="2048256"/>
            <a:ext cx="2331720"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9920" y="2162556"/>
            <a:ext cx="2077720" cy="201168"/>
          </a:xfrm>
          <a:prstGeom prst="rect">
            <a:avLst/>
          </a:prstGeom>
          <a:noFill/>
        </p:spPr>
        <p:txBody>
          <a:bodyPr wrap="square" lIns="0" tIns="0" rIns="0" bIns="0">
            <a:spAutoFit/>
          </a:bodyPr>
          <a:lstStyle/>
          <a:p>
            <a:pPr algn="l"/>
            <a:r>
              <a:rPr sz="1150" b="1">
                <a:solidFill>
                  <a:srgbClr val="1A1A2E"/>
                </a:solidFill>
                <a:latin typeface="Segoe UI Semibold"/>
              </a:rPr>
              <a:t>Balkanea Mobile App</a:t>
            </a:r>
          </a:p>
        </p:txBody>
      </p:sp>
      <p:sp>
        <p:nvSpPr>
          <p:cNvPr id="13" name="TextBox 12"/>
          <p:cNvSpPr txBox="1"/>
          <p:nvPr/>
        </p:nvSpPr>
        <p:spPr>
          <a:xfrm>
            <a:off x="629920" y="2400300"/>
            <a:ext cx="2077720" cy="806196"/>
          </a:xfrm>
          <a:prstGeom prst="rect">
            <a:avLst/>
          </a:prstGeom>
          <a:noFill/>
        </p:spPr>
        <p:txBody>
          <a:bodyPr wrap="square" lIns="0" tIns="0" rIns="0" bIns="0">
            <a:spAutoFit/>
          </a:bodyPr>
          <a:lstStyle/>
          <a:p>
            <a:pPr algn="l"/>
            <a:r>
              <a:rPr sz="900" b="0">
                <a:solidFill>
                  <a:srgbClr val="6B6558"/>
                </a:solidFill>
                <a:latin typeface="Segoe UI"/>
              </a:rPr>
              <a:t>Expo / React Native — iOS, Android, Web. Nea AI (Claude Haiku) search advisor. Booking flow: search → lock → pay → confirm.</a:t>
            </a:r>
          </a:p>
        </p:txBody>
      </p:sp>
      <p:sp>
        <p:nvSpPr>
          <p:cNvPr id="14" name="Rounded Rectangle 13"/>
          <p:cNvSpPr/>
          <p:nvPr/>
        </p:nvSpPr>
        <p:spPr>
          <a:xfrm>
            <a:off x="502920" y="3502152"/>
            <a:ext cx="2331720" cy="96012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9920" y="3616452"/>
            <a:ext cx="2077720" cy="201168"/>
          </a:xfrm>
          <a:prstGeom prst="rect">
            <a:avLst/>
          </a:prstGeom>
          <a:noFill/>
        </p:spPr>
        <p:txBody>
          <a:bodyPr wrap="square" lIns="0" tIns="0" rIns="0" bIns="0">
            <a:spAutoFit/>
          </a:bodyPr>
          <a:lstStyle/>
          <a:p>
            <a:pPr algn="l"/>
            <a:r>
              <a:rPr sz="1150" b="1">
                <a:solidFill>
                  <a:srgbClr val="1A1A2E"/>
                </a:solidFill>
                <a:latin typeface="Segoe UI Semibold"/>
              </a:rPr>
              <a:t>Supabase Auth</a:t>
            </a:r>
          </a:p>
        </p:txBody>
      </p:sp>
      <p:sp>
        <p:nvSpPr>
          <p:cNvPr id="16" name="TextBox 15"/>
          <p:cNvSpPr txBox="1"/>
          <p:nvPr/>
        </p:nvSpPr>
        <p:spPr>
          <a:xfrm>
            <a:off x="629920" y="3854196"/>
            <a:ext cx="2077720" cy="531876"/>
          </a:xfrm>
          <a:prstGeom prst="rect">
            <a:avLst/>
          </a:prstGeom>
          <a:noFill/>
        </p:spPr>
        <p:txBody>
          <a:bodyPr wrap="square" lIns="0" tIns="0" rIns="0" bIns="0">
            <a:spAutoFit/>
          </a:bodyPr>
          <a:lstStyle/>
          <a:p>
            <a:pPr algn="l"/>
            <a:r>
              <a:rPr sz="900" b="0">
                <a:solidFill>
                  <a:srgbClr val="6B6558"/>
                </a:solidFill>
                <a:latin typeface="Segoe UI"/>
              </a:rPr>
              <a:t>Google (live) · Apple (native code shipped, provider secret pending) · Phone OTP · Guest.</a:t>
            </a:r>
          </a:p>
        </p:txBody>
      </p:sp>
      <p:sp>
        <p:nvSpPr>
          <p:cNvPr id="17" name="Rounded Rectangle 16"/>
          <p:cNvSpPr/>
          <p:nvPr/>
        </p:nvSpPr>
        <p:spPr>
          <a:xfrm>
            <a:off x="3145536" y="2363724"/>
            <a:ext cx="2331720" cy="178308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72536" y="2478024"/>
            <a:ext cx="2077720" cy="201168"/>
          </a:xfrm>
          <a:prstGeom prst="rect">
            <a:avLst/>
          </a:prstGeom>
          <a:noFill/>
        </p:spPr>
        <p:txBody>
          <a:bodyPr wrap="square" lIns="0" tIns="0" rIns="0" bIns="0">
            <a:spAutoFit/>
          </a:bodyPr>
          <a:lstStyle/>
          <a:p>
            <a:pPr algn="l"/>
            <a:r>
              <a:rPr sz="1150" b="1">
                <a:solidFill>
                  <a:srgbClr val="1A1A2E"/>
                </a:solidFill>
                <a:latin typeface="Segoe UI Semibold"/>
              </a:rPr>
              <a:t>balkanea-lead-webhook</a:t>
            </a:r>
          </a:p>
        </p:txBody>
      </p:sp>
      <p:sp>
        <p:nvSpPr>
          <p:cNvPr id="19" name="TextBox 18"/>
          <p:cNvSpPr txBox="1"/>
          <p:nvPr/>
        </p:nvSpPr>
        <p:spPr>
          <a:xfrm>
            <a:off x="3272536" y="2715768"/>
            <a:ext cx="2077720" cy="1354836"/>
          </a:xfrm>
          <a:prstGeom prst="rect">
            <a:avLst/>
          </a:prstGeom>
          <a:noFill/>
        </p:spPr>
        <p:txBody>
          <a:bodyPr wrap="square" lIns="0" tIns="0" rIns="0" bIns="0">
            <a:spAutoFit/>
          </a:bodyPr>
          <a:lstStyle/>
          <a:p>
            <a:pPr algn="l"/>
            <a:r>
              <a:rPr sz="900" b="0">
                <a:solidFill>
                  <a:srgbClr val="6B6558"/>
                </a:solidFill>
                <a:latin typeface="Segoe UI"/>
              </a:rPr>
              <a:t>Vercel serverless (Node.js). Hotel search proxy (real amenity filtering, real multi-currency), RateHawk mobile workflow (SERP / Prebook / create-order), payment gateway, Salesforce sync. CORS gap found and fixed today -- every endpoint had none, silently breaking the whole flow on the web build.</a:t>
            </a:r>
          </a:p>
        </p:txBody>
      </p:sp>
      <p:sp>
        <p:nvSpPr>
          <p:cNvPr id="20" name="Rounded Rectangle 19"/>
          <p:cNvSpPr/>
          <p:nvPr/>
        </p:nvSpPr>
        <p:spPr>
          <a:xfrm>
            <a:off x="5788152" y="2048256"/>
            <a:ext cx="2331720"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15152" y="2340864"/>
            <a:ext cx="2077720" cy="201168"/>
          </a:xfrm>
          <a:prstGeom prst="rect">
            <a:avLst/>
          </a:prstGeom>
          <a:noFill/>
        </p:spPr>
        <p:txBody>
          <a:bodyPr wrap="square" lIns="0" tIns="0" rIns="0" bIns="0">
            <a:spAutoFit/>
          </a:bodyPr>
          <a:lstStyle/>
          <a:p>
            <a:pPr algn="l"/>
            <a:r>
              <a:rPr sz="1150" b="1">
                <a:solidFill>
                  <a:srgbClr val="1A1A2E"/>
                </a:solidFill>
                <a:latin typeface="Segoe UI Semibold"/>
              </a:rPr>
              <a:t>balkanea_hotels_sbx</a:t>
            </a:r>
          </a:p>
        </p:txBody>
      </p:sp>
      <p:sp>
        <p:nvSpPr>
          <p:cNvPr id="22" name="TextBox 21"/>
          <p:cNvSpPr txBox="1"/>
          <p:nvPr/>
        </p:nvSpPr>
        <p:spPr>
          <a:xfrm>
            <a:off x="5915152" y="2578608"/>
            <a:ext cx="2077720" cy="627888"/>
          </a:xfrm>
          <a:prstGeom prst="rect">
            <a:avLst/>
          </a:prstGeom>
          <a:noFill/>
        </p:spPr>
        <p:txBody>
          <a:bodyPr wrap="square" lIns="0" tIns="0" rIns="0" bIns="0">
            <a:spAutoFit/>
          </a:bodyPr>
          <a:lstStyle/>
          <a:p>
            <a:pPr algn="l"/>
            <a:r>
              <a:rPr sz="900" b="0">
                <a:solidFill>
                  <a:srgbClr val="6B6558"/>
                </a:solidFill>
                <a:latin typeface="Segoe UI"/>
              </a:rPr>
              <a:t>850,218 hotels / 3.9M rooms, all 10 countries. Plus a sibling sandbox schema (same instance): 742 hotels across the 3 regions RateHawk's own sandbox dump actually prices -- real search and room rates, not simulated, as of today.</a:t>
            </a:r>
          </a:p>
        </p:txBody>
      </p:sp>
      <p:sp>
        <p:nvSpPr>
          <p:cNvPr id="23" name="Rounded Rectangle 22"/>
          <p:cNvSpPr/>
          <p:nvPr/>
        </p:nvSpPr>
        <p:spPr>
          <a:xfrm>
            <a:off x="7545832" y="2137156"/>
            <a:ext cx="47244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LIVE</a:t>
            </a:r>
          </a:p>
        </p:txBody>
      </p:sp>
      <p:sp>
        <p:nvSpPr>
          <p:cNvPr id="24" name="Rounded Rectangle 23"/>
          <p:cNvSpPr/>
          <p:nvPr/>
        </p:nvSpPr>
        <p:spPr>
          <a:xfrm>
            <a:off x="5788152" y="3502152"/>
            <a:ext cx="2331720"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915152" y="3616452"/>
            <a:ext cx="2077720" cy="201168"/>
          </a:xfrm>
          <a:prstGeom prst="rect">
            <a:avLst/>
          </a:prstGeom>
          <a:noFill/>
        </p:spPr>
        <p:txBody>
          <a:bodyPr wrap="square" lIns="0" tIns="0" rIns="0" bIns="0">
            <a:spAutoFit/>
          </a:bodyPr>
          <a:lstStyle/>
          <a:p>
            <a:pPr algn="l"/>
            <a:r>
              <a:rPr sz="1150" b="1">
                <a:solidFill>
                  <a:srgbClr val="1A1A2E"/>
                </a:solidFill>
                <a:latin typeface="Segoe UI Semibold"/>
              </a:rPr>
              <a:t>balkanea_sbx</a:t>
            </a:r>
          </a:p>
        </p:txBody>
      </p:sp>
      <p:sp>
        <p:nvSpPr>
          <p:cNvPr id="26" name="TextBox 25"/>
          <p:cNvSpPr txBox="1"/>
          <p:nvPr/>
        </p:nvSpPr>
        <p:spPr>
          <a:xfrm>
            <a:off x="5915152" y="3854196"/>
            <a:ext cx="2077720" cy="806196"/>
          </a:xfrm>
          <a:prstGeom prst="rect">
            <a:avLst/>
          </a:prstGeom>
          <a:noFill/>
        </p:spPr>
        <p:txBody>
          <a:bodyPr wrap="square" lIns="0" tIns="0" rIns="0" bIns="0">
            <a:spAutoFit/>
          </a:bodyPr>
          <a:lstStyle/>
          <a:p>
            <a:pPr algn="l"/>
            <a:r>
              <a:rPr sz="900" b="0">
                <a:solidFill>
                  <a:srgbClr val="6B6558"/>
                </a:solidFill>
                <a:latin typeface="Segoe UI"/>
              </a:rPr>
              <a:t>Bookings, profiles, payment_reference/payment_state (MKD), ratehawk_order_id. Live -- three real bookings written today. New: voucher/invoice PDF fetch + automated confirmation emails via Resend.</a:t>
            </a:r>
          </a:p>
        </p:txBody>
      </p:sp>
      <p:sp>
        <p:nvSpPr>
          <p:cNvPr id="27" name="Rounded Rectangle 26"/>
          <p:cNvSpPr/>
          <p:nvPr/>
        </p:nvSpPr>
        <p:spPr>
          <a:xfrm>
            <a:off x="8430768" y="2048256"/>
            <a:ext cx="3255264"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57768" y="2340864"/>
            <a:ext cx="3001264" cy="201168"/>
          </a:xfrm>
          <a:prstGeom prst="rect">
            <a:avLst/>
          </a:prstGeom>
          <a:noFill/>
        </p:spPr>
        <p:txBody>
          <a:bodyPr wrap="square" lIns="0" tIns="0" rIns="0" bIns="0">
            <a:spAutoFit/>
          </a:bodyPr>
          <a:lstStyle/>
          <a:p>
            <a:pPr algn="l"/>
            <a:r>
              <a:rPr sz="1150" b="1">
                <a:solidFill>
                  <a:srgbClr val="1A1A2E"/>
                </a:solidFill>
                <a:latin typeface="Segoe UI Semibold"/>
              </a:rPr>
              <a:t>RateHawk</a:t>
            </a:r>
          </a:p>
        </p:txBody>
      </p:sp>
      <p:sp>
        <p:nvSpPr>
          <p:cNvPr id="29" name="TextBox 28"/>
          <p:cNvSpPr txBox="1"/>
          <p:nvPr/>
        </p:nvSpPr>
        <p:spPr>
          <a:xfrm>
            <a:off x="8557768" y="2578608"/>
            <a:ext cx="3001264" cy="627888"/>
          </a:xfrm>
          <a:prstGeom prst="rect">
            <a:avLst/>
          </a:prstGeom>
          <a:noFill/>
        </p:spPr>
        <p:txBody>
          <a:bodyPr wrap="square" lIns="0" tIns="0" rIns="0" bIns="0">
            <a:spAutoFit/>
          </a:bodyPr>
          <a:lstStyle/>
          <a:p>
            <a:pPr algn="l"/>
            <a:r>
              <a:rPr sz="900" b="0">
                <a:solidFill>
                  <a:srgbClr val="6B6558"/>
                </a:solidFill>
                <a:latin typeface="Segoe UI"/>
              </a:rPr>
              <a:t>Separate mobile Office (contract “balkanea-mobile”). Sandbox key 973 live and verified -- booking mechanics proven end-to-end against certification test hotels. Certification checklist submission is next, then production key.</a:t>
            </a:r>
          </a:p>
        </p:txBody>
      </p:sp>
      <p:sp>
        <p:nvSpPr>
          <p:cNvPr id="30" name="Rounded Rectangle 29"/>
          <p:cNvSpPr/>
          <p:nvPr/>
        </p:nvSpPr>
        <p:spPr>
          <a:xfrm>
            <a:off x="10640822" y="2137156"/>
            <a:ext cx="94361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IN PROGRESS</a:t>
            </a:r>
          </a:p>
        </p:txBody>
      </p:sp>
      <p:sp>
        <p:nvSpPr>
          <p:cNvPr id="31" name="Rounded Rectangle 30"/>
          <p:cNvSpPr/>
          <p:nvPr/>
        </p:nvSpPr>
        <p:spPr>
          <a:xfrm>
            <a:off x="8430768" y="3483864"/>
            <a:ext cx="3255264" cy="960120"/>
          </a:xfrm>
          <a:prstGeom prst="roundRect">
            <a:avLst>
              <a:gd name="adj" fmla="val 9000"/>
            </a:avLst>
          </a:prstGeom>
          <a:solidFill>
            <a:srgbClr val="E3EEE9"/>
          </a:solidFill>
          <a:ln w="1587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57768" y="3776472"/>
            <a:ext cx="3001264" cy="201168"/>
          </a:xfrm>
          <a:prstGeom prst="rect">
            <a:avLst/>
          </a:prstGeom>
          <a:noFill/>
        </p:spPr>
        <p:txBody>
          <a:bodyPr wrap="square" lIns="0" tIns="0" rIns="0" bIns="0">
            <a:spAutoFit/>
          </a:bodyPr>
          <a:lstStyle/>
          <a:p>
            <a:pPr algn="l"/>
            <a:r>
              <a:rPr sz="1150" b="1">
                <a:solidFill>
                  <a:srgbClr val="1A1A2E"/>
                </a:solidFill>
                <a:latin typeface="Segoe UI Semibold"/>
              </a:rPr>
              <a:t>Payment gateway (NLB-direct)</a:t>
            </a:r>
          </a:p>
        </p:txBody>
      </p:sp>
      <p:sp>
        <p:nvSpPr>
          <p:cNvPr id="33" name="TextBox 32"/>
          <p:cNvSpPr txBox="1"/>
          <p:nvPr/>
        </p:nvSpPr>
        <p:spPr>
          <a:xfrm>
            <a:off x="8557768" y="4014216"/>
            <a:ext cx="3001264" cy="353568"/>
          </a:xfrm>
          <a:prstGeom prst="rect">
            <a:avLst/>
          </a:prstGeom>
          <a:noFill/>
        </p:spPr>
        <p:txBody>
          <a:bodyPr wrap="square" lIns="0" tIns="0" rIns="0" bIns="0">
            <a:spAutoFit/>
          </a:bodyPr>
          <a:lstStyle/>
          <a:p>
            <a:pPr algn="l"/>
            <a:r>
              <a:rPr sz="900" b="0">
                <a:solidFill>
                  <a:srgbClr val="6B6558"/>
                </a:solidFill>
                <a:latin typeface="Segoe UI"/>
              </a:rPr>
              <a:t>Confirmed 8/20: real end-to-end card payment cleared through NLB via Bankart's hosted card form, from the app's own booking flow, settling in MKD. Refunds still unbuilt.</a:t>
            </a:r>
          </a:p>
        </p:txBody>
      </p:sp>
      <p:sp>
        <p:nvSpPr>
          <p:cNvPr id="34" name="Rounded Rectangle 33"/>
          <p:cNvSpPr/>
          <p:nvPr/>
        </p:nvSpPr>
        <p:spPr>
          <a:xfrm>
            <a:off x="10640822" y="3572764"/>
            <a:ext cx="94361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LIVE</a:t>
            </a:r>
          </a:p>
        </p:txBody>
      </p:sp>
      <p:sp>
        <p:nvSpPr>
          <p:cNvPr id="35" name="Rounded Rectangle 34"/>
          <p:cNvSpPr/>
          <p:nvPr/>
        </p:nvSpPr>
        <p:spPr>
          <a:xfrm>
            <a:off x="8430768" y="4645152"/>
            <a:ext cx="3255264" cy="86868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57768" y="4759452"/>
            <a:ext cx="3001264" cy="201168"/>
          </a:xfrm>
          <a:prstGeom prst="rect">
            <a:avLst/>
          </a:prstGeom>
          <a:noFill/>
        </p:spPr>
        <p:txBody>
          <a:bodyPr wrap="square" lIns="0" tIns="0" rIns="0" bIns="0">
            <a:spAutoFit/>
          </a:bodyPr>
          <a:lstStyle/>
          <a:p>
            <a:pPr algn="l"/>
            <a:r>
              <a:rPr sz="1150" b="1">
                <a:solidFill>
                  <a:srgbClr val="1A1A2E"/>
                </a:solidFill>
                <a:latin typeface="Segoe UI Semibold"/>
              </a:rPr>
              <a:t>Salesforce CRM</a:t>
            </a:r>
          </a:p>
        </p:txBody>
      </p:sp>
      <p:sp>
        <p:nvSpPr>
          <p:cNvPr id="37" name="TextBox 36"/>
          <p:cNvSpPr txBox="1"/>
          <p:nvPr/>
        </p:nvSpPr>
        <p:spPr>
          <a:xfrm>
            <a:off x="8557768" y="4997196"/>
            <a:ext cx="3001264" cy="440436"/>
          </a:xfrm>
          <a:prstGeom prst="rect">
            <a:avLst/>
          </a:prstGeom>
          <a:noFill/>
        </p:spPr>
        <p:txBody>
          <a:bodyPr wrap="square" lIns="0" tIns="0" rIns="0" bIns="0">
            <a:spAutoFit/>
          </a:bodyPr>
          <a:lstStyle/>
          <a:p>
            <a:pPr algn="l"/>
            <a:r>
              <a:rPr sz="900" b="0">
                <a:solidFill>
                  <a:srgbClr val="6B6558"/>
                </a:solidFill>
                <a:latin typeface="Segoe UI"/>
              </a:rPr>
              <a:t>Leads, booking sync, agent escalation.</a:t>
            </a:r>
          </a:p>
        </p:txBody>
      </p:sp>
      <p:cxnSp>
        <p:nvCxnSpPr>
          <p:cNvPr id="38" name="Connector 37"/>
          <p:cNvCxnSpPr/>
          <p:nvPr/>
        </p:nvCxnSpPr>
        <p:spPr>
          <a:xfrm>
            <a:off x="1668780" y="3282696"/>
            <a:ext cx="0" cy="219456"/>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74420" y="3310128"/>
            <a:ext cx="1188720" cy="164592"/>
          </a:xfrm>
          <a:prstGeom prst="rect">
            <a:avLst/>
          </a:prstGeom>
          <a:solidFill>
            <a:srgbClr val="FAF7F2"/>
          </a:solidFill>
          <a:ln>
            <a:noFill/>
          </a:ln>
        </p:spPr>
        <p:txBody>
          <a:bodyPr wrap="square" lIns="0" tIns="0" rIns="0" bIns="0">
            <a:spAutoFit/>
          </a:bodyPr>
          <a:lstStyle/>
          <a:p>
            <a:pPr algn="ctr"/>
            <a:r>
              <a:rPr sz="800" b="0">
                <a:solidFill>
                  <a:srgbClr val="9B9384"/>
                </a:solidFill>
                <a:latin typeface="Segoe UI"/>
              </a:rPr>
              <a:t>client SDK</a:t>
            </a:r>
          </a:p>
        </p:txBody>
      </p:sp>
      <p:cxnSp>
        <p:nvCxnSpPr>
          <p:cNvPr id="41" name="Connector 40"/>
          <p:cNvCxnSpPr/>
          <p:nvPr/>
        </p:nvCxnSpPr>
        <p:spPr>
          <a:xfrm flipV="1">
            <a:off x="5477256" y="2665476"/>
            <a:ext cx="310896" cy="589788"/>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477256" y="3255264"/>
            <a:ext cx="310896" cy="864108"/>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477256" y="3255264"/>
            <a:ext cx="2953512" cy="1824228"/>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502920" y="4608576"/>
            <a:ext cx="2331720" cy="129844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9920" y="4901184"/>
            <a:ext cx="2077720" cy="201168"/>
          </a:xfrm>
          <a:prstGeom prst="rect">
            <a:avLst/>
          </a:prstGeom>
          <a:noFill/>
        </p:spPr>
        <p:txBody>
          <a:bodyPr wrap="square" lIns="0" tIns="0" rIns="0" bIns="0">
            <a:spAutoFit/>
          </a:bodyPr>
          <a:lstStyle/>
          <a:p>
            <a:pPr algn="l"/>
            <a:r>
              <a:rPr sz="1150" b="1">
                <a:solidFill>
                  <a:srgbClr val="1A1A2E"/>
                </a:solidFill>
                <a:latin typeface="Segoe UI Semibold"/>
              </a:rPr>
              <a:t>Admin Portal</a:t>
            </a:r>
          </a:p>
        </p:txBody>
      </p:sp>
      <p:sp>
        <p:nvSpPr>
          <p:cNvPr id="50" name="TextBox 49"/>
          <p:cNvSpPr txBox="1"/>
          <p:nvPr/>
        </p:nvSpPr>
        <p:spPr>
          <a:xfrm>
            <a:off x="629920" y="5138928"/>
            <a:ext cx="2077720" cy="691896"/>
          </a:xfrm>
          <a:prstGeom prst="rect">
            <a:avLst/>
          </a:prstGeom>
          <a:noFill/>
        </p:spPr>
        <p:txBody>
          <a:bodyPr wrap="square" lIns="0" tIns="0" rIns="0" bIns="0">
            <a:spAutoFit/>
          </a:bodyPr>
          <a:lstStyle/>
          <a:p>
            <a:pPr algn="l"/>
            <a:r>
              <a:rPr sz="900" b="0">
                <a:solidFill>
                  <a:srgbClr val="6B6558"/>
                </a:solidFill>
                <a:latin typeface="Segoe UI"/>
              </a:rPr>
              <a:t>admin-payments.html — bookings + payment state, Capture/Void stubbed. Doesn’t cover WooCommerce’s refunds/cancellations/invoicing yet — inventorying that gap for Monday.</a:t>
            </a:r>
          </a:p>
        </p:txBody>
      </p:sp>
      <p:sp>
        <p:nvSpPr>
          <p:cNvPr id="51" name="Rounded Rectangle 50"/>
          <p:cNvSpPr/>
          <p:nvPr/>
        </p:nvSpPr>
        <p:spPr>
          <a:xfrm>
            <a:off x="2058670" y="4697476"/>
            <a:ext cx="67437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B8790A"/>
                </a:solidFill>
                <a:latin typeface="Segoe UI Semibold"/>
              </a:rPr>
              <a:t>PARTIAL</a:t>
            </a:r>
          </a:p>
        </p:txBody>
      </p:sp>
      <p:cxnSp>
        <p:nvCxnSpPr>
          <p:cNvPr id="52" name="Connector 51"/>
          <p:cNvCxnSpPr/>
          <p:nvPr/>
        </p:nvCxnSpPr>
        <p:spPr>
          <a:xfrm>
            <a:off x="2834640" y="2665476"/>
            <a:ext cx="310896" cy="585216"/>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834640" y="3250692"/>
            <a:ext cx="310896" cy="2007108"/>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3145536" y="4325112"/>
            <a:ext cx="2331720" cy="960120"/>
          </a:xfrm>
          <a:prstGeom prst="roundRect">
            <a:avLst>
              <a:gd name="adj" fmla="val 9000"/>
            </a:avLst>
          </a:prstGeom>
          <a:solidFill>
            <a:srgbClr val="E3EEE9"/>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72536" y="4617720"/>
            <a:ext cx="2077720" cy="201168"/>
          </a:xfrm>
          <a:prstGeom prst="rect">
            <a:avLst/>
          </a:prstGeom>
          <a:noFill/>
        </p:spPr>
        <p:txBody>
          <a:bodyPr wrap="square" lIns="0" tIns="0" rIns="0" bIns="0">
            <a:spAutoFit/>
          </a:bodyPr>
          <a:lstStyle/>
          <a:p>
            <a:pPr algn="l"/>
            <a:r>
              <a:rPr sz="1150" b="1">
                <a:solidFill>
                  <a:srgbClr val="1A1A2E"/>
                </a:solidFill>
                <a:latin typeface="Segoe UI Semibold"/>
              </a:rPr>
              <a:t>AWS Relay (static IP)</a:t>
            </a:r>
          </a:p>
        </p:txBody>
      </p:sp>
      <p:sp>
        <p:nvSpPr>
          <p:cNvPr id="56" name="TextBox 55"/>
          <p:cNvSpPr txBox="1"/>
          <p:nvPr/>
        </p:nvSpPr>
        <p:spPr>
          <a:xfrm>
            <a:off x="3272536" y="4855464"/>
            <a:ext cx="2077720" cy="353568"/>
          </a:xfrm>
          <a:prstGeom prst="rect">
            <a:avLst/>
          </a:prstGeom>
          <a:noFill/>
        </p:spPr>
        <p:txBody>
          <a:bodyPr wrap="square" lIns="0" tIns="0" rIns="0" bIns="0">
            <a:spAutoFit/>
          </a:bodyPr>
          <a:lstStyle/>
          <a:p>
            <a:pPr algn="l"/>
            <a:r>
              <a:rPr sz="900" b="0">
                <a:solidFill>
                  <a:srgbClr val="6B6558"/>
                </a:solidFill>
                <a:latin typeface="Segoe UI"/>
              </a:rPr>
              <a:t>AWS box in eu-central-1 (Frankfurt) -- static Elastic IP (63.185.27.197), live and verified. Required for RateHawk's production certification; sandbox itself needs no whitelisting.</a:t>
            </a:r>
          </a:p>
        </p:txBody>
      </p:sp>
      <p:sp>
        <p:nvSpPr>
          <p:cNvPr id="57" name="Rounded Rectangle 56"/>
          <p:cNvSpPr/>
          <p:nvPr/>
        </p:nvSpPr>
        <p:spPr>
          <a:xfrm>
            <a:off x="4432046" y="4414012"/>
            <a:ext cx="94361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750" b="1">
                <a:solidFill>
                  <a:srgbClr val="2E6B57"/>
                </a:solidFill>
                <a:latin typeface="Segoe UI Semibold"/>
              </a:rPr>
              <a:t>LIVE</a:t>
            </a:r>
          </a:p>
        </p:txBody>
      </p:sp>
      <p:cxnSp>
        <p:nvCxnSpPr>
          <p:cNvPr id="58" name="Connector 57"/>
          <p:cNvCxnSpPr/>
          <p:nvPr/>
        </p:nvCxnSpPr>
        <p:spPr>
          <a:xfrm>
            <a:off x="4311396" y="4142232"/>
            <a:ext cx="0" cy="182880"/>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77256" y="2665476"/>
            <a:ext cx="2953512" cy="2139696"/>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477256" y="3963924"/>
            <a:ext cx="2953512" cy="841248"/>
          </a:xfrm>
          <a:prstGeom prst="line">
            <a:avLst/>
          </a:prstGeom>
          <a:ln w="13970">
            <a:solidFill>
              <a:srgbClr val="AFA69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09  —  COST</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What implementation actually costs</a:t>
            </a: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Claude performs all engineering — the cost drivers are calendar time, a small set of fixed fees, and the hotel-DB’s own hosting bill.</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10</a:t>
            </a:r>
          </a:p>
        </p:txBody>
      </p:sp>
      <p:sp>
        <p:nvSpPr>
          <p:cNvPr id="7" name="Rounded Rectangle 6"/>
          <p:cNvSpPr/>
          <p:nvPr/>
        </p:nvSpPr>
        <p:spPr>
          <a:xfrm>
            <a:off x="502920" y="2148840"/>
            <a:ext cx="11185855" cy="768096"/>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302471" y="2295144"/>
            <a:ext cx="12400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02471" y="2295144"/>
            <a:ext cx="1240000" cy="237744"/>
          </a:xfrm>
          <a:prstGeom prst="rect">
            <a:avLst/>
          </a:prstGeom>
          <a:noFill/>
        </p:spPr>
        <p:txBody>
          <a:bodyPr wrap="square" lIns="0" tIns="0" rIns="0" bIns="0" anchor="ctr">
            <a:spAutoFit/>
          </a:bodyPr>
          <a:lstStyle/>
          <a:p>
            <a:pPr algn="ctr">
              <a:spcAft>
                <a:spcPts val="0"/>
              </a:spcAft>
            </a:pPr>
            <a:r>
              <a:rPr sz="800" b="1" dirty="0">
                <a:solidFill>
                  <a:srgbClr val="B8790A"/>
                </a:solidFill>
                <a:latin typeface="Segoe UI"/>
              </a:rPr>
              <a:t>Near-zero marginal cost</a:t>
            </a:r>
          </a:p>
        </p:txBody>
      </p:sp>
      <p:sp>
        <p:nvSpPr>
          <p:cNvPr id="10" name="TextBox 9"/>
          <p:cNvSpPr txBox="1"/>
          <p:nvPr/>
        </p:nvSpPr>
        <p:spPr>
          <a:xfrm>
            <a:off x="649224" y="2331445"/>
            <a:ext cx="9573247" cy="200055"/>
          </a:xfrm>
          <a:prstGeom prst="rect">
            <a:avLst/>
          </a:prstGeom>
          <a:noFill/>
        </p:spPr>
        <p:txBody>
          <a:bodyPr wrap="square" lIns="0" tIns="0" rIns="0" bIns="0" anchor="ctr">
            <a:spAutoFit/>
          </a:bodyPr>
          <a:lstStyle/>
          <a:p>
            <a:pPr algn="l">
              <a:spcAft>
                <a:spcPts val="0"/>
              </a:spcAft>
            </a:pPr>
            <a:r>
              <a:rPr sz="1300" b="1" dirty="0">
                <a:solidFill>
                  <a:srgbClr val="1A1A2E"/>
                </a:solidFill>
                <a:latin typeface="Segoe UI Semibold"/>
              </a:rPr>
              <a:t>Engineering</a:t>
            </a:r>
            <a:r>
              <a:rPr lang="en-US" sz="1300" b="1" dirty="0">
                <a:solidFill>
                  <a:srgbClr val="1A1A2E"/>
                </a:solidFill>
                <a:latin typeface="Segoe UI Semibold"/>
              </a:rPr>
              <a:t>/AI</a:t>
            </a:r>
            <a:r>
              <a:rPr sz="1300" b="1" dirty="0">
                <a:solidFill>
                  <a:srgbClr val="1A1A2E"/>
                </a:solidFill>
                <a:latin typeface="Segoe UI Semibold"/>
              </a:rPr>
              <a:t> labor</a:t>
            </a:r>
          </a:p>
        </p:txBody>
      </p:sp>
      <p:sp>
        <p:nvSpPr>
          <p:cNvPr id="11" name="TextBox 10"/>
          <p:cNvSpPr txBox="1"/>
          <p:nvPr/>
        </p:nvSpPr>
        <p:spPr>
          <a:xfrm>
            <a:off x="649224" y="2615184"/>
            <a:ext cx="10893247" cy="166199"/>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Estimated $1,000 engineering cost (Claude Code, near-zero if on subscription) -- reflects 8/25's payment debugging, reliability fixes, and new document/email features.</a:t>
            </a:r>
            <a:endParaRPr sz="1050" b="0" dirty="0">
              <a:solidFill>
                <a:srgbClr val="6B6558"/>
              </a:solidFill>
              <a:latin typeface="Segoe UI"/>
            </a:endParaRPr>
          </a:p>
        </p:txBody>
      </p:sp>
      <p:sp>
        <p:nvSpPr>
          <p:cNvPr id="12" name="Rounded Rectangle 11"/>
          <p:cNvSpPr/>
          <p:nvPr/>
        </p:nvSpPr>
        <p:spPr>
          <a:xfrm>
            <a:off x="502920" y="3867912"/>
            <a:ext cx="11185855" cy="768096"/>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002471" y="4014216"/>
            <a:ext cx="15400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02471" y="4014216"/>
            <a:ext cx="1540000" cy="237744"/>
          </a:xfrm>
          <a:prstGeom prst="rect">
            <a:avLst/>
          </a:prstGeom>
          <a:noFill/>
        </p:spPr>
        <p:txBody>
          <a:bodyPr wrap="square" lIns="0" tIns="0" rIns="0" bIns="0" anchor="ctr">
            <a:spAutoFit/>
          </a:bodyPr>
          <a:lstStyle/>
          <a:p>
            <a:pPr algn="ctr">
              <a:spcAft>
                <a:spcPts val="0"/>
              </a:spcAft>
            </a:pPr>
            <a:r>
              <a:rPr sz="800" b="1" dirty="0">
                <a:solidFill>
                  <a:srgbClr val="B8790A"/>
                </a:solidFill>
                <a:latin typeface="Segoe UI"/>
              </a:rPr>
              <a:t>Existing-team time · rate TBD</a:t>
            </a:r>
          </a:p>
        </p:txBody>
      </p:sp>
      <p:sp>
        <p:nvSpPr>
          <p:cNvPr id="15" name="TextBox 14"/>
          <p:cNvSpPr txBox="1"/>
          <p:nvPr/>
        </p:nvSpPr>
        <p:spPr>
          <a:xfrm>
            <a:off x="649224" y="4050517"/>
            <a:ext cx="9273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Testing &amp; design</a:t>
            </a:r>
          </a:p>
        </p:txBody>
      </p:sp>
      <p:sp>
        <p:nvSpPr>
          <p:cNvPr id="16" name="TextBox 15"/>
          <p:cNvSpPr txBox="1"/>
          <p:nvPr/>
        </p:nvSpPr>
        <p:spPr>
          <a:xfrm>
            <a:off x="649224" y="4334256"/>
            <a:ext cx="10893247" cy="166199"/>
          </a:xfrm>
          <a:prstGeom prst="rect">
            <a:avLst/>
          </a:prstGeom>
          <a:noFill/>
        </p:spPr>
        <p:txBody>
          <a:bodyPr wrap="square" lIns="0" tIns="0" rIns="0" bIns="0" anchor="t">
            <a:spAutoFit/>
          </a:bodyPr>
          <a:lstStyle/>
          <a:p>
            <a:pPr algn="l">
              <a:lnSpc>
                <a:spcPct val="112000"/>
              </a:lnSpc>
              <a:spcAft>
                <a:spcPts val="0"/>
              </a:spcAft>
            </a:pPr>
            <a:r>
              <a:rPr sz="1050" b="0" dirty="0">
                <a:solidFill>
                  <a:srgbClr val="6B6558"/>
                </a:solidFill>
                <a:latin typeface="Segoe UI"/>
              </a:rPr>
              <a:t>QA pass draws on TestFlight testers</a:t>
            </a:r>
            <a:r>
              <a:rPr lang="en-US" sz="1050" dirty="0">
                <a:solidFill>
                  <a:srgbClr val="6B6558"/>
                </a:solidFill>
                <a:latin typeface="Segoe UI"/>
              </a:rPr>
              <a:t>.</a:t>
            </a:r>
            <a:r>
              <a:rPr sz="1050" b="0" dirty="0">
                <a:solidFill>
                  <a:srgbClr val="6B6558"/>
                </a:solidFill>
                <a:latin typeface="Segoe UI"/>
              </a:rPr>
              <a:t> Store-asset design (screenshots, listing copy) is a small, scoped task on top of UI that's already built and </a:t>
            </a:r>
            <a:r>
              <a:rPr sz="1050" b="0" dirty="0" err="1">
                <a:solidFill>
                  <a:srgbClr val="6B6558"/>
                </a:solidFill>
                <a:latin typeface="Segoe UI"/>
              </a:rPr>
              <a:t>speced</a:t>
            </a:r>
            <a:endParaRPr sz="1050" b="0" dirty="0">
              <a:solidFill>
                <a:srgbClr val="6B6558"/>
              </a:solidFill>
              <a:latin typeface="Segoe UI"/>
            </a:endParaRPr>
          </a:p>
        </p:txBody>
      </p:sp>
      <p:sp>
        <p:nvSpPr>
          <p:cNvPr id="17" name="Rounded Rectangle 16"/>
          <p:cNvSpPr/>
          <p:nvPr/>
        </p:nvSpPr>
        <p:spPr>
          <a:xfrm>
            <a:off x="502920" y="4727448"/>
            <a:ext cx="11185855" cy="768096"/>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502471" y="4873752"/>
            <a:ext cx="20400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2471" y="4873752"/>
            <a:ext cx="2040000" cy="237744"/>
          </a:xfrm>
          <a:prstGeom prst="rect">
            <a:avLst/>
          </a:prstGeom>
          <a:noFill/>
        </p:spPr>
        <p:txBody>
          <a:bodyPr wrap="square" lIns="0" tIns="0" rIns="0" bIns="0" anchor="ctr">
            <a:spAutoFit/>
          </a:bodyPr>
          <a:lstStyle/>
          <a:p>
            <a:pPr algn="ctr">
              <a:spcAft>
                <a:spcPts val="0"/>
              </a:spcAft>
            </a:pPr>
            <a:r>
              <a:rPr sz="800" b="1">
                <a:solidFill>
                  <a:srgbClr val="B8790A"/>
                </a:solidFill>
                <a:latin typeface="Segoe UI"/>
              </a:rPr>
              <a:t>$124 one-time / ongoing, both platforms</a:t>
            </a:r>
          </a:p>
        </p:txBody>
      </p:sp>
      <p:sp>
        <p:nvSpPr>
          <p:cNvPr id="20" name="TextBox 19"/>
          <p:cNvSpPr txBox="1"/>
          <p:nvPr/>
        </p:nvSpPr>
        <p:spPr>
          <a:xfrm>
            <a:off x="649224" y="4910053"/>
            <a:ext cx="8773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Store &amp; account fees</a:t>
            </a:r>
          </a:p>
        </p:txBody>
      </p:sp>
      <p:sp>
        <p:nvSpPr>
          <p:cNvPr id="21" name="TextBox 20"/>
          <p:cNvSpPr txBox="1"/>
          <p:nvPr/>
        </p:nvSpPr>
        <p:spPr>
          <a:xfrm>
            <a:off x="649224" y="5193792"/>
            <a:ext cx="10893247" cy="341670"/>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Apple Developer Program: $99/yr (already paid, approved). Google Play: $25 one-time. No other store-side fees until real transactions flow.</a:t>
            </a:r>
          </a:p>
        </p:txBody>
      </p:sp>
      <p:sp>
        <p:nvSpPr>
          <p:cNvPr id="22" name="Rounded Rectangle 21"/>
          <p:cNvSpPr/>
          <p:nvPr/>
        </p:nvSpPr>
        <p:spPr>
          <a:xfrm>
            <a:off x="502920" y="5586984"/>
            <a:ext cx="11185855" cy="768096"/>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602471" y="5733288"/>
            <a:ext cx="94000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602471" y="5733288"/>
            <a:ext cx="940000" cy="237744"/>
          </a:xfrm>
          <a:prstGeom prst="rect">
            <a:avLst/>
          </a:prstGeom>
          <a:noFill/>
        </p:spPr>
        <p:txBody>
          <a:bodyPr wrap="square" lIns="0" tIns="0" rIns="0" bIns="0" anchor="ctr">
            <a:spAutoFit/>
          </a:bodyPr>
          <a:lstStyle/>
          <a:p>
            <a:pPr algn="ctr">
              <a:spcAft>
                <a:spcPts val="0"/>
              </a:spcAft>
            </a:pPr>
            <a:r>
              <a:rPr sz="800" b="1">
                <a:solidFill>
                  <a:srgbClr val="B8790A"/>
                </a:solidFill>
                <a:latin typeface="Segoe UI"/>
              </a:rPr>
              <a:t>Partner approvals</a:t>
            </a:r>
          </a:p>
        </p:txBody>
      </p:sp>
      <p:sp>
        <p:nvSpPr>
          <p:cNvPr id="25" name="TextBox 24"/>
          <p:cNvSpPr txBox="1"/>
          <p:nvPr/>
        </p:nvSpPr>
        <p:spPr>
          <a:xfrm>
            <a:off x="649224" y="5769589"/>
            <a:ext cx="9873247" cy="292608"/>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What's NOT a dollar cost here</a:t>
            </a:r>
          </a:p>
        </p:txBody>
      </p:sp>
      <p:sp>
        <p:nvSpPr>
          <p:cNvPr id="26" name="TextBox 25"/>
          <p:cNvSpPr txBox="1"/>
          <p:nvPr/>
        </p:nvSpPr>
        <p:spPr>
          <a:xfrm>
            <a:off x="649224" y="6053328"/>
            <a:ext cx="10893247" cy="341670"/>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RateHawk sandbox activation and the payment-architecture decision are relationship items, not engineering spend — the cost is delay risk against the Aug/Sept target, not a line item.</a:t>
            </a:r>
          </a:p>
        </p:txBody>
      </p:sp>
      <p:sp>
        <p:nvSpPr>
          <p:cNvPr id="27" name="DBHosting Container"/>
          <p:cNvSpPr/>
          <p:nvPr/>
        </p:nvSpPr>
        <p:spPr>
          <a:xfrm>
            <a:off x="502920" y="3008376"/>
            <a:ext cx="11185855" cy="768096"/>
          </a:xfrm>
          <a:prstGeom prst="roundRect">
            <a:avLst>
              <a:gd name="adj" fmla="val 6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BHosting BadgeRect"/>
          <p:cNvSpPr/>
          <p:nvPr/>
        </p:nvSpPr>
        <p:spPr>
          <a:xfrm>
            <a:off x="9749231" y="3154680"/>
            <a:ext cx="1793240" cy="237744"/>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DBHosting BadgeText"/>
          <p:cNvSpPr txBox="1"/>
          <p:nvPr/>
        </p:nvSpPr>
        <p:spPr>
          <a:xfrm>
            <a:off x="9749231" y="3154680"/>
            <a:ext cx="1793240" cy="237744"/>
          </a:xfrm>
          <a:prstGeom prst="rect">
            <a:avLst/>
          </a:prstGeom>
          <a:noFill/>
        </p:spPr>
        <p:txBody>
          <a:bodyPr wrap="square" lIns="0" tIns="0" rIns="0" bIns="0" anchor="ctr">
            <a:spAutoFit/>
          </a:bodyPr>
          <a:lstStyle/>
          <a:p>
            <a:pPr algn="ctr">
              <a:spcAft>
                <a:spcPts val="0"/>
              </a:spcAft>
            </a:pPr>
            <a:r>
              <a:rPr sz="800" b="1">
                <a:solidFill>
                  <a:srgbClr val="B8790A"/>
                </a:solidFill>
                <a:latin typeface="Segoe UI"/>
              </a:rPr>
              <a:t>LIVE — SCALES WITH USAGE</a:t>
            </a:r>
          </a:p>
        </p:txBody>
      </p:sp>
      <p:sp>
        <p:nvSpPr>
          <p:cNvPr id="30" name="DBHosting Title"/>
          <p:cNvSpPr txBox="1"/>
          <p:nvPr/>
        </p:nvSpPr>
        <p:spPr>
          <a:xfrm>
            <a:off x="649224" y="3190981"/>
            <a:ext cx="9573247" cy="200055"/>
          </a:xfrm>
          <a:prstGeom prst="rect">
            <a:avLst/>
          </a:prstGeom>
          <a:noFill/>
        </p:spPr>
        <p:txBody>
          <a:bodyPr wrap="square" lIns="0" tIns="0" rIns="0" bIns="0" anchor="ctr">
            <a:spAutoFit/>
          </a:bodyPr>
          <a:lstStyle/>
          <a:p>
            <a:pPr algn="l">
              <a:spcAft>
                <a:spcPts val="0"/>
              </a:spcAft>
            </a:pPr>
            <a:r>
              <a:rPr sz="1300" b="1">
                <a:solidFill>
                  <a:srgbClr val="1A1A2E"/>
                </a:solidFill>
                <a:latin typeface="Segoe UI Semibold"/>
              </a:rPr>
              <a:t>Hotel database hosting (Supabase)</a:t>
            </a:r>
          </a:p>
        </p:txBody>
      </p:sp>
      <p:sp>
        <p:nvSpPr>
          <p:cNvPr id="31" name="DBHosting Desc"/>
          <p:cNvSpPr txBox="1"/>
          <p:nvPr/>
        </p:nvSpPr>
        <p:spPr>
          <a:xfrm>
            <a:off x="649224" y="3474720"/>
            <a:ext cx="10893247" cy="166199"/>
          </a:xfrm>
          <a:prstGeom prst="rect">
            <a:avLst/>
          </a:prstGeom>
          <a:noFill/>
        </p:spPr>
        <p:txBody>
          <a:bodyPr wrap="square" lIns="0" tIns="0" rIns="0" bIns="0" anchor="t">
            <a:spAutoFit/>
          </a:bodyPr>
          <a:lstStyle/>
          <a:p>
            <a:pPr algn="l">
              <a:lnSpc>
                <a:spcPct val="112000"/>
              </a:lnSpc>
              <a:spcAft>
                <a:spcPts val="0"/>
              </a:spcAft>
            </a:pPr>
            <a:r>
              <a:rPr sz="1050" b="0">
                <a:solidFill>
                  <a:srgbClr val="6B6558"/>
                </a:solidFill>
                <a:latin typeface="Segoe UI"/>
              </a:rPr>
              <a:t>Sandbox ~$25/mo, production ~$75/mo (Supabase Pro). Plus the AWS relay for RateHawk certification: ~$8/mo base, ~$22/mo with HA -- in the updated cost model.</a:t>
            </a:r>
            <a:endParaRPr sz="1050" b="0" dirty="0">
              <a:solidFill>
                <a:srgbClr val="6B6558"/>
              </a:solidFill>
              <a:latin typeface="Segoe UI"/>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457200"/>
            <a:ext cx="11183112" cy="320040"/>
          </a:xfrm>
          <a:prstGeom prst="rect">
            <a:avLst/>
          </a:prstGeom>
          <a:noFill/>
        </p:spPr>
        <p:txBody>
          <a:bodyPr wrap="square" lIns="0" rIns="0" tIns="0" bIns="0">
            <a:spAutoFit/>
          </a:bodyPr>
          <a:lstStyle/>
          <a:p>
            <a:pPr algn="l"/>
            <a:r>
              <a:rPr sz="1200" b="1">
                <a:solidFill>
                  <a:srgbClr val="7A3E0F"/>
                </a:solidFill>
                <a:latin typeface="Segoe UI Semibold"/>
              </a:rPr>
              <a:t>10  —  WHAT’S BEEN BUILT</a:t>
            </a:r>
          </a:p>
        </p:txBody>
      </p:sp>
      <p:sp>
        <p:nvSpPr>
          <p:cNvPr id="3" name="TextBox 2"/>
          <p:cNvSpPr txBox="1"/>
          <p:nvPr/>
        </p:nvSpPr>
        <p:spPr>
          <a:xfrm>
            <a:off x="502920" y="749808"/>
            <a:ext cx="11183112" cy="502920"/>
          </a:xfrm>
          <a:prstGeom prst="rect">
            <a:avLst/>
          </a:prstGeom>
          <a:noFill/>
        </p:spPr>
        <p:txBody>
          <a:bodyPr wrap="square" lIns="0" rIns="0" tIns="0" bIns="0">
            <a:spAutoFit/>
          </a:bodyPr>
          <a:lstStyle/>
          <a:p>
            <a:pPr algn="l"/>
            <a:r>
              <a:rPr sz="2600" b="1" i="0">
                <a:solidFill>
                  <a:srgbClr val="1A1A2E"/>
                </a:solidFill>
                <a:latin typeface="Segoe UI Semibold"/>
              </a:rPr>
              <a:t>Full scope, real codebase size, and what it would have cost elsewhere</a:t>
            </a:r>
          </a:p>
        </p:txBody>
      </p:sp>
      <p:sp>
        <p:nvSpPr>
          <p:cNvPr id="4" name="TextBox 3"/>
          <p:cNvSpPr txBox="1"/>
          <p:nvPr/>
        </p:nvSpPr>
        <p:spPr>
          <a:xfrm>
            <a:off x="502920" y="1298448"/>
            <a:ext cx="10799064" cy="384048"/>
          </a:xfrm>
          <a:prstGeom prst="rect">
            <a:avLst/>
          </a:prstGeom>
          <a:noFill/>
        </p:spPr>
        <p:txBody>
          <a:bodyPr wrap="square" lIns="0" rIns="0" tIns="0" bIns="0">
            <a:spAutoFit/>
          </a:bodyPr>
          <a:lstStyle/>
          <a:p>
            <a:pPr algn="l"/>
            <a:r>
              <a:rPr sz="1250" b="0" i="0">
                <a:solidFill>
                  <a:srgbClr val="6B6558"/>
                </a:solidFill>
                <a:latin typeface="Segoe UI"/>
              </a:rPr>
              <a:t>Every feature below is built and verified, not planned. Right: an illustrative traditional-agency cost for the same scope — not a real quote, for contrast only.</a:t>
            </a:r>
          </a:p>
        </p:txBody>
      </p:sp>
      <p:sp>
        <p:nvSpPr>
          <p:cNvPr id="5" name="TextBox 4"/>
          <p:cNvSpPr txBox="1"/>
          <p:nvPr/>
        </p:nvSpPr>
        <p:spPr>
          <a:xfrm>
            <a:off x="502920" y="6528816"/>
            <a:ext cx="7315200" cy="274320"/>
          </a:xfrm>
          <a:prstGeom prst="rect">
            <a:avLst/>
          </a:prstGeom>
          <a:noFill/>
        </p:spPr>
        <p:txBody>
          <a:bodyPr wrap="square" lIns="0" rIns="0" tIns="0" bIns="0">
            <a:spAutoFit/>
          </a:bodyPr>
          <a:lstStyle/>
          <a:p>
            <a:pPr algn="l"/>
            <a:r>
              <a:rPr sz="900" b="0" i="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rIns="0" tIns="0" bIns="0">
            <a:spAutoFit/>
          </a:bodyPr>
          <a:lstStyle/>
          <a:p>
            <a:pPr algn="r"/>
            <a:r>
              <a:rPr sz="900" b="0">
                <a:solidFill>
                  <a:srgbClr val="9B9384"/>
                </a:solidFill>
                <a:latin typeface="Segoe UI"/>
              </a:rPr>
              <a:t>11</a:t>
            </a:r>
          </a:p>
        </p:txBody>
      </p:sp>
      <p:sp>
        <p:nvSpPr>
          <p:cNvPr id="7" name="TextBox 6"/>
          <p:cNvSpPr txBox="1"/>
          <p:nvPr/>
        </p:nvSpPr>
        <p:spPr>
          <a:xfrm>
            <a:off x="502920" y="1810512"/>
            <a:ext cx="5349240" cy="201168"/>
          </a:xfrm>
          <a:prstGeom prst="rect">
            <a:avLst/>
          </a:prstGeom>
          <a:noFill/>
        </p:spPr>
        <p:txBody>
          <a:bodyPr wrap="square" lIns="0" rIns="0" tIns="0" bIns="0">
            <a:spAutoFit/>
          </a:bodyPr>
          <a:lstStyle/>
          <a:p>
            <a:pPr algn="l"/>
            <a:r>
              <a:rPr sz="1050" b="1" i="0">
                <a:solidFill>
                  <a:srgbClr val="7A3E0F"/>
                </a:solidFill>
                <a:latin typeface="Segoe UI Semibold"/>
              </a:rPr>
              <a:t>SCOPE BUILT</a:t>
            </a:r>
          </a:p>
        </p:txBody>
      </p:sp>
      <p:sp>
        <p:nvSpPr>
          <p:cNvPr id="8" name="TextBox 7"/>
          <p:cNvSpPr txBox="1"/>
          <p:nvPr/>
        </p:nvSpPr>
        <p:spPr>
          <a:xfrm>
            <a:off x="502920" y="2084832"/>
            <a:ext cx="5349240" cy="2331720"/>
          </a:xfrm>
          <a:prstGeom prst="rect">
            <a:avLst/>
          </a:prstGeom>
          <a:noFill/>
        </p:spPr>
        <p:txBody>
          <a:bodyPr wrap="square" lIns="0" rIns="0" tIns="0" bIns="0">
            <a:spAutoFit/>
          </a:bodyPr>
          <a:lstStyle/>
          <a:p>
            <a:pPr>
              <a:spcAft>
                <a:spcPts val="300"/>
              </a:spcAft>
            </a:pPr>
            <a:r>
              <a:rPr sz="930" b="0">
                <a:solidFill>
                  <a:srgbClr val="6B6558"/>
                </a:solidFill>
                <a:latin typeface="Segoe UI"/>
              </a:rPr>
              <a:t>•  Cross-platform app shell (iOS / Android / Web) + AI concierge (Nea)</a:t>
            </a:r>
          </a:p>
          <a:p>
            <a:pPr>
              <a:spcAft>
                <a:spcPts val="300"/>
              </a:spcAft>
            </a:pPr>
            <a:r>
              <a:rPr sz="930" b="0">
                <a:solidFill>
                  <a:srgbClr val="6B6558"/>
                </a:solidFill>
                <a:latin typeface="Segoe UI"/>
              </a:rPr>
              <a:t>•  850K-hotel content DB + real RateHawk-priced sandbox DB (3 regions), real amenity filtering</a:t>
            </a:r>
          </a:p>
          <a:p>
            <a:pPr>
              <a:spcAft>
                <a:spcPts val="300"/>
              </a:spcAft>
            </a:pPr>
            <a:r>
              <a:rPr sz="930" b="0">
                <a:solidFill>
                  <a:srgbClr val="6B6558"/>
                </a:solidFill>
                <a:latin typeface="Segoe UI"/>
              </a:rPr>
              <a:t>•  Real RateHawk booking flow — search / prebook / finish / status, all 7 certification scenarios, multi-room (real per-room guest configurator, not the flat-integer gap flagged earlier)</a:t>
            </a:r>
          </a:p>
          <a:p>
            <a:pPr>
              <a:spcAft>
                <a:spcPts val="300"/>
              </a:spcAft>
            </a:pPr>
            <a:r>
              <a:rPr sz="930" b="0">
                <a:solidFill>
                  <a:srgbClr val="6B6558"/>
                </a:solidFill>
                <a:latin typeface="Segoe UI"/>
              </a:rPr>
              <a:t>•  Real Bankart/NLB payment integration (correct multi-currency: EUR/USD direct from RateHawk, MKD via peg conversion) + voucher/invoice PDF retrieval</a:t>
            </a:r>
          </a:p>
          <a:p>
            <a:pPr>
              <a:spcAft>
                <a:spcPts val="300"/>
              </a:spcAft>
            </a:pPr>
            <a:r>
              <a:rPr sz="930" b="0">
                <a:solidFill>
                  <a:srgbClr val="6B6558"/>
                </a:solidFill>
                <a:latin typeface="Segoe UI"/>
              </a:rPr>
              <a:t>•  Auth: Google OAuth, native Apple Sign-In, guest checkout</a:t>
            </a:r>
          </a:p>
          <a:p>
            <a:pPr>
              <a:spcAft>
                <a:spcPts val="300"/>
              </a:spcAft>
            </a:pPr>
            <a:r>
              <a:rPr sz="930" b="0">
                <a:solidFill>
                  <a:srgbClr val="6B6558"/>
                </a:solidFill>
                <a:latin typeface="Segoe UI"/>
              </a:rPr>
              <a:t>•  Salesforce CRM sync, admin portal</a:t>
            </a:r>
          </a:p>
          <a:p>
            <a:pPr>
              <a:spcAft>
                <a:spcPts val="300"/>
              </a:spcAft>
            </a:pPr>
            <a:r>
              <a:rPr sz="930" b="0">
                <a:solidFill>
                  <a:srgbClr val="6B6558"/>
                </a:solidFill>
                <a:latin typeface="Segoe UI"/>
              </a:rPr>
              <a:t>•  Automatic booking emails — guest confirmation + business notification, each with a RateHawk PDF attached (voucher / invoice), shipped today via Resend</a:t>
            </a:r>
          </a:p>
          <a:p>
            <a:pPr>
              <a:spcAft>
                <a:spcPts val="300"/>
              </a:spcAft>
            </a:pPr>
            <a:r>
              <a:rPr sz="930" b="0">
                <a:solidFill>
                  <a:srgbClr val="6B6558"/>
                </a:solidFill>
                <a:latin typeface="Segoe UI"/>
              </a:rPr>
              <a:t>•  Push notifications</a:t>
            </a:r>
          </a:p>
          <a:p>
            <a:pPr>
              <a:spcAft>
                <a:spcPts val="300"/>
              </a:spcAft>
            </a:pPr>
            <a:r>
              <a:rPr sz="930" b="0">
                <a:solidFill>
                  <a:srgbClr val="6B6558"/>
                </a:solidFill>
                <a:latin typeface="Segoe UI"/>
              </a:rPr>
              <a:t>•  Voice AI (LiveKit/Retell) — built and working, shelved for a leaner V1</a:t>
            </a:r>
          </a:p>
        </p:txBody>
      </p:sp>
      <p:sp>
        <p:nvSpPr>
          <p:cNvPr id="9" name="Rounded Rectangle 8"/>
          <p:cNvSpPr/>
          <p:nvPr/>
        </p:nvSpPr>
        <p:spPr>
          <a:xfrm>
            <a:off x="502920" y="4507992"/>
            <a:ext cx="5349240" cy="868680"/>
          </a:xfrm>
          <a:prstGeom prst="roundRect">
            <a:avLst>
              <a:gd name="adj" fmla="val 10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920" y="4609592"/>
            <a:ext cx="5095240" cy="749808"/>
          </a:xfrm>
          <a:prstGeom prst="rect">
            <a:avLst/>
          </a:prstGeom>
          <a:noFill/>
        </p:spPr>
        <p:txBody>
          <a:bodyPr wrap="square" lIns="0" rIns="0" tIns="0" bIns="0">
            <a:spAutoFit/>
          </a:bodyPr>
          <a:lstStyle/>
          <a:p>
            <a:pPr>
              <a:spcAft>
                <a:spcPts val="400"/>
              </a:spcAft>
            </a:pPr>
            <a:r>
              <a:rPr sz="930" b="1">
                <a:solidFill>
                  <a:srgbClr val="1A1A2E"/>
                </a:solidFill>
                <a:latin typeface="Segoe UI Semibold"/>
              </a:rPr>
              <a:t>Languages: 2 — English + Macedonian (Cyrillic), the actual translated UI.</a:t>
            </a:r>
          </a:p>
          <a:p>
            <a:pPr>
              <a:spcAft>
                <a:spcPts val="400"/>
              </a:spcAft>
            </a:pPr>
            <a:r>
              <a:rPr sz="930" b="0">
                <a:solidFill>
                  <a:srgbClr val="6B6558"/>
                </a:solidFill>
                <a:latin typeface="Segoe UI"/>
              </a:rPr>
              <a:t>Currencies: 9, across 11 countries. For the 3 real-priced regions, EUR/USD come directly from RateHawk (real FX); MKD converts from that real quote via a fixed peg rate.</a:t>
            </a:r>
          </a:p>
        </p:txBody>
      </p:sp>
      <p:sp>
        <p:nvSpPr>
          <p:cNvPr id="11" name="TextBox 10"/>
          <p:cNvSpPr txBox="1"/>
          <p:nvPr/>
        </p:nvSpPr>
        <p:spPr>
          <a:xfrm>
            <a:off x="502920" y="5513832"/>
            <a:ext cx="5349240" cy="182880"/>
          </a:xfrm>
          <a:prstGeom prst="rect">
            <a:avLst/>
          </a:prstGeom>
          <a:noFill/>
        </p:spPr>
        <p:txBody>
          <a:bodyPr wrap="square" lIns="0" rIns="0" tIns="0" bIns="0">
            <a:spAutoFit/>
          </a:bodyPr>
          <a:lstStyle/>
          <a:p>
            <a:pPr algn="l"/>
            <a:r>
              <a:rPr sz="900" b="1" i="0">
                <a:solidFill>
                  <a:srgbClr val="7A3E0F"/>
                </a:solidFill>
                <a:latin typeface="Segoe UI Semibold"/>
              </a:rPr>
              <a:t>ACTUAL CODEBASE, ~10 WEEKS ELAPSED (first commit 6/18 → 8/26)</a:t>
            </a:r>
          </a:p>
        </p:txBody>
      </p:sp>
      <p:sp>
        <p:nvSpPr>
          <p:cNvPr id="12" name="TextBox 11"/>
          <p:cNvSpPr txBox="1"/>
          <p:nvPr/>
        </p:nvSpPr>
        <p:spPr>
          <a:xfrm>
            <a:off x="502920" y="5751576"/>
            <a:ext cx="5349240" cy="777240"/>
          </a:xfrm>
          <a:prstGeom prst="rect">
            <a:avLst/>
          </a:prstGeom>
          <a:noFill/>
        </p:spPr>
        <p:txBody>
          <a:bodyPr wrap="square" lIns="0" rIns="0" tIns="0" bIns="0">
            <a:spAutoFit/>
          </a:bodyPr>
          <a:lstStyle/>
          <a:p>
            <a:pPr>
              <a:spcAft>
                <a:spcPts val="400"/>
              </a:spcAft>
            </a:pPr>
            <a:r>
              <a:rPr sz="930" b="0">
                <a:solidFill>
                  <a:srgbClr val="6B6558"/>
                </a:solidFill>
                <a:latin typeface="Segoe UI"/>
              </a:rPr>
              <a:t>Mobile: 17 screens · 12 components · 27 lib modules · ~14,700 lines TS/TSX · 7 migrations · 92 commits</a:t>
            </a:r>
          </a:p>
          <a:p>
            <a:pPr>
              <a:spcAft>
                <a:spcPts val="400"/>
              </a:spcAft>
            </a:pPr>
            <a:r>
              <a:rPr sz="930" b="0">
                <a:solidFill>
                  <a:srgbClr val="6B6558"/>
                </a:solidFill>
                <a:latin typeface="Segoe UI"/>
              </a:rPr>
              <a:t>Backend: 12 endpoints · 12 lib modules · ~4,500 lines JS · 78 commits</a:t>
            </a:r>
          </a:p>
        </p:txBody>
      </p:sp>
      <p:sp>
        <p:nvSpPr>
          <p:cNvPr id="13" name="TextBox 12"/>
          <p:cNvSpPr txBox="1"/>
          <p:nvPr/>
        </p:nvSpPr>
        <p:spPr>
          <a:xfrm>
            <a:off x="6080760" y="1810512"/>
            <a:ext cx="5605272" cy="201168"/>
          </a:xfrm>
          <a:prstGeom prst="rect">
            <a:avLst/>
          </a:prstGeom>
          <a:noFill/>
        </p:spPr>
        <p:txBody>
          <a:bodyPr wrap="square" lIns="0" rIns="0" tIns="0" bIns="0">
            <a:spAutoFit/>
          </a:bodyPr>
          <a:lstStyle/>
          <a:p>
            <a:pPr algn="l"/>
            <a:r>
              <a:rPr sz="1050" b="1" i="0">
                <a:solidFill>
                  <a:srgbClr val="7A3E0F"/>
                </a:solidFill>
                <a:latin typeface="Segoe UI Semibold"/>
              </a:rPr>
              <a:t>IF BUILT BY A TRADITIONAL AGENCY (ILLUSTRATIVE, NOT A REAL QUOTE)</a:t>
            </a:r>
          </a:p>
        </p:txBody>
      </p:sp>
      <p:graphicFrame>
        <p:nvGraphicFramePr>
          <p:cNvPr id="14" name="Table 13"/>
          <p:cNvGraphicFramePr>
            <a:graphicFrameLocks noGrp="1"/>
          </p:cNvGraphicFramePr>
          <p:nvPr/>
        </p:nvGraphicFramePr>
        <p:xfrm>
          <a:off x="6080760" y="2084832"/>
          <a:ext cx="5605271" cy="2436876"/>
        </p:xfrm>
        <a:graphic>
          <a:graphicData uri="http://schemas.openxmlformats.org/drawingml/2006/table">
            <a:tbl>
              <a:tblPr firstRow="0" bandRow="0">
                <a:tableStyleId>{5C22544A-7EE6-4342-B048-85BDC9FD1C3A}</a:tableStyleId>
              </a:tblPr>
              <a:tblGrid>
                <a:gridCol w="3811584"/>
                <a:gridCol w="1793687"/>
              </a:tblGrid>
              <a:tr h="187452">
                <a:tc>
                  <a:txBody>
                    <a:bodyPr/>
                    <a:lstStyle/>
                    <a:p>
                      <a:pPr algn="l"/>
                      <a:r>
                        <a:rPr sz="850" b="1">
                          <a:solidFill>
                            <a:srgbClr val="FFFFFF"/>
                          </a:solidFill>
                          <a:latin typeface="Segoe UI Semibold"/>
                        </a:rPr>
                        <a:t>Component</a:t>
                      </a:r>
                    </a:p>
                  </a:txBody>
                  <a:tcPr marL="76200" marR="76200" marT="25400" marB="25400">
                    <a:solidFill>
                      <a:srgbClr val="1A1A2E"/>
                    </a:solidFill>
                  </a:tcPr>
                </a:tc>
                <a:tc>
                  <a:txBody>
                    <a:bodyPr/>
                    <a:lstStyle/>
                    <a:p>
                      <a:pPr algn="r"/>
                      <a:r>
                        <a:rPr sz="850" b="1">
                          <a:solidFill>
                            <a:srgbClr val="FFFFFF"/>
                          </a:solidFill>
                          <a:latin typeface="Segoe UI Semibold"/>
                        </a:rPr>
                        <a:t>Blended $100–180/hr</a:t>
                      </a:r>
                    </a:p>
                  </a:txBody>
                  <a:tcPr marL="76200" marR="76200" marT="25400" marB="25400">
                    <a:solidFill>
                      <a:srgbClr val="1A1A2E"/>
                    </a:solidFill>
                  </a:tcPr>
                </a:tc>
              </a:tr>
              <a:tr h="187452">
                <a:tc>
                  <a:txBody>
                    <a:bodyPr/>
                    <a:lstStyle/>
                    <a:p>
                      <a:pPr algn="l"/>
                      <a:r>
                        <a:rPr sz="869">
                          <a:solidFill>
                            <a:srgbClr val="1A1A2E"/>
                          </a:solidFill>
                          <a:latin typeface="Segoe UI"/>
                        </a:rPr>
                        <a:t>Discovery &amp; UX</a:t>
                      </a:r>
                    </a:p>
                  </a:txBody>
                  <a:tcPr marL="76200" marR="76200" marT="12700" marB="12700">
                    <a:solidFill>
                      <a:srgbClr val="FFFFFF"/>
                    </a:solidFill>
                  </a:tcPr>
                </a:tc>
                <a:tc>
                  <a:txBody>
                    <a:bodyPr/>
                    <a:lstStyle/>
                    <a:p>
                      <a:pPr algn="r"/>
                      <a:r>
                        <a:rPr sz="869">
                          <a:solidFill>
                            <a:srgbClr val="6B6558"/>
                          </a:solidFill>
                          <a:latin typeface="Segoe UI"/>
                        </a:rPr>
                        <a:t>$15–25K</a:t>
                      </a:r>
                    </a:p>
                  </a:txBody>
                  <a:tcPr marL="76200" marR="76200" marT="12700" marB="12700">
                    <a:solidFill>
                      <a:srgbClr val="FFFFFF"/>
                    </a:solidFill>
                  </a:tcPr>
                </a:tc>
              </a:tr>
              <a:tr h="187452">
                <a:tc>
                  <a:txBody>
                    <a:bodyPr/>
                    <a:lstStyle/>
                    <a:p>
                      <a:pPr algn="l"/>
                      <a:r>
                        <a:rPr sz="869">
                          <a:solidFill>
                            <a:srgbClr val="1A1A2E"/>
                          </a:solidFill>
                          <a:latin typeface="Segoe UI"/>
                        </a:rPr>
                        <a:t>App shell / design system</a:t>
                      </a:r>
                    </a:p>
                  </a:txBody>
                  <a:tcPr marL="76200" marR="76200" marT="12700" marB="12700">
                    <a:solidFill>
                      <a:srgbClr val="FFFFFF"/>
                    </a:solidFill>
                  </a:tcPr>
                </a:tc>
                <a:tc>
                  <a:txBody>
                    <a:bodyPr/>
                    <a:lstStyle/>
                    <a:p>
                      <a:pPr algn="r"/>
                      <a:r>
                        <a:rPr sz="869">
                          <a:solidFill>
                            <a:srgbClr val="6B6558"/>
                          </a:solidFill>
                          <a:latin typeface="Segoe UI"/>
                        </a:rPr>
                        <a:t>$10–15K</a:t>
                      </a:r>
                    </a:p>
                  </a:txBody>
                  <a:tcPr marL="76200" marR="76200" marT="12700" marB="12700">
                    <a:solidFill>
                      <a:srgbClr val="FFFFFF"/>
                    </a:solidFill>
                  </a:tcPr>
                </a:tc>
              </a:tr>
              <a:tr h="187452">
                <a:tc>
                  <a:txBody>
                    <a:bodyPr/>
                    <a:lstStyle/>
                    <a:p>
                      <a:pPr algn="l"/>
                      <a:r>
                        <a:rPr sz="869">
                          <a:solidFill>
                            <a:srgbClr val="1A1A2E"/>
                          </a:solidFill>
                          <a:latin typeface="Segoe UI"/>
                        </a:rPr>
                        <a:t>Auth</a:t>
                      </a:r>
                    </a:p>
                  </a:txBody>
                  <a:tcPr marL="76200" marR="76200" marT="12700" marB="12700">
                    <a:solidFill>
                      <a:srgbClr val="FFFFFF"/>
                    </a:solidFill>
                  </a:tcPr>
                </a:tc>
                <a:tc>
                  <a:txBody>
                    <a:bodyPr/>
                    <a:lstStyle/>
                    <a:p>
                      <a:pPr algn="r"/>
                      <a:r>
                        <a:rPr sz="869">
                          <a:solidFill>
                            <a:srgbClr val="6B6558"/>
                          </a:solidFill>
                          <a:latin typeface="Segoe UI"/>
                        </a:rPr>
                        <a:t>$8–12K</a:t>
                      </a:r>
                    </a:p>
                  </a:txBody>
                  <a:tcPr marL="76200" marR="76200" marT="12700" marB="12700">
                    <a:solidFill>
                      <a:srgbClr val="FFFFFF"/>
                    </a:solidFill>
                  </a:tcPr>
                </a:tc>
              </a:tr>
              <a:tr h="187452">
                <a:tc>
                  <a:txBody>
                    <a:bodyPr/>
                    <a:lstStyle/>
                    <a:p>
                      <a:pPr algn="l"/>
                      <a:r>
                        <a:rPr sz="869">
                          <a:solidFill>
                            <a:srgbClr val="1A1A2E"/>
                          </a:solidFill>
                          <a:latin typeface="Segoe UI"/>
                        </a:rPr>
                        <a:t>Hotel search / content DB</a:t>
                      </a:r>
                    </a:p>
                  </a:txBody>
                  <a:tcPr marL="76200" marR="76200" marT="12700" marB="12700">
                    <a:solidFill>
                      <a:srgbClr val="FFFFFF"/>
                    </a:solidFill>
                  </a:tcPr>
                </a:tc>
                <a:tc>
                  <a:txBody>
                    <a:bodyPr/>
                    <a:lstStyle/>
                    <a:p>
                      <a:pPr algn="r"/>
                      <a:r>
                        <a:rPr sz="869">
                          <a:solidFill>
                            <a:srgbClr val="6B6558"/>
                          </a:solidFill>
                          <a:latin typeface="Segoe UI"/>
                        </a:rPr>
                        <a:t>$20–30K</a:t>
                      </a:r>
                    </a:p>
                  </a:txBody>
                  <a:tcPr marL="76200" marR="76200" marT="12700" marB="12700">
                    <a:solidFill>
                      <a:srgbClr val="FFFFFF"/>
                    </a:solidFill>
                  </a:tcPr>
                </a:tc>
              </a:tr>
              <a:tr h="187452">
                <a:tc>
                  <a:txBody>
                    <a:bodyPr/>
                    <a:lstStyle/>
                    <a:p>
                      <a:pPr algn="l"/>
                      <a:r>
                        <a:rPr sz="869">
                          <a:solidFill>
                            <a:srgbClr val="1A1A2E"/>
                          </a:solidFill>
                          <a:latin typeface="Segoe UI"/>
                        </a:rPr>
                        <a:t>AI concierge chat</a:t>
                      </a:r>
                    </a:p>
                  </a:txBody>
                  <a:tcPr marL="76200" marR="76200" marT="12700" marB="12700">
                    <a:solidFill>
                      <a:srgbClr val="FFFFFF"/>
                    </a:solidFill>
                  </a:tcPr>
                </a:tc>
                <a:tc>
                  <a:txBody>
                    <a:bodyPr/>
                    <a:lstStyle/>
                    <a:p>
                      <a:pPr algn="r"/>
                      <a:r>
                        <a:rPr sz="869">
                          <a:solidFill>
                            <a:srgbClr val="6B6558"/>
                          </a:solidFill>
                          <a:latin typeface="Segoe UI"/>
                        </a:rPr>
                        <a:t>$25–40K</a:t>
                      </a:r>
                    </a:p>
                  </a:txBody>
                  <a:tcPr marL="76200" marR="76200" marT="12700" marB="12700">
                    <a:solidFill>
                      <a:srgbClr val="FFFFFF"/>
                    </a:solidFill>
                  </a:tcPr>
                </a:tc>
              </a:tr>
              <a:tr h="187452">
                <a:tc>
                  <a:txBody>
                    <a:bodyPr/>
                    <a:lstStyle/>
                    <a:p>
                      <a:pPr algn="l"/>
                      <a:r>
                        <a:rPr sz="869">
                          <a:solidFill>
                            <a:srgbClr val="1A1A2E"/>
                          </a:solidFill>
                          <a:latin typeface="Segoe UI"/>
                        </a:rPr>
                        <a:t>Real booking flow (RateHawk)</a:t>
                      </a:r>
                    </a:p>
                  </a:txBody>
                  <a:tcPr marL="76200" marR="76200" marT="12700" marB="12700">
                    <a:solidFill>
                      <a:srgbClr val="FFFFFF"/>
                    </a:solidFill>
                  </a:tcPr>
                </a:tc>
                <a:tc>
                  <a:txBody>
                    <a:bodyPr/>
                    <a:lstStyle/>
                    <a:p>
                      <a:pPr algn="r"/>
                      <a:r>
                        <a:rPr sz="869">
                          <a:solidFill>
                            <a:srgbClr val="6B6558"/>
                          </a:solidFill>
                          <a:latin typeface="Segoe UI"/>
                        </a:rPr>
                        <a:t>$35–55K</a:t>
                      </a:r>
                    </a:p>
                  </a:txBody>
                  <a:tcPr marL="76200" marR="76200" marT="12700" marB="12700">
                    <a:solidFill>
                      <a:srgbClr val="FFFFFF"/>
                    </a:solidFill>
                  </a:tcPr>
                </a:tc>
              </a:tr>
              <a:tr h="187452">
                <a:tc>
                  <a:txBody>
                    <a:bodyPr/>
                    <a:lstStyle/>
                    <a:p>
                      <a:pPr algn="l"/>
                      <a:r>
                        <a:rPr sz="869">
                          <a:solidFill>
                            <a:srgbClr val="1A1A2E"/>
                          </a:solidFill>
                          <a:latin typeface="Segoe UI"/>
                        </a:rPr>
                        <a:t>Payment integration (Bankart)</a:t>
                      </a:r>
                    </a:p>
                  </a:txBody>
                  <a:tcPr marL="76200" marR="76200" marT="12700" marB="12700">
                    <a:solidFill>
                      <a:srgbClr val="FFFFFF"/>
                    </a:solidFill>
                  </a:tcPr>
                </a:tc>
                <a:tc>
                  <a:txBody>
                    <a:bodyPr/>
                    <a:lstStyle/>
                    <a:p>
                      <a:pPr algn="r"/>
                      <a:r>
                        <a:rPr sz="869">
                          <a:solidFill>
                            <a:srgbClr val="6B6558"/>
                          </a:solidFill>
                          <a:latin typeface="Segoe UI"/>
                        </a:rPr>
                        <a:t>$25–40K</a:t>
                      </a:r>
                    </a:p>
                  </a:txBody>
                  <a:tcPr marL="76200" marR="76200" marT="12700" marB="12700">
                    <a:solidFill>
                      <a:srgbClr val="FFFFFF"/>
                    </a:solidFill>
                  </a:tcPr>
                </a:tc>
              </a:tr>
              <a:tr h="187452">
                <a:tc>
                  <a:txBody>
                    <a:bodyPr/>
                    <a:lstStyle/>
                    <a:p>
                      <a:pPr algn="l"/>
                      <a:r>
                        <a:rPr sz="869">
                          <a:solidFill>
                            <a:srgbClr val="1A1A2E"/>
                          </a:solidFill>
                          <a:latin typeface="Segoe UI"/>
                        </a:rPr>
                        <a:t>Admin portal</a:t>
                      </a:r>
                    </a:p>
                  </a:txBody>
                  <a:tcPr marL="76200" marR="76200" marT="12700" marB="12700">
                    <a:solidFill>
                      <a:srgbClr val="FFFFFF"/>
                    </a:solidFill>
                  </a:tcPr>
                </a:tc>
                <a:tc>
                  <a:txBody>
                    <a:bodyPr/>
                    <a:lstStyle/>
                    <a:p>
                      <a:pPr algn="r"/>
                      <a:r>
                        <a:rPr sz="869">
                          <a:solidFill>
                            <a:srgbClr val="6B6558"/>
                          </a:solidFill>
                          <a:latin typeface="Segoe UI"/>
                        </a:rPr>
                        <a:t>$8–12K</a:t>
                      </a:r>
                    </a:p>
                  </a:txBody>
                  <a:tcPr marL="76200" marR="76200" marT="12700" marB="12700">
                    <a:solidFill>
                      <a:srgbClr val="FFFFFF"/>
                    </a:solidFill>
                  </a:tcPr>
                </a:tc>
              </a:tr>
              <a:tr h="187452">
                <a:tc>
                  <a:txBody>
                    <a:bodyPr/>
                    <a:lstStyle/>
                    <a:p>
                      <a:pPr algn="l"/>
                      <a:r>
                        <a:rPr sz="869">
                          <a:solidFill>
                            <a:srgbClr val="1A1A2E"/>
                          </a:solidFill>
                          <a:latin typeface="Segoe UI"/>
                        </a:rPr>
                        <a:t>Salesforce CRM</a:t>
                      </a:r>
                    </a:p>
                  </a:txBody>
                  <a:tcPr marL="76200" marR="76200" marT="12700" marB="12700">
                    <a:solidFill>
                      <a:srgbClr val="FFFFFF"/>
                    </a:solidFill>
                  </a:tcPr>
                </a:tc>
                <a:tc>
                  <a:txBody>
                    <a:bodyPr/>
                    <a:lstStyle/>
                    <a:p>
                      <a:pPr algn="r"/>
                      <a:r>
                        <a:rPr sz="869">
                          <a:solidFill>
                            <a:srgbClr val="6B6558"/>
                          </a:solidFill>
                          <a:latin typeface="Segoe UI"/>
                        </a:rPr>
                        <a:t>$8–12K</a:t>
                      </a:r>
                    </a:p>
                  </a:txBody>
                  <a:tcPr marL="76200" marR="76200" marT="12700" marB="12700">
                    <a:solidFill>
                      <a:srgbClr val="FFFFFF"/>
                    </a:solidFill>
                  </a:tcPr>
                </a:tc>
              </a:tr>
              <a:tr h="187452">
                <a:tc>
                  <a:txBody>
                    <a:bodyPr/>
                    <a:lstStyle/>
                    <a:p>
                      <a:pPr algn="l"/>
                      <a:r>
                        <a:rPr sz="869">
                          <a:solidFill>
                            <a:srgbClr val="1A1A2E"/>
                          </a:solidFill>
                          <a:latin typeface="Segoe UI"/>
                        </a:rPr>
                        <a:t>i18n</a:t>
                      </a:r>
                    </a:p>
                  </a:txBody>
                  <a:tcPr marL="76200" marR="76200" marT="12700" marB="12700">
                    <a:solidFill>
                      <a:srgbClr val="FFFFFF"/>
                    </a:solidFill>
                  </a:tcPr>
                </a:tc>
                <a:tc>
                  <a:txBody>
                    <a:bodyPr/>
                    <a:lstStyle/>
                    <a:p>
                      <a:pPr algn="r"/>
                      <a:r>
                        <a:rPr sz="869">
                          <a:solidFill>
                            <a:srgbClr val="6B6558"/>
                          </a:solidFill>
                          <a:latin typeface="Segoe UI"/>
                        </a:rPr>
                        <a:t>$8–12K</a:t>
                      </a:r>
                    </a:p>
                  </a:txBody>
                  <a:tcPr marL="76200" marR="76200" marT="12700" marB="12700">
                    <a:solidFill>
                      <a:srgbClr val="FFFFFF"/>
                    </a:solidFill>
                  </a:tcPr>
                </a:tc>
              </a:tr>
              <a:tr h="187452">
                <a:tc>
                  <a:txBody>
                    <a:bodyPr/>
                    <a:lstStyle/>
                    <a:p>
                      <a:pPr algn="l"/>
                      <a:r>
                        <a:rPr sz="869">
                          <a:solidFill>
                            <a:srgbClr val="1A1A2E"/>
                          </a:solidFill>
                          <a:latin typeface="Segoe UI"/>
                        </a:rPr>
                        <a:t>Voice AI (shelved)</a:t>
                      </a:r>
                    </a:p>
                  </a:txBody>
                  <a:tcPr marL="76200" marR="76200" marT="12700" marB="12700">
                    <a:solidFill>
                      <a:srgbClr val="FFFFFF"/>
                    </a:solidFill>
                  </a:tcPr>
                </a:tc>
                <a:tc>
                  <a:txBody>
                    <a:bodyPr/>
                    <a:lstStyle/>
                    <a:p>
                      <a:pPr algn="r"/>
                      <a:r>
                        <a:rPr sz="869">
                          <a:solidFill>
                            <a:srgbClr val="6B6558"/>
                          </a:solidFill>
                          <a:latin typeface="Segoe UI"/>
                        </a:rPr>
                        <a:t>$15–25K</a:t>
                      </a:r>
                    </a:p>
                  </a:txBody>
                  <a:tcPr marL="76200" marR="76200" marT="12700" marB="12700">
                    <a:solidFill>
                      <a:srgbClr val="FFFFFF"/>
                    </a:solidFill>
                  </a:tcPr>
                </a:tc>
              </a:tr>
              <a:tr h="187452">
                <a:tc>
                  <a:txBody>
                    <a:bodyPr/>
                    <a:lstStyle/>
                    <a:p>
                      <a:pPr algn="l"/>
                      <a:r>
                        <a:rPr sz="869">
                          <a:solidFill>
                            <a:srgbClr val="1A1A2E"/>
                          </a:solidFill>
                          <a:latin typeface="Segoe UI"/>
                        </a:rPr>
                        <a:t>QA across iOS/Android/Web</a:t>
                      </a:r>
                    </a:p>
                  </a:txBody>
                  <a:tcPr marL="76200" marR="76200" marT="12700" marB="12700">
                    <a:solidFill>
                      <a:srgbClr val="FFFFFF"/>
                    </a:solidFill>
                  </a:tcPr>
                </a:tc>
                <a:tc>
                  <a:txBody>
                    <a:bodyPr/>
                    <a:lstStyle/>
                    <a:p>
                      <a:pPr algn="r"/>
                      <a:r>
                        <a:rPr sz="869">
                          <a:solidFill>
                            <a:srgbClr val="6B6558"/>
                          </a:solidFill>
                          <a:latin typeface="Segoe UI"/>
                        </a:rPr>
                        <a:t>$15–25K</a:t>
                      </a:r>
                    </a:p>
                  </a:txBody>
                  <a:tcPr marL="76200" marR="76200" marT="12700" marB="12700">
                    <a:solidFill>
                      <a:srgbClr val="FFFFFF"/>
                    </a:solidFill>
                  </a:tcPr>
                </a:tc>
              </a:tr>
            </a:tbl>
          </a:graphicData>
        </a:graphic>
      </p:graphicFrame>
      <p:sp>
        <p:nvSpPr>
          <p:cNvPr id="15" name="Rounded Rectangle 14"/>
          <p:cNvSpPr/>
          <p:nvPr/>
        </p:nvSpPr>
        <p:spPr>
          <a:xfrm>
            <a:off x="6080760" y="4649724"/>
            <a:ext cx="5605272" cy="1188720"/>
          </a:xfrm>
          <a:prstGeom prst="roundRect">
            <a:avLst>
              <a:gd name="adj" fmla="val 8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07760" y="4751324"/>
            <a:ext cx="5351272" cy="1051560"/>
          </a:xfrm>
          <a:prstGeom prst="rect">
            <a:avLst/>
          </a:prstGeom>
          <a:noFill/>
        </p:spPr>
        <p:txBody>
          <a:bodyPr wrap="square" lIns="0" rIns="0" tIns="0" bIns="0">
            <a:spAutoFit/>
          </a:bodyPr>
          <a:lstStyle/>
          <a:p>
            <a:pPr>
              <a:spcAft>
                <a:spcPts val="500"/>
              </a:spcAft>
            </a:pPr>
            <a:r>
              <a:rPr sz="950" b="1">
                <a:solidFill>
                  <a:srgbClr val="1A1A2E"/>
                </a:solidFill>
                <a:latin typeface="Segoe UI Semibold"/>
              </a:rPr>
              <a:t>Subtotal ~$192K–303K, +15–20% PM/coordination → ~$220K–360K all-in.</a:t>
            </a:r>
          </a:p>
          <a:p>
            <a:pPr>
              <a:spcAft>
                <a:spcPts val="500"/>
              </a:spcAft>
            </a:pPr>
            <a:r>
              <a:rPr sz="950" b="0">
                <a:solidFill>
                  <a:srgbClr val="6B6558"/>
                </a:solidFill>
                <a:latin typeface="Segoe UI"/>
              </a:rPr>
              <a:t>Typically 4–7+ months with a small team. Nearshore/offshore: ~40–50% of that (~$110K–180K), usually a longer timeline.</a:t>
            </a:r>
          </a:p>
        </p:txBody>
      </p:sp>
      <p:sp>
        <p:nvSpPr>
          <p:cNvPr id="17" name="Rounded Rectangle 16"/>
          <p:cNvSpPr/>
          <p:nvPr/>
        </p:nvSpPr>
        <p:spPr>
          <a:xfrm>
            <a:off x="6080760" y="5966460"/>
            <a:ext cx="5605272" cy="566928"/>
          </a:xfrm>
          <a:prstGeom prst="roundRect">
            <a:avLst>
              <a:gd name="adj" fmla="val 15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7760" y="6093460"/>
            <a:ext cx="5351272" cy="384048"/>
          </a:xfrm>
          <a:prstGeom prst="rect">
            <a:avLst/>
          </a:prstGeom>
          <a:noFill/>
        </p:spPr>
        <p:txBody>
          <a:bodyPr wrap="square" lIns="0" rIns="0" tIns="0" bIns="0">
            <a:spAutoFit/>
          </a:bodyPr>
          <a:lstStyle/>
          <a:p>
            <a:pPr algn="l"/>
            <a:r>
              <a:rPr sz="1100" b="1" i="0">
                <a:solidFill>
                  <a:srgbClr val="2E6B57"/>
                </a:solidFill>
                <a:latin typeface="Segoe UI Semibold"/>
              </a:rPr>
              <a:t>This build: ~10 weeks, ~$1,000 estimated engineering cost (see Cost slide).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11  —  COST</a:t>
            </a:r>
          </a:p>
        </p:txBody>
      </p:sp>
      <p:sp>
        <p:nvSpPr>
          <p:cNvPr id="3" name="TextBox 2"/>
          <p:cNvSpPr txBox="1"/>
          <p:nvPr/>
        </p:nvSpPr>
        <p:spPr>
          <a:xfrm>
            <a:off x="502920" y="749808"/>
            <a:ext cx="11185855" cy="640080"/>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Running cost vs. margin — 10 vs. 100 bookings/day</a:t>
            </a:r>
          </a:p>
        </p:txBody>
      </p:sp>
      <p:sp>
        <p:nvSpPr>
          <p:cNvPr id="4" name="TextBox 3"/>
          <p:cNvSpPr txBox="1"/>
          <p:nvPr/>
        </p:nvSpPr>
        <p:spPr>
          <a:xfrm>
            <a:off x="502920" y="1417320"/>
            <a:ext cx="10800000" cy="415498"/>
          </a:xfrm>
          <a:prstGeom prst="rect">
            <a:avLst/>
          </a:prstGeom>
          <a:noFill/>
        </p:spPr>
        <p:txBody>
          <a:bodyPr wrap="square" lIns="0" tIns="0" rIns="0" bIns="0" anchor="t">
            <a:spAutoFit/>
          </a:bodyPr>
          <a:lstStyle/>
          <a:p>
            <a:pPr algn="l">
              <a:spcAft>
                <a:spcPts val="0"/>
              </a:spcAft>
            </a:pPr>
            <a:r>
              <a:rPr sz="1350" b="0" dirty="0">
                <a:solidFill>
                  <a:srgbClr val="6B6558"/>
                </a:solidFill>
                <a:latin typeface="Segoe UI"/>
              </a:rPr>
              <a:t>3% chat-to-booking conversion, 3% </a:t>
            </a:r>
            <a:r>
              <a:rPr sz="1350" b="0" dirty="0" err="1">
                <a:solidFill>
                  <a:srgbClr val="6B6558"/>
                </a:solidFill>
                <a:latin typeface="Segoe UI"/>
              </a:rPr>
              <a:t>RateHawk</a:t>
            </a:r>
            <a:r>
              <a:rPr sz="1350" b="0" dirty="0">
                <a:solidFill>
                  <a:srgbClr val="6B6558"/>
                </a:solidFill>
                <a:latin typeface="Segoe UI"/>
              </a:rPr>
              <a:t> margin (Luke, July 21), €800 avg. booking value (illustrative — </a:t>
            </a:r>
            <a:r>
              <a:rPr lang="en-US" sz="1350" b="0" dirty="0">
                <a:solidFill>
                  <a:srgbClr val="6B6558"/>
                </a:solidFill>
                <a:latin typeface="Segoe UI"/>
              </a:rPr>
              <a:t>tbc</a:t>
            </a:r>
            <a:r>
              <a:rPr sz="1350" b="0" dirty="0">
                <a:solidFill>
                  <a:srgbClr val="6B6558"/>
                </a:solidFill>
                <a:latin typeface="Segoe UI"/>
              </a:rPr>
              <a:t>). Same per-session cost baseline as the architecture deck ($0.08/session, Sonnet).</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12</a:t>
            </a:r>
          </a:p>
        </p:txBody>
      </p:sp>
      <p:sp>
        <p:nvSpPr>
          <p:cNvPr id="7" name="Rounded Rectangle 6"/>
          <p:cNvSpPr/>
          <p:nvPr/>
        </p:nvSpPr>
        <p:spPr>
          <a:xfrm>
            <a:off x="502920" y="2148840"/>
            <a:ext cx="5510632" cy="3500000"/>
          </a:xfrm>
          <a:prstGeom prst="roundRect">
            <a:avLst>
              <a:gd name="adj" fmla="val 5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2920" y="2328840"/>
            <a:ext cx="5110632" cy="300000"/>
          </a:xfrm>
          <a:prstGeom prst="rect">
            <a:avLst/>
          </a:prstGeom>
          <a:noFill/>
        </p:spPr>
        <p:txBody>
          <a:bodyPr wrap="square" lIns="0" tIns="0" rIns="0" bIns="0" anchor="t">
            <a:spAutoFit/>
          </a:bodyPr>
          <a:lstStyle/>
          <a:p>
            <a:pPr algn="l">
              <a:spcAft>
                <a:spcPts val="0"/>
              </a:spcAft>
            </a:pPr>
            <a:r>
              <a:rPr sz="1500" b="1">
                <a:solidFill>
                  <a:srgbClr val="1A1A2E"/>
                </a:solidFill>
                <a:latin typeface="Segoe UI Semibold"/>
              </a:rPr>
              <a:t>10 bookings/day</a:t>
            </a:r>
          </a:p>
        </p:txBody>
      </p:sp>
      <p:sp>
        <p:nvSpPr>
          <p:cNvPr id="9" name="TextBox 8"/>
          <p:cNvSpPr txBox="1"/>
          <p:nvPr/>
        </p:nvSpPr>
        <p:spPr>
          <a:xfrm>
            <a:off x="702920" y="276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Bookings / month</a:t>
            </a:r>
          </a:p>
        </p:txBody>
      </p:sp>
      <p:sp>
        <p:nvSpPr>
          <p:cNvPr id="10" name="TextBox 9"/>
          <p:cNvSpPr txBox="1"/>
          <p:nvPr/>
        </p:nvSpPr>
        <p:spPr>
          <a:xfrm>
            <a:off x="4213552" y="276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300</a:t>
            </a:r>
          </a:p>
        </p:txBody>
      </p:sp>
      <p:sp>
        <p:nvSpPr>
          <p:cNvPr id="11" name="TextBox 10"/>
          <p:cNvSpPr txBox="1"/>
          <p:nvPr/>
        </p:nvSpPr>
        <p:spPr>
          <a:xfrm>
            <a:off x="702920" y="319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Nea sessions / month</a:t>
            </a:r>
          </a:p>
        </p:txBody>
      </p:sp>
      <p:sp>
        <p:nvSpPr>
          <p:cNvPr id="12" name="TextBox 11"/>
          <p:cNvSpPr txBox="1"/>
          <p:nvPr/>
        </p:nvSpPr>
        <p:spPr>
          <a:xfrm>
            <a:off x="4213552" y="319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10,000</a:t>
            </a:r>
          </a:p>
        </p:txBody>
      </p:sp>
      <p:sp>
        <p:nvSpPr>
          <p:cNvPr id="13" name="TextBox 12"/>
          <p:cNvSpPr txBox="1"/>
          <p:nvPr/>
        </p:nvSpPr>
        <p:spPr>
          <a:xfrm>
            <a:off x="702920" y="362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Running cost / month</a:t>
            </a:r>
          </a:p>
        </p:txBody>
      </p:sp>
      <p:sp>
        <p:nvSpPr>
          <p:cNvPr id="14" name="TextBox 13"/>
          <p:cNvSpPr txBox="1"/>
          <p:nvPr/>
        </p:nvSpPr>
        <p:spPr>
          <a:xfrm>
            <a:off x="4213552" y="362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$1,018</a:t>
            </a:r>
          </a:p>
        </p:txBody>
      </p:sp>
      <p:sp>
        <p:nvSpPr>
          <p:cNvPr id="15" name="TextBox 14"/>
          <p:cNvSpPr txBox="1"/>
          <p:nvPr/>
        </p:nvSpPr>
        <p:spPr>
          <a:xfrm>
            <a:off x="702920" y="405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Gross margin revenue / month</a:t>
            </a:r>
          </a:p>
        </p:txBody>
      </p:sp>
      <p:sp>
        <p:nvSpPr>
          <p:cNvPr id="16" name="TextBox 15"/>
          <p:cNvSpPr txBox="1"/>
          <p:nvPr/>
        </p:nvSpPr>
        <p:spPr>
          <a:xfrm>
            <a:off x="4213552" y="405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~$7,776</a:t>
            </a:r>
          </a:p>
        </p:txBody>
      </p:sp>
      <p:sp>
        <p:nvSpPr>
          <p:cNvPr id="17" name="Rounded Rectangle 16"/>
          <p:cNvSpPr/>
          <p:nvPr/>
        </p:nvSpPr>
        <p:spPr>
          <a:xfrm>
            <a:off x="662920" y="4468840"/>
            <a:ext cx="5190632" cy="430000"/>
          </a:xfrm>
          <a:prstGeom prst="roundRect">
            <a:avLst>
              <a:gd name="adj" fmla="val 15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2920" y="448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Net margin after running cost</a:t>
            </a:r>
          </a:p>
        </p:txBody>
      </p:sp>
      <p:sp>
        <p:nvSpPr>
          <p:cNvPr id="19" name="TextBox 18"/>
          <p:cNvSpPr txBox="1"/>
          <p:nvPr/>
        </p:nvSpPr>
        <p:spPr>
          <a:xfrm>
            <a:off x="4213552" y="4488840"/>
            <a:ext cx="1600000" cy="430000"/>
          </a:xfrm>
          <a:prstGeom prst="rect">
            <a:avLst/>
          </a:prstGeom>
          <a:noFill/>
        </p:spPr>
        <p:txBody>
          <a:bodyPr wrap="square" lIns="0" tIns="0" rIns="0" bIns="0" anchor="ctr">
            <a:spAutoFit/>
          </a:bodyPr>
          <a:lstStyle/>
          <a:p>
            <a:pPr algn="r">
              <a:spcAft>
                <a:spcPts val="0"/>
              </a:spcAft>
            </a:pPr>
            <a:r>
              <a:rPr sz="1300" b="1">
                <a:solidFill>
                  <a:srgbClr val="2E6B57"/>
                </a:solidFill>
                <a:latin typeface="Segoe UI Semibold"/>
              </a:rPr>
              <a:t>~$6,759</a:t>
            </a:r>
          </a:p>
        </p:txBody>
      </p:sp>
      <p:sp>
        <p:nvSpPr>
          <p:cNvPr id="20" name="TextBox 19"/>
          <p:cNvSpPr txBox="1"/>
          <p:nvPr/>
        </p:nvSpPr>
        <p:spPr>
          <a:xfrm>
            <a:off x="702920" y="5288840"/>
            <a:ext cx="5110632" cy="300000"/>
          </a:xfrm>
          <a:prstGeom prst="rect">
            <a:avLst/>
          </a:prstGeom>
          <a:noFill/>
        </p:spPr>
        <p:txBody>
          <a:bodyPr wrap="square" lIns="0" tIns="0" rIns="0" bIns="0" anchor="t">
            <a:spAutoFit/>
          </a:bodyPr>
          <a:lstStyle/>
          <a:p>
            <a:pPr algn="l">
              <a:spcAft>
                <a:spcPts val="0"/>
              </a:spcAft>
            </a:pPr>
            <a:r>
              <a:rPr sz="950" b="0">
                <a:solidFill>
                  <a:srgbClr val="9B9384"/>
                </a:solidFill>
                <a:latin typeface="Segoe UI"/>
              </a:rPr>
              <a:t>Running cost = ~13% of margin revenue</a:t>
            </a:r>
          </a:p>
        </p:txBody>
      </p:sp>
      <p:sp>
        <p:nvSpPr>
          <p:cNvPr id="21" name="Rounded Rectangle 20"/>
          <p:cNvSpPr/>
          <p:nvPr/>
        </p:nvSpPr>
        <p:spPr>
          <a:xfrm>
            <a:off x="6178143" y="2148840"/>
            <a:ext cx="5510632" cy="3500000"/>
          </a:xfrm>
          <a:prstGeom prst="roundRect">
            <a:avLst>
              <a:gd name="adj" fmla="val 5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78143" y="2328840"/>
            <a:ext cx="5110632" cy="300000"/>
          </a:xfrm>
          <a:prstGeom prst="rect">
            <a:avLst/>
          </a:prstGeom>
          <a:noFill/>
        </p:spPr>
        <p:txBody>
          <a:bodyPr wrap="square" lIns="0" tIns="0" rIns="0" bIns="0" anchor="t">
            <a:spAutoFit/>
          </a:bodyPr>
          <a:lstStyle/>
          <a:p>
            <a:pPr algn="l">
              <a:spcAft>
                <a:spcPts val="0"/>
              </a:spcAft>
            </a:pPr>
            <a:r>
              <a:rPr sz="1500" b="1">
                <a:solidFill>
                  <a:srgbClr val="1A1A2E"/>
                </a:solidFill>
                <a:latin typeface="Segoe UI Semibold"/>
              </a:rPr>
              <a:t>100 bookings/day</a:t>
            </a:r>
          </a:p>
        </p:txBody>
      </p:sp>
      <p:sp>
        <p:nvSpPr>
          <p:cNvPr id="23" name="TextBox 22"/>
          <p:cNvSpPr txBox="1"/>
          <p:nvPr/>
        </p:nvSpPr>
        <p:spPr>
          <a:xfrm>
            <a:off x="6378143" y="276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Bookings / month</a:t>
            </a:r>
          </a:p>
        </p:txBody>
      </p:sp>
      <p:sp>
        <p:nvSpPr>
          <p:cNvPr id="24" name="TextBox 23"/>
          <p:cNvSpPr txBox="1"/>
          <p:nvPr/>
        </p:nvSpPr>
        <p:spPr>
          <a:xfrm>
            <a:off x="9888775" y="276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3,000</a:t>
            </a:r>
          </a:p>
        </p:txBody>
      </p:sp>
      <p:sp>
        <p:nvSpPr>
          <p:cNvPr id="25" name="TextBox 24"/>
          <p:cNvSpPr txBox="1"/>
          <p:nvPr/>
        </p:nvSpPr>
        <p:spPr>
          <a:xfrm>
            <a:off x="6378143" y="319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Nea sessions / month</a:t>
            </a:r>
          </a:p>
        </p:txBody>
      </p:sp>
      <p:sp>
        <p:nvSpPr>
          <p:cNvPr id="26" name="TextBox 25"/>
          <p:cNvSpPr txBox="1"/>
          <p:nvPr/>
        </p:nvSpPr>
        <p:spPr>
          <a:xfrm>
            <a:off x="9888775" y="319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100,000</a:t>
            </a:r>
          </a:p>
        </p:txBody>
      </p:sp>
      <p:sp>
        <p:nvSpPr>
          <p:cNvPr id="27" name="TextBox 26"/>
          <p:cNvSpPr txBox="1"/>
          <p:nvPr/>
        </p:nvSpPr>
        <p:spPr>
          <a:xfrm>
            <a:off x="6378143" y="362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Running cost / month</a:t>
            </a:r>
          </a:p>
        </p:txBody>
      </p:sp>
      <p:sp>
        <p:nvSpPr>
          <p:cNvPr id="28" name="TextBox 27"/>
          <p:cNvSpPr txBox="1"/>
          <p:nvPr/>
        </p:nvSpPr>
        <p:spPr>
          <a:xfrm>
            <a:off x="9888775" y="362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$8,555</a:t>
            </a:r>
          </a:p>
        </p:txBody>
      </p:sp>
      <p:sp>
        <p:nvSpPr>
          <p:cNvPr id="29" name="TextBox 28"/>
          <p:cNvSpPr txBox="1"/>
          <p:nvPr/>
        </p:nvSpPr>
        <p:spPr>
          <a:xfrm>
            <a:off x="6378143" y="405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Gross margin revenue / month</a:t>
            </a:r>
          </a:p>
        </p:txBody>
      </p:sp>
      <p:sp>
        <p:nvSpPr>
          <p:cNvPr id="30" name="TextBox 29"/>
          <p:cNvSpPr txBox="1"/>
          <p:nvPr/>
        </p:nvSpPr>
        <p:spPr>
          <a:xfrm>
            <a:off x="9888775" y="4058840"/>
            <a:ext cx="1600000" cy="430000"/>
          </a:xfrm>
          <a:prstGeom prst="rect">
            <a:avLst/>
          </a:prstGeom>
          <a:noFill/>
        </p:spPr>
        <p:txBody>
          <a:bodyPr wrap="square" lIns="0" tIns="0" rIns="0" bIns="0" anchor="ctr">
            <a:spAutoFit/>
          </a:bodyPr>
          <a:lstStyle/>
          <a:p>
            <a:pPr algn="r">
              <a:spcAft>
                <a:spcPts val="0"/>
              </a:spcAft>
            </a:pPr>
            <a:r>
              <a:rPr sz="1300" b="1">
                <a:solidFill>
                  <a:srgbClr val="1A1A2E"/>
                </a:solidFill>
                <a:latin typeface="Segoe UI Semibold"/>
              </a:rPr>
              <a:t>~$77,760</a:t>
            </a:r>
          </a:p>
        </p:txBody>
      </p:sp>
      <p:sp>
        <p:nvSpPr>
          <p:cNvPr id="31" name="Rounded Rectangle 30"/>
          <p:cNvSpPr/>
          <p:nvPr/>
        </p:nvSpPr>
        <p:spPr>
          <a:xfrm>
            <a:off x="6338143" y="4468840"/>
            <a:ext cx="5190632" cy="430000"/>
          </a:xfrm>
          <a:prstGeom prst="roundRect">
            <a:avLst>
              <a:gd name="adj" fmla="val 15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78143" y="4488840"/>
            <a:ext cx="3510632" cy="430000"/>
          </a:xfrm>
          <a:prstGeom prst="rect">
            <a:avLst/>
          </a:prstGeom>
          <a:noFill/>
        </p:spPr>
        <p:txBody>
          <a:bodyPr wrap="square" lIns="0" tIns="0" rIns="0" bIns="0" anchor="ctr">
            <a:spAutoFit/>
          </a:bodyPr>
          <a:lstStyle/>
          <a:p>
            <a:pPr algn="l">
              <a:spcAft>
                <a:spcPts val="0"/>
              </a:spcAft>
            </a:pPr>
            <a:r>
              <a:rPr sz="1100" b="0">
                <a:solidFill>
                  <a:srgbClr val="6B6558"/>
                </a:solidFill>
                <a:latin typeface="Segoe UI"/>
              </a:rPr>
              <a:t>Net margin after running cost</a:t>
            </a:r>
          </a:p>
        </p:txBody>
      </p:sp>
      <p:sp>
        <p:nvSpPr>
          <p:cNvPr id="33" name="TextBox 32"/>
          <p:cNvSpPr txBox="1"/>
          <p:nvPr/>
        </p:nvSpPr>
        <p:spPr>
          <a:xfrm>
            <a:off x="9888775" y="4488840"/>
            <a:ext cx="1600000" cy="430000"/>
          </a:xfrm>
          <a:prstGeom prst="rect">
            <a:avLst/>
          </a:prstGeom>
          <a:noFill/>
        </p:spPr>
        <p:txBody>
          <a:bodyPr wrap="square" lIns="0" tIns="0" rIns="0" bIns="0" anchor="ctr">
            <a:spAutoFit/>
          </a:bodyPr>
          <a:lstStyle/>
          <a:p>
            <a:pPr algn="r">
              <a:spcAft>
                <a:spcPts val="0"/>
              </a:spcAft>
            </a:pPr>
            <a:r>
              <a:rPr sz="1300" b="1">
                <a:solidFill>
                  <a:srgbClr val="2E6B57"/>
                </a:solidFill>
                <a:latin typeface="Segoe UI Semibold"/>
              </a:rPr>
              <a:t>~$69,205</a:t>
            </a:r>
          </a:p>
        </p:txBody>
      </p:sp>
      <p:sp>
        <p:nvSpPr>
          <p:cNvPr id="34" name="TextBox 33"/>
          <p:cNvSpPr txBox="1"/>
          <p:nvPr/>
        </p:nvSpPr>
        <p:spPr>
          <a:xfrm>
            <a:off x="6378143" y="5288840"/>
            <a:ext cx="5110632" cy="300000"/>
          </a:xfrm>
          <a:prstGeom prst="rect">
            <a:avLst/>
          </a:prstGeom>
          <a:noFill/>
        </p:spPr>
        <p:txBody>
          <a:bodyPr wrap="square" lIns="0" tIns="0" rIns="0" bIns="0" anchor="t">
            <a:spAutoFit/>
          </a:bodyPr>
          <a:lstStyle/>
          <a:p>
            <a:pPr algn="l">
              <a:spcAft>
                <a:spcPts val="0"/>
              </a:spcAft>
            </a:pPr>
            <a:r>
              <a:rPr sz="950" b="0">
                <a:solidFill>
                  <a:srgbClr val="9B9384"/>
                </a:solidFill>
                <a:latin typeface="Segoe UI"/>
              </a:rPr>
              <a:t>Running cost = ~11% of margin revenue</a:t>
            </a:r>
          </a:p>
        </p:txBody>
      </p:sp>
      <p:sp>
        <p:nvSpPr>
          <p:cNvPr id="35" name="TextBox 34"/>
          <p:cNvSpPr txBox="1"/>
          <p:nvPr/>
        </p:nvSpPr>
        <p:spPr>
          <a:xfrm>
            <a:off x="502920" y="5850000"/>
            <a:ext cx="11185855" cy="400000"/>
          </a:xfrm>
          <a:prstGeom prst="rect">
            <a:avLst/>
          </a:prstGeom>
          <a:noFill/>
        </p:spPr>
        <p:txBody>
          <a:bodyPr wrap="square" lIns="0" tIns="0" rIns="0" bIns="0" anchor="t">
            <a:spAutoFit/>
          </a:bodyPr>
          <a:lstStyle/>
          <a:p>
            <a:pPr algn="l">
              <a:lnSpc>
                <a:spcPct val="120000"/>
              </a:lnSpc>
              <a:spcAft>
                <a:spcPts val="0"/>
              </a:spcAft>
            </a:pPr>
            <a:r>
              <a:rPr sz="1000" b="0">
                <a:solidFill>
                  <a:srgbClr val="6B6558"/>
                </a:solidFill>
                <a:latin typeface="Segoe UI"/>
              </a:rPr>
              <a:t>Same story at both scales -- compute/infrastructure (now including the AWS static-IP relay required for RateHawk certification) is a small, roughly flat share of margin (~11–13%). Confirms Luke's own read from July 21: marketing/adoption is the real bottleneck, not running cost. On Haiku 4.5 instead of Sonnet, running cost drops to ~$518/mo (10's) and ~$3,555/mo (100's) -- further shrinking that share, at a quality trade-off worth testing before committing.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457200"/>
            <a:ext cx="11183112" cy="320040"/>
          </a:xfrm>
          <a:prstGeom prst="rect">
            <a:avLst/>
          </a:prstGeom>
          <a:noFill/>
        </p:spPr>
        <p:txBody>
          <a:bodyPr wrap="square" lIns="0" rIns="0" tIns="0" bIns="0">
            <a:spAutoFit/>
          </a:bodyPr>
          <a:lstStyle/>
          <a:p>
            <a:pPr algn="l"/>
            <a:r>
              <a:rPr sz="1200" b="1">
                <a:solidFill>
                  <a:srgbClr val="7A3E0F"/>
                </a:solidFill>
                <a:latin typeface="Segoe UI Semibold"/>
              </a:rPr>
              <a:t>12  —  PERFORMANCE &amp; SCALE</a:t>
            </a:r>
          </a:p>
        </p:txBody>
      </p:sp>
      <p:sp>
        <p:nvSpPr>
          <p:cNvPr id="3" name="TextBox 2"/>
          <p:cNvSpPr txBox="1"/>
          <p:nvPr/>
        </p:nvSpPr>
        <p:spPr>
          <a:xfrm>
            <a:off x="502920" y="749808"/>
            <a:ext cx="11183112" cy="640080"/>
          </a:xfrm>
          <a:prstGeom prst="rect">
            <a:avLst/>
          </a:prstGeom>
          <a:noFill/>
        </p:spPr>
        <p:txBody>
          <a:bodyPr wrap="square" lIns="0" rIns="0" tIns="0" bIns="0">
            <a:spAutoFit/>
          </a:bodyPr>
          <a:lstStyle/>
          <a:p>
            <a:pPr algn="l"/>
            <a:r>
              <a:rPr sz="2700" b="1" i="0">
                <a:solidFill>
                  <a:srgbClr val="1A1A2E"/>
                </a:solidFill>
                <a:latin typeface="Segoe UI Semibold"/>
              </a:rPr>
              <a:t>The real technical ceiling on today's stack, measured live</a:t>
            </a:r>
          </a:p>
        </p:txBody>
      </p:sp>
      <p:sp>
        <p:nvSpPr>
          <p:cNvPr id="4" name="TextBox 3"/>
          <p:cNvSpPr txBox="1"/>
          <p:nvPr/>
        </p:nvSpPr>
        <p:spPr>
          <a:xfrm>
            <a:off x="502920" y="1417320"/>
            <a:ext cx="10799064" cy="502920"/>
          </a:xfrm>
          <a:prstGeom prst="rect">
            <a:avLst/>
          </a:prstGeom>
          <a:noFill/>
        </p:spPr>
        <p:txBody>
          <a:bodyPr wrap="square" lIns="0" rIns="0" tIns="0" bIns="0">
            <a:spAutoFit/>
          </a:bodyPr>
          <a:lstStyle/>
          <a:p>
            <a:pPr algn="l"/>
            <a:r>
              <a:rPr sz="1350" b="0" i="0">
                <a:solidFill>
                  <a:srgbClr val="6B6558"/>
                </a:solidFill>
                <a:latin typeface="Segoe UI"/>
              </a:rPr>
              <a:t>RateHawk sandbox rate limits measured directly against the live API today. These are SANDBOX limits, not confirmed production ones -- see the note below before treating the ceiling as fixed.</a:t>
            </a:r>
          </a:p>
        </p:txBody>
      </p:sp>
      <p:sp>
        <p:nvSpPr>
          <p:cNvPr id="5" name="TextBox 4"/>
          <p:cNvSpPr txBox="1"/>
          <p:nvPr/>
        </p:nvSpPr>
        <p:spPr>
          <a:xfrm>
            <a:off x="502920" y="6528816"/>
            <a:ext cx="7315200" cy="274320"/>
          </a:xfrm>
          <a:prstGeom prst="rect">
            <a:avLst/>
          </a:prstGeom>
          <a:noFill/>
        </p:spPr>
        <p:txBody>
          <a:bodyPr wrap="square" lIns="0" rIns="0" tIns="0" bIns="0">
            <a:spAutoFit/>
          </a:bodyPr>
          <a:lstStyle/>
          <a:p>
            <a:pPr algn="l"/>
            <a:r>
              <a:rPr sz="900" b="0" i="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rIns="0" tIns="0" bIns="0">
            <a:spAutoFit/>
          </a:bodyPr>
          <a:lstStyle/>
          <a:p>
            <a:pPr algn="r"/>
            <a:r>
              <a:rPr sz="900" b="0">
                <a:solidFill>
                  <a:srgbClr val="9B9384"/>
                </a:solidFill>
                <a:latin typeface="Segoe UI"/>
              </a:rPr>
              <a:t>13</a:t>
            </a:r>
          </a:p>
        </p:txBody>
      </p:sp>
      <p:sp>
        <p:nvSpPr>
          <p:cNvPr id="7" name="Rounded Rectangle 6"/>
          <p:cNvSpPr/>
          <p:nvPr/>
        </p:nvSpPr>
        <p:spPr>
          <a:xfrm>
            <a:off x="502920" y="2148840"/>
            <a:ext cx="3566160" cy="141732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920" y="2276856"/>
            <a:ext cx="3312160" cy="201168"/>
          </a:xfrm>
          <a:prstGeom prst="rect">
            <a:avLst/>
          </a:prstGeom>
          <a:noFill/>
        </p:spPr>
        <p:txBody>
          <a:bodyPr wrap="square" lIns="0" rIns="0" tIns="0" bIns="0">
            <a:spAutoFit/>
          </a:bodyPr>
          <a:lstStyle/>
          <a:p>
            <a:pPr algn="l"/>
            <a:r>
              <a:rPr sz="1050" b="1" i="0">
                <a:solidFill>
                  <a:srgbClr val="7A3E0F"/>
                </a:solidFill>
                <a:latin typeface="Segoe UI Semibold"/>
              </a:rPr>
              <a:t>search/serp/hotels/</a:t>
            </a:r>
          </a:p>
        </p:txBody>
      </p:sp>
      <p:sp>
        <p:nvSpPr>
          <p:cNvPr id="9" name="TextBox 8"/>
          <p:cNvSpPr txBox="1"/>
          <p:nvPr/>
        </p:nvSpPr>
        <p:spPr>
          <a:xfrm>
            <a:off x="629920" y="2532888"/>
            <a:ext cx="3312160" cy="411480"/>
          </a:xfrm>
          <a:prstGeom prst="rect">
            <a:avLst/>
          </a:prstGeom>
          <a:noFill/>
        </p:spPr>
        <p:txBody>
          <a:bodyPr wrap="square" lIns="0" rIns="0" tIns="0" bIns="0">
            <a:spAutoFit/>
          </a:bodyPr>
          <a:lstStyle/>
          <a:p>
            <a:pPr algn="l"/>
            <a:r>
              <a:rPr sz="2600" b="1" i="0">
                <a:solidFill>
                  <a:srgbClr val="1A1A2E"/>
                </a:solidFill>
                <a:latin typeface="Segoe UI Semibold"/>
              </a:rPr>
              <a:t>150 / min</a:t>
            </a:r>
          </a:p>
        </p:txBody>
      </p:sp>
      <p:sp>
        <p:nvSpPr>
          <p:cNvPr id="10" name="TextBox 9"/>
          <p:cNvSpPr txBox="1"/>
          <p:nvPr/>
        </p:nvSpPr>
        <p:spPr>
          <a:xfrm>
            <a:off x="629920" y="3017520"/>
            <a:ext cx="3312160" cy="447040"/>
          </a:xfrm>
          <a:prstGeom prst="rect">
            <a:avLst/>
          </a:prstGeom>
          <a:noFill/>
        </p:spPr>
        <p:txBody>
          <a:bodyPr wrap="square" lIns="0" rIns="0" tIns="0" bIns="0">
            <a:spAutoFit/>
          </a:bodyPr>
          <a:lstStyle/>
          <a:p>
            <a:pPr algn="l"/>
            <a:r>
              <a:rPr sz="950" b="0" i="0">
                <a:solidFill>
                  <a:srgbClr val="6B6558"/>
                </a:solidFill>
                <a:latin typeface="Segoe UI"/>
              </a:rPr>
              <a:t>Search results list -- ONE call prices a whole region (~250 hotels), not one call per hotel.</a:t>
            </a:r>
          </a:p>
        </p:txBody>
      </p:sp>
      <p:sp>
        <p:nvSpPr>
          <p:cNvPr id="11" name="Rounded Rectangle 10"/>
          <p:cNvSpPr/>
          <p:nvPr/>
        </p:nvSpPr>
        <p:spPr>
          <a:xfrm>
            <a:off x="2552700" y="2237740"/>
            <a:ext cx="141478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2E6B57"/>
                </a:solidFill>
                <a:latin typeface="Segoe UI Semibold"/>
              </a:rPr>
              <a:t>HEADROOM</a:t>
            </a:r>
          </a:p>
        </p:txBody>
      </p:sp>
      <p:sp>
        <p:nvSpPr>
          <p:cNvPr id="12" name="Rounded Rectangle 11"/>
          <p:cNvSpPr/>
          <p:nvPr/>
        </p:nvSpPr>
        <p:spPr>
          <a:xfrm>
            <a:off x="4206240" y="2148840"/>
            <a:ext cx="3566160" cy="141732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33240" y="2276856"/>
            <a:ext cx="3312160" cy="201168"/>
          </a:xfrm>
          <a:prstGeom prst="rect">
            <a:avLst/>
          </a:prstGeom>
          <a:noFill/>
        </p:spPr>
        <p:txBody>
          <a:bodyPr wrap="square" lIns="0" rIns="0" tIns="0" bIns="0">
            <a:spAutoFit/>
          </a:bodyPr>
          <a:lstStyle/>
          <a:p>
            <a:pPr algn="l"/>
            <a:r>
              <a:rPr sz="1050" b="1" i="0">
                <a:solidFill>
                  <a:srgbClr val="7A3E0F"/>
                </a:solidFill>
                <a:latin typeface="Segoe UI Semibold"/>
              </a:rPr>
              <a:t>hotel/prebook/</a:t>
            </a:r>
          </a:p>
        </p:txBody>
      </p:sp>
      <p:sp>
        <p:nvSpPr>
          <p:cNvPr id="14" name="TextBox 13"/>
          <p:cNvSpPr txBox="1"/>
          <p:nvPr/>
        </p:nvSpPr>
        <p:spPr>
          <a:xfrm>
            <a:off x="4333240" y="2532888"/>
            <a:ext cx="3312160" cy="411480"/>
          </a:xfrm>
          <a:prstGeom prst="rect">
            <a:avLst/>
          </a:prstGeom>
          <a:noFill/>
        </p:spPr>
        <p:txBody>
          <a:bodyPr wrap="square" lIns="0" rIns="0" tIns="0" bIns="0">
            <a:spAutoFit/>
          </a:bodyPr>
          <a:lstStyle/>
          <a:p>
            <a:pPr algn="l"/>
            <a:r>
              <a:rPr sz="2600" b="1" i="0">
                <a:solidFill>
                  <a:srgbClr val="1A1A2E"/>
                </a:solidFill>
                <a:latin typeface="Segoe UI Semibold"/>
              </a:rPr>
              <a:t>30 / min</a:t>
            </a:r>
          </a:p>
        </p:txBody>
      </p:sp>
      <p:sp>
        <p:nvSpPr>
          <p:cNvPr id="15" name="TextBox 14"/>
          <p:cNvSpPr txBox="1"/>
          <p:nvPr/>
        </p:nvSpPr>
        <p:spPr>
          <a:xfrm>
            <a:off x="4333240" y="3017520"/>
            <a:ext cx="3312160" cy="447040"/>
          </a:xfrm>
          <a:prstGeom prst="rect">
            <a:avLst/>
          </a:prstGeom>
          <a:noFill/>
        </p:spPr>
        <p:txBody>
          <a:bodyPr wrap="square" lIns="0" rIns="0" tIns="0" bIns="0">
            <a:spAutoFit/>
          </a:bodyPr>
          <a:lstStyle/>
          <a:p>
            <a:pPr algn="l"/>
            <a:r>
              <a:rPr sz="950" b="0" i="0">
                <a:solidFill>
                  <a:srgbClr val="6B6558"/>
                </a:solidFill>
                <a:latin typeface="Segoe UI"/>
              </a:rPr>
              <a:t>Room lock, right before payment. Comfortable headroom above the booking-flow bottleneck.</a:t>
            </a:r>
          </a:p>
        </p:txBody>
      </p:sp>
      <p:sp>
        <p:nvSpPr>
          <p:cNvPr id="16" name="Rounded Rectangle 15"/>
          <p:cNvSpPr/>
          <p:nvPr/>
        </p:nvSpPr>
        <p:spPr>
          <a:xfrm>
            <a:off x="6256020" y="2237740"/>
            <a:ext cx="141478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2E6B57"/>
                </a:solidFill>
                <a:latin typeface="Segoe UI Semibold"/>
              </a:rPr>
              <a:t>HEADROOM</a:t>
            </a:r>
          </a:p>
        </p:txBody>
      </p:sp>
      <p:sp>
        <p:nvSpPr>
          <p:cNvPr id="17" name="Rounded Rectangle 16"/>
          <p:cNvSpPr/>
          <p:nvPr/>
        </p:nvSpPr>
        <p:spPr>
          <a:xfrm>
            <a:off x="7909560" y="2148840"/>
            <a:ext cx="3566160" cy="141732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6560" y="2276856"/>
            <a:ext cx="3312160" cy="201168"/>
          </a:xfrm>
          <a:prstGeom prst="rect">
            <a:avLst/>
          </a:prstGeom>
          <a:noFill/>
        </p:spPr>
        <p:txBody>
          <a:bodyPr wrap="square" lIns="0" rIns="0" tIns="0" bIns="0">
            <a:spAutoFit/>
          </a:bodyPr>
          <a:lstStyle/>
          <a:p>
            <a:pPr algn="l"/>
            <a:r>
              <a:rPr sz="1050" b="1" i="0">
                <a:solidFill>
                  <a:srgbClr val="7A3E0F"/>
                </a:solidFill>
                <a:latin typeface="Segoe UI Semibold"/>
              </a:rPr>
              <a:t>search/hp/</a:t>
            </a:r>
          </a:p>
        </p:txBody>
      </p:sp>
      <p:sp>
        <p:nvSpPr>
          <p:cNvPr id="19" name="TextBox 18"/>
          <p:cNvSpPr txBox="1"/>
          <p:nvPr/>
        </p:nvSpPr>
        <p:spPr>
          <a:xfrm>
            <a:off x="8036560" y="2532888"/>
            <a:ext cx="3312160" cy="411480"/>
          </a:xfrm>
          <a:prstGeom prst="rect">
            <a:avLst/>
          </a:prstGeom>
          <a:noFill/>
        </p:spPr>
        <p:txBody>
          <a:bodyPr wrap="square" lIns="0" rIns="0" tIns="0" bIns="0">
            <a:spAutoFit/>
          </a:bodyPr>
          <a:lstStyle/>
          <a:p>
            <a:pPr algn="l"/>
            <a:r>
              <a:rPr sz="2600" b="1" i="0">
                <a:solidFill>
                  <a:srgbClr val="1A1A2E"/>
                </a:solidFill>
                <a:latin typeface="Segoe UI Semibold"/>
              </a:rPr>
              <a:t>10 / min</a:t>
            </a:r>
          </a:p>
        </p:txBody>
      </p:sp>
      <p:sp>
        <p:nvSpPr>
          <p:cNvPr id="20" name="TextBox 19"/>
          <p:cNvSpPr txBox="1"/>
          <p:nvPr/>
        </p:nvSpPr>
        <p:spPr>
          <a:xfrm>
            <a:off x="8036560" y="3017520"/>
            <a:ext cx="3312160" cy="447040"/>
          </a:xfrm>
          <a:prstGeom prst="rect">
            <a:avLst/>
          </a:prstGeom>
          <a:noFill/>
        </p:spPr>
        <p:txBody>
          <a:bodyPr wrap="square" lIns="0" rIns="0" tIns="0" bIns="0">
            <a:spAutoFit/>
          </a:bodyPr>
          <a:lstStyle/>
          <a:p>
            <a:pPr algn="l"/>
            <a:r>
              <a:rPr sz="950" b="0" i="0">
                <a:solidFill>
                  <a:srgbClr val="6B6558"/>
                </a:solidFill>
                <a:latin typeface="Segoe UI"/>
              </a:rPr>
              <a:t>Single-hotel room rates -- required on room selection AND before every booking. This is the binding constraint.</a:t>
            </a:r>
          </a:p>
        </p:txBody>
      </p:sp>
      <p:sp>
        <p:nvSpPr>
          <p:cNvPr id="21" name="Rounded Rectangle 20"/>
          <p:cNvSpPr/>
          <p:nvPr/>
        </p:nvSpPr>
        <p:spPr>
          <a:xfrm>
            <a:off x="9959340" y="2237740"/>
            <a:ext cx="141478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B8790A"/>
                </a:solidFill>
                <a:latin typeface="Segoe UI Semibold"/>
              </a:rPr>
              <a:t>BOTTLENECK</a:t>
            </a:r>
          </a:p>
        </p:txBody>
      </p:sp>
      <p:sp>
        <p:nvSpPr>
          <p:cNvPr id="22" name="Rounded Rectangle 21"/>
          <p:cNvSpPr/>
          <p:nvPr/>
        </p:nvSpPr>
        <p:spPr>
          <a:xfrm>
            <a:off x="502920" y="3749040"/>
            <a:ext cx="11183112" cy="868680"/>
          </a:xfrm>
          <a:prstGeom prst="roundRect">
            <a:avLst>
              <a:gd name="adj" fmla="val 12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0720" y="3876040"/>
            <a:ext cx="10789920" cy="274320"/>
          </a:xfrm>
          <a:prstGeom prst="rect">
            <a:avLst/>
          </a:prstGeom>
          <a:noFill/>
        </p:spPr>
        <p:txBody>
          <a:bodyPr wrap="square" lIns="0" rIns="0" tIns="0" bIns="0">
            <a:spAutoFit/>
          </a:bodyPr>
          <a:lstStyle/>
          <a:p>
            <a:pPr algn="l"/>
            <a:r>
              <a:rPr sz="1400" b="1" i="0">
                <a:solidFill>
                  <a:srgbClr val="7A3E0F"/>
                </a:solidFill>
                <a:latin typeface="Segoe UI Semibold"/>
              </a:rPr>
              <a:t>10/min on search/hp/ → 600/hour → ~14,400/day ceiling on real room-rate views, and therefore on bookings, under today's sandbox limits.</a:t>
            </a:r>
          </a:p>
        </p:txBody>
      </p:sp>
      <p:sp>
        <p:nvSpPr>
          <p:cNvPr id="24" name="TextBox 23"/>
          <p:cNvSpPr txBox="1"/>
          <p:nvPr/>
        </p:nvSpPr>
        <p:spPr>
          <a:xfrm>
            <a:off x="680720" y="4282440"/>
            <a:ext cx="10789920" cy="365760"/>
          </a:xfrm>
          <a:prstGeom prst="rect">
            <a:avLst/>
          </a:prstGeom>
          <a:noFill/>
        </p:spPr>
        <p:txBody>
          <a:bodyPr wrap="square" lIns="0" rIns="0" tIns="0" bIns="0">
            <a:spAutoFit/>
          </a:bodyPr>
          <a:lstStyle/>
          <a:p>
            <a:pPr algn="l"/>
            <a:r>
              <a:rPr sz="1050" b="0" i="1">
                <a:solidFill>
                  <a:srgbClr val="6B6558"/>
                </a:solidFill>
                <a:latin typeface="Segoe UI"/>
              </a:rPr>
              <a:t>This is a technical ceiling, not a target or a forecast — real booking volume will be governed by guest demand, far below any of these limits.</a:t>
            </a:r>
          </a:p>
        </p:txBody>
      </p:sp>
      <p:sp>
        <p:nvSpPr>
          <p:cNvPr id="25" name="Rounded Rectangle 24"/>
          <p:cNvSpPr/>
          <p:nvPr/>
        </p:nvSpPr>
        <p:spPr>
          <a:xfrm>
            <a:off x="502920" y="4782312"/>
            <a:ext cx="5468112"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920" y="4892040"/>
            <a:ext cx="3751072" cy="219456"/>
          </a:xfrm>
          <a:prstGeom prst="rect">
            <a:avLst/>
          </a:prstGeom>
          <a:noFill/>
        </p:spPr>
        <p:txBody>
          <a:bodyPr wrap="square" lIns="0" rIns="0" tIns="0" bIns="0">
            <a:spAutoFit/>
          </a:bodyPr>
          <a:lstStyle/>
          <a:p>
            <a:pPr algn="l"/>
            <a:r>
              <a:rPr sz="1250" b="1" i="0">
                <a:solidFill>
                  <a:srgbClr val="1A1A2E"/>
                </a:solidFill>
                <a:latin typeface="Segoe UI Semibold"/>
              </a:rPr>
              <a:t>Database: comfortable headroom</a:t>
            </a:r>
          </a:p>
        </p:txBody>
      </p:sp>
      <p:sp>
        <p:nvSpPr>
          <p:cNvPr id="27" name="TextBox 26"/>
          <p:cNvSpPr txBox="1"/>
          <p:nvPr/>
        </p:nvSpPr>
        <p:spPr>
          <a:xfrm>
            <a:off x="629920" y="5166360"/>
            <a:ext cx="5214112" cy="774192"/>
          </a:xfrm>
          <a:prstGeom prst="rect">
            <a:avLst/>
          </a:prstGeom>
          <a:noFill/>
        </p:spPr>
        <p:txBody>
          <a:bodyPr wrap="square" lIns="0" rIns="0" tIns="0" bIns="0">
            <a:spAutoFit/>
          </a:bodyPr>
          <a:lstStyle/>
          <a:p>
            <a:pPr algn="l"/>
            <a:r>
              <a:rPr sz="1000" b="0" i="0">
                <a:solidFill>
                  <a:srgbClr val="6B6558"/>
                </a:solidFill>
                <a:latin typeface="Segoe UI"/>
              </a:rPr>
              <a:t>Supabase Postgres allows 120 concurrent connections; each Vercel function instance currently pools at most 3. Not a near-term constraint at any traffic level discussed here.</a:t>
            </a:r>
          </a:p>
        </p:txBody>
      </p:sp>
      <p:sp>
        <p:nvSpPr>
          <p:cNvPr id="28" name="Rounded Rectangle 27"/>
          <p:cNvSpPr/>
          <p:nvPr/>
        </p:nvSpPr>
        <p:spPr>
          <a:xfrm>
            <a:off x="4589272" y="4871212"/>
            <a:ext cx="128016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2E6B57"/>
                </a:solidFill>
                <a:latin typeface="Segoe UI Semibold"/>
              </a:rPr>
              <a:t>NOT A CONSTRAINT</a:t>
            </a:r>
          </a:p>
        </p:txBody>
      </p:sp>
      <p:sp>
        <p:nvSpPr>
          <p:cNvPr id="29" name="Rounded Rectangle 28"/>
          <p:cNvSpPr/>
          <p:nvPr/>
        </p:nvSpPr>
        <p:spPr>
          <a:xfrm>
            <a:off x="6217920" y="4782312"/>
            <a:ext cx="5468112" cy="1234440"/>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4920" y="4892040"/>
            <a:ext cx="3751072" cy="219456"/>
          </a:xfrm>
          <a:prstGeom prst="rect">
            <a:avLst/>
          </a:prstGeom>
          <a:noFill/>
        </p:spPr>
        <p:txBody>
          <a:bodyPr wrap="square" lIns="0" rIns="0" tIns="0" bIns="0">
            <a:spAutoFit/>
          </a:bodyPr>
          <a:lstStyle/>
          <a:p>
            <a:pPr algn="l"/>
            <a:r>
              <a:rPr sz="1250" b="1" i="0">
                <a:solidFill>
                  <a:srgbClr val="1A1A2E"/>
                </a:solidFill>
                <a:latin typeface="Segoe UI Semibold"/>
              </a:rPr>
              <a:t>Infra tier: Vercel Hobby plan</a:t>
            </a:r>
          </a:p>
        </p:txBody>
      </p:sp>
      <p:sp>
        <p:nvSpPr>
          <p:cNvPr id="31" name="TextBox 30"/>
          <p:cNvSpPr txBox="1"/>
          <p:nvPr/>
        </p:nvSpPr>
        <p:spPr>
          <a:xfrm>
            <a:off x="6344920" y="5166360"/>
            <a:ext cx="5214112" cy="774192"/>
          </a:xfrm>
          <a:prstGeom prst="rect">
            <a:avLst/>
          </a:prstGeom>
          <a:noFill/>
        </p:spPr>
        <p:txBody>
          <a:bodyPr wrap="square" lIns="0" rIns="0" tIns="0" bIns="0">
            <a:spAutoFit/>
          </a:bodyPr>
          <a:lstStyle/>
          <a:p>
            <a:pPr algn="l"/>
            <a:r>
              <a:rPr sz="1000" b="0" i="0">
                <a:solidFill>
                  <a:srgbClr val="6B6558"/>
                </a:solidFill>
                <a:latin typeface="Segoe UI"/>
              </a:rPr>
              <a:t>Fine for the current testing phase -- no verified request/day figure exists for it, so none is claimed here. Real pre-launch item: Hobby has no SLA and stricter usage limits than Pro; upgrade before real production traffic.</a:t>
            </a:r>
          </a:p>
        </p:txBody>
      </p:sp>
      <p:sp>
        <p:nvSpPr>
          <p:cNvPr id="32" name="Rounded Rectangle 31"/>
          <p:cNvSpPr/>
          <p:nvPr/>
        </p:nvSpPr>
        <p:spPr>
          <a:xfrm>
            <a:off x="10371582" y="4871212"/>
            <a:ext cx="121285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B8790A"/>
                </a:solidFill>
                <a:latin typeface="Segoe UI Semibold"/>
              </a:rPr>
              <a:t>PRE-LAUNCH ITEM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502920" y="457200"/>
            <a:ext cx="11183112" cy="320040"/>
          </a:xfrm>
          <a:prstGeom prst="rect">
            <a:avLst/>
          </a:prstGeom>
          <a:noFill/>
        </p:spPr>
        <p:txBody>
          <a:bodyPr wrap="square" lIns="0" rIns="0" tIns="0" bIns="0">
            <a:spAutoFit/>
          </a:bodyPr>
          <a:lstStyle/>
          <a:p>
            <a:pPr algn="l"/>
            <a:r>
              <a:rPr sz="1200" b="1">
                <a:solidFill>
                  <a:srgbClr val="7A3E0F"/>
                </a:solidFill>
                <a:latin typeface="Segoe UI Semibold"/>
              </a:rPr>
              <a:t>13  —  RISKS</a:t>
            </a:r>
          </a:p>
        </p:txBody>
      </p:sp>
      <p:sp>
        <p:nvSpPr>
          <p:cNvPr id="3" name="TextBox 2"/>
          <p:cNvSpPr txBox="1"/>
          <p:nvPr/>
        </p:nvSpPr>
        <p:spPr>
          <a:xfrm>
            <a:off x="502920" y="749808"/>
            <a:ext cx="11183112" cy="640080"/>
          </a:xfrm>
          <a:prstGeom prst="rect">
            <a:avLst/>
          </a:prstGeom>
          <a:noFill/>
        </p:spPr>
        <p:txBody>
          <a:bodyPr wrap="square" lIns="0" rIns="0" tIns="0" bIns="0">
            <a:spAutoFit/>
          </a:bodyPr>
          <a:lstStyle/>
          <a:p>
            <a:pPr algn="l"/>
            <a:r>
              <a:rPr sz="2700" b="1">
                <a:solidFill>
                  <a:srgbClr val="1A1A2E"/>
                </a:solidFill>
                <a:latin typeface="Segoe UI Semibold"/>
              </a:rPr>
              <a:t>What's still open, now that payments and RateHawk are live</a:t>
            </a:r>
          </a:p>
        </p:txBody>
      </p:sp>
      <p:sp>
        <p:nvSpPr>
          <p:cNvPr id="4" name="TextBox 3"/>
          <p:cNvSpPr txBox="1"/>
          <p:nvPr/>
        </p:nvSpPr>
        <p:spPr>
          <a:xfrm>
            <a:off x="502920" y="1417320"/>
            <a:ext cx="10799064" cy="502920"/>
          </a:xfrm>
          <a:prstGeom prst="rect">
            <a:avLst/>
          </a:prstGeom>
          <a:noFill/>
        </p:spPr>
        <p:txBody>
          <a:bodyPr wrap="square" lIns="0" rIns="0" tIns="0" bIns="0">
            <a:spAutoFit/>
          </a:bodyPr>
          <a:lstStyle/>
          <a:p>
            <a:pPr algn="l"/>
            <a:r>
              <a:rPr sz="1350" b="0">
                <a:solidFill>
                  <a:srgbClr val="6B6558"/>
                </a:solidFill>
                <a:latin typeface="Segoe UI"/>
              </a:rPr>
              <a:t>Multi-room booking, real-hotel payments, and RateHawk’s live wiring -- all previously flagged here -- are now built, fixed, and verified as of 8/25. These are the risks that remain.</a:t>
            </a:r>
          </a:p>
        </p:txBody>
      </p:sp>
      <p:sp>
        <p:nvSpPr>
          <p:cNvPr id="5" name="TextBox 4"/>
          <p:cNvSpPr txBox="1"/>
          <p:nvPr/>
        </p:nvSpPr>
        <p:spPr>
          <a:xfrm>
            <a:off x="502920" y="6528816"/>
            <a:ext cx="7315200" cy="274320"/>
          </a:xfrm>
          <a:prstGeom prst="rect">
            <a:avLst/>
          </a:prstGeom>
          <a:noFill/>
        </p:spPr>
        <p:txBody>
          <a:bodyPr wrap="square" lIns="0" rIns="0" tIns="0" bIns="0">
            <a:spAutoFit/>
          </a:bodyPr>
          <a:lstStyle/>
          <a:p>
            <a:pPr algn="l"/>
            <a:r>
              <a:rPr sz="900" b="0">
                <a:solidFill>
                  <a:srgbClr val="9B9384"/>
                </a:solidFill>
                <a:latin typeface="Segoe UI"/>
              </a:rPr>
              <a:t>BALKANEA MOBILE  —  SANDBOX / TEST READINESS</a:t>
            </a:r>
          </a:p>
        </p:txBody>
      </p:sp>
      <p:sp>
        <p:nvSpPr>
          <p:cNvPr id="6" name="TextBox 5"/>
          <p:cNvSpPr txBox="1"/>
          <p:nvPr/>
        </p:nvSpPr>
        <p:spPr>
          <a:xfrm>
            <a:off x="10771632" y="6528816"/>
            <a:ext cx="914400" cy="274320"/>
          </a:xfrm>
          <a:prstGeom prst="rect">
            <a:avLst/>
          </a:prstGeom>
          <a:noFill/>
        </p:spPr>
        <p:txBody>
          <a:bodyPr wrap="square" lIns="0" rIns="0" tIns="0" bIns="0">
            <a:spAutoFit/>
          </a:bodyPr>
          <a:lstStyle/>
          <a:p>
            <a:pPr algn="r"/>
            <a:r>
              <a:rPr sz="900" b="0">
                <a:solidFill>
                  <a:srgbClr val="9B9384"/>
                </a:solidFill>
                <a:latin typeface="Segoe UI"/>
              </a:rPr>
              <a:t>14</a:t>
            </a:r>
          </a:p>
        </p:txBody>
      </p:sp>
      <p:sp>
        <p:nvSpPr>
          <p:cNvPr id="7" name="Rounded Rectangle 6"/>
          <p:cNvSpPr/>
          <p:nvPr/>
        </p:nvSpPr>
        <p:spPr>
          <a:xfrm>
            <a:off x="502920" y="2148840"/>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920" y="2258568"/>
            <a:ext cx="9466072" cy="201168"/>
          </a:xfrm>
          <a:prstGeom prst="rect">
            <a:avLst/>
          </a:prstGeom>
          <a:noFill/>
        </p:spPr>
        <p:txBody>
          <a:bodyPr wrap="square" lIns="0" rIns="0" tIns="0" bIns="0">
            <a:spAutoFit/>
          </a:bodyPr>
          <a:lstStyle/>
          <a:p>
            <a:pPr algn="l"/>
            <a:r>
              <a:rPr sz="1150" b="1">
                <a:solidFill>
                  <a:srgbClr val="1A1A2E"/>
                </a:solidFill>
                <a:latin typeface="Segoe UI Semibold"/>
              </a:rPr>
              <a:t>RateHawk's sandbox documents (voucher + invoice) return a blank placeholder, not real content</a:t>
            </a:r>
          </a:p>
        </p:txBody>
      </p:sp>
      <p:sp>
        <p:nvSpPr>
          <p:cNvPr id="9" name="TextBox 8"/>
          <p:cNvSpPr txBox="1"/>
          <p:nvPr/>
        </p:nvSpPr>
        <p:spPr>
          <a:xfrm>
            <a:off x="629920" y="2514600"/>
            <a:ext cx="10929112" cy="490728"/>
          </a:xfrm>
          <a:prstGeom prst="rect">
            <a:avLst/>
          </a:prstGeom>
          <a:noFill/>
        </p:spPr>
        <p:txBody>
          <a:bodyPr wrap="square" lIns="0" rIns="0" tIns="0" bIns="0">
            <a:spAutoFit/>
          </a:bodyPr>
          <a:lstStyle/>
          <a:p>
            <a:pPr algn="l"/>
            <a:r>
              <a:rPr sz="950" b="0">
                <a:solidFill>
                  <a:srgbClr val="6B6558"/>
                </a:solidFill>
                <a:latin typeface="Segoe UI"/>
              </a:rPr>
              <a:t>Fetching both via RateHawk's real document endpoints returns byte-for-byte identical PDFs -- embedded metadata reads 'Acrobat Distiller 6.0 (Windows)', dated 2006-03-06, clearly a generic template, not a generated document. Not a bug in our integration (request/response plumbing verified correct) -- needs re-verification once production RateHawk credentials are active; sandbox may simply have no real content to render.</a:t>
            </a:r>
          </a:p>
        </p:txBody>
      </p:sp>
      <p:sp>
        <p:nvSpPr>
          <p:cNvPr id="10" name="Rounded Rectangle 9"/>
          <p:cNvSpPr/>
          <p:nvPr/>
        </p:nvSpPr>
        <p:spPr>
          <a:xfrm>
            <a:off x="10169652" y="2237740"/>
            <a:ext cx="141478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B8790A"/>
                </a:solidFill>
                <a:latin typeface="Segoe UI Semibold"/>
              </a:rPr>
              <a:t>SANDBOX LIMITATION</a:t>
            </a:r>
          </a:p>
        </p:txBody>
      </p:sp>
      <p:sp>
        <p:nvSpPr>
          <p:cNvPr id="11" name="Rounded Rectangle 10"/>
          <p:cNvSpPr/>
          <p:nvPr/>
        </p:nvSpPr>
        <p:spPr>
          <a:xfrm>
            <a:off x="502920" y="3218688"/>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920" y="3328416"/>
            <a:ext cx="9466072" cy="201168"/>
          </a:xfrm>
          <a:prstGeom prst="rect">
            <a:avLst/>
          </a:prstGeom>
          <a:noFill/>
        </p:spPr>
        <p:txBody>
          <a:bodyPr wrap="square" lIns="0" rIns="0" tIns="0" bIns="0">
            <a:spAutoFit/>
          </a:bodyPr>
          <a:lstStyle/>
          <a:p>
            <a:pPr algn="l"/>
            <a:r>
              <a:rPr sz="1150" b="1">
                <a:solidFill>
                  <a:srgbClr val="1A1A2E"/>
                </a:solidFill>
                <a:latin typeface="Segoe UI Semibold"/>
              </a:rPr>
              <a:t>A reliability bug caused three duplicate real charges today, before being fixed</a:t>
            </a:r>
          </a:p>
        </p:txBody>
      </p:sp>
      <p:sp>
        <p:nvSpPr>
          <p:cNvPr id="13" name="TextBox 12"/>
          <p:cNvSpPr txBox="1"/>
          <p:nvPr/>
        </p:nvSpPr>
        <p:spPr>
          <a:xfrm>
            <a:off x="629920" y="3584448"/>
            <a:ext cx="10929112" cy="490728"/>
          </a:xfrm>
          <a:prstGeom prst="rect">
            <a:avLst/>
          </a:prstGeom>
          <a:noFill/>
        </p:spPr>
        <p:txBody>
          <a:bodyPr wrap="square" lIns="0" rIns="0" tIns="0" bIns="0">
            <a:spAutoFit/>
          </a:bodyPr>
          <a:lstStyle/>
          <a:p>
            <a:pPr algn="l"/>
            <a:r>
              <a:rPr sz="950" b="0">
                <a:solidFill>
                  <a:srgbClr val="6B6558"/>
                </a:solidFill>
                <a:latin typeface="Segoe UI"/>
              </a:rPr>
              <a:t>The booking screen could get stuck indefinitely on ‘Confirming with the hotel’ if a step failed after payment had already captured. Because real RateHawk confirmation genuinely takes 90-140+ seconds, this read as frozen; force-quitting and retrying created a brand-new charge each time. Result: three real Bankart charges for one intended test booking -- harmless only because it was a test card. Now fixed (proper error states + a real progress bar); the lesson is this exact bug class is what causes real duplicate charges against a real guest.</a:t>
            </a:r>
          </a:p>
        </p:txBody>
      </p:sp>
      <p:sp>
        <p:nvSpPr>
          <p:cNvPr id="14" name="Rounded Rectangle 13"/>
          <p:cNvSpPr/>
          <p:nvPr/>
        </p:nvSpPr>
        <p:spPr>
          <a:xfrm>
            <a:off x="10640822" y="3307588"/>
            <a:ext cx="943610" cy="182880"/>
          </a:xfrm>
          <a:prstGeom prst="roundRect">
            <a:avLst>
              <a:gd name="adj" fmla="val 50000"/>
            </a:avLst>
          </a:prstGeom>
          <a:solidFill>
            <a:srgbClr val="E3EE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2E6B57"/>
                </a:solidFill>
                <a:latin typeface="Segoe UI Semibold"/>
              </a:rPr>
              <a:t>FIXED TODAY</a:t>
            </a:r>
          </a:p>
        </p:txBody>
      </p:sp>
      <p:sp>
        <p:nvSpPr>
          <p:cNvPr id="15" name="Rounded Rectangle 14"/>
          <p:cNvSpPr/>
          <p:nvPr/>
        </p:nvSpPr>
        <p:spPr>
          <a:xfrm>
            <a:off x="502920" y="4288536"/>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920" y="4398264"/>
            <a:ext cx="9466072" cy="201168"/>
          </a:xfrm>
          <a:prstGeom prst="rect">
            <a:avLst/>
          </a:prstGeom>
          <a:noFill/>
        </p:spPr>
        <p:txBody>
          <a:bodyPr wrap="square" lIns="0" rIns="0" tIns="0" bIns="0">
            <a:spAutoFit/>
          </a:bodyPr>
          <a:lstStyle/>
          <a:p>
            <a:pPr algn="l"/>
            <a:r>
              <a:rPr sz="1150" b="1">
                <a:solidFill>
                  <a:srgbClr val="1A1A2E"/>
                </a:solidFill>
                <a:latin typeface="Segoe UI Semibold"/>
              </a:rPr>
              <a:t>Bankart's hosted card page still isn't mobile-responsive</a:t>
            </a:r>
          </a:p>
        </p:txBody>
      </p:sp>
      <p:sp>
        <p:nvSpPr>
          <p:cNvPr id="17" name="TextBox 16"/>
          <p:cNvSpPr txBox="1"/>
          <p:nvPr/>
        </p:nvSpPr>
        <p:spPr>
          <a:xfrm>
            <a:off x="629920" y="4654296"/>
            <a:ext cx="10929112" cy="490728"/>
          </a:xfrm>
          <a:prstGeom prst="rect">
            <a:avLst/>
          </a:prstGeom>
          <a:noFill/>
        </p:spPr>
        <p:txBody>
          <a:bodyPr wrap="square" lIns="0" rIns="0" tIns="0" bIns="0">
            <a:spAutoFit/>
          </a:bodyPr>
          <a:lstStyle/>
          <a:p>
            <a:pPr algn="l"/>
            <a:r>
              <a:rPr sz="950" b="0">
                <a:solidFill>
                  <a:srgbClr val="6B6558"/>
                </a:solidFill>
                <a:latin typeface="Segoe UI"/>
              </a:rPr>
              <a:t>Input fields still misalign on phone and tablet, and the page has no billing-address or independent 'name on card' field (a guest can pay for someone else's booking). A full written spec -- brand colors, autofill attributes, missing fields -- was sent to Hristijan 8/25. Not yet built on his side.</a:t>
            </a:r>
          </a:p>
        </p:txBody>
      </p:sp>
      <p:sp>
        <p:nvSpPr>
          <p:cNvPr id="18" name="Rounded Rectangle 17"/>
          <p:cNvSpPr/>
          <p:nvPr/>
        </p:nvSpPr>
        <p:spPr>
          <a:xfrm>
            <a:off x="10304272" y="4377436"/>
            <a:ext cx="128016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B8790A"/>
                </a:solidFill>
                <a:latin typeface="Segoe UI Semibold"/>
              </a:rPr>
              <a:t>OPEN — HRISTIJAN</a:t>
            </a:r>
          </a:p>
        </p:txBody>
      </p:sp>
      <p:sp>
        <p:nvSpPr>
          <p:cNvPr id="19" name="Rounded Rectangle 18"/>
          <p:cNvSpPr/>
          <p:nvPr/>
        </p:nvSpPr>
        <p:spPr>
          <a:xfrm>
            <a:off x="502920" y="5358384"/>
            <a:ext cx="11183112" cy="932688"/>
          </a:xfrm>
          <a:prstGeom prst="roundRect">
            <a:avLst>
              <a:gd name="adj" fmla="val 9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920" y="5468112"/>
            <a:ext cx="9466072" cy="201168"/>
          </a:xfrm>
          <a:prstGeom prst="rect">
            <a:avLst/>
          </a:prstGeom>
          <a:noFill/>
        </p:spPr>
        <p:txBody>
          <a:bodyPr wrap="square" lIns="0" rIns="0" tIns="0" bIns="0">
            <a:spAutoFit/>
          </a:bodyPr>
          <a:lstStyle/>
          <a:p>
            <a:pPr algn="l"/>
            <a:r>
              <a:rPr sz="1150" b="1">
                <a:solidFill>
                  <a:srgbClr val="1A1A2E"/>
                </a:solidFill>
                <a:latin typeface="Segoe UI Semibold"/>
              </a:rPr>
              <a:t>Business-team booking notification email is hardcoded to a placeholder address</a:t>
            </a:r>
          </a:p>
        </p:txBody>
      </p:sp>
      <p:sp>
        <p:nvSpPr>
          <p:cNvPr id="21" name="TextBox 20"/>
          <p:cNvSpPr txBox="1"/>
          <p:nvPr/>
        </p:nvSpPr>
        <p:spPr>
          <a:xfrm>
            <a:off x="629920" y="5724144"/>
            <a:ext cx="10929112" cy="490728"/>
          </a:xfrm>
          <a:prstGeom prst="rect">
            <a:avLst/>
          </a:prstGeom>
          <a:noFill/>
        </p:spPr>
        <p:txBody>
          <a:bodyPr wrap="square" lIns="0" rIns="0" tIns="0" bIns="0">
            <a:spAutoFit/>
          </a:bodyPr>
          <a:lstStyle/>
          <a:p>
            <a:pPr algn="l"/>
            <a:r>
              <a:rPr sz="950" b="0">
                <a:solidFill>
                  <a:srgbClr val="6B6558"/>
                </a:solidFill>
                <a:latin typeface="Segoe UI"/>
              </a:rPr>
              <a:t>New today: confirmed real RateHawk bookings now trigger automated emails -- the guest gets their voucher PDF, the business team gets the invoice PDF (Resend). The business recipient is currently hardcoded to Ray's own address as a placeholder, not a real shared team inbox -- needs to move before this is production-ready.</a:t>
            </a:r>
          </a:p>
        </p:txBody>
      </p:sp>
      <p:sp>
        <p:nvSpPr>
          <p:cNvPr id="22" name="Rounded Rectangle 21"/>
          <p:cNvSpPr/>
          <p:nvPr/>
        </p:nvSpPr>
        <p:spPr>
          <a:xfrm>
            <a:off x="10640822" y="5447284"/>
            <a:ext cx="943610" cy="182880"/>
          </a:xfrm>
          <a:prstGeom prst="roundRect">
            <a:avLst>
              <a:gd name="adj" fmla="val 50000"/>
            </a:avLst>
          </a:prstGeom>
          <a:solidFill>
            <a:srgbClr val="FBEE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750" b="1">
                <a:solidFill>
                  <a:srgbClr val="B8790A"/>
                </a:solidFill>
                <a:latin typeface="Segoe UI Semibold"/>
              </a:rPr>
              <a:t>PLACEHOLDER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extBox 1"/>
          <p:cNvSpPr txBox="1"/>
          <p:nvPr/>
        </p:nvSpPr>
        <p:spPr>
          <a:xfrm>
            <a:off x="502920" y="457200"/>
            <a:ext cx="11185855" cy="320040"/>
          </a:xfrm>
          <a:prstGeom prst="rect">
            <a:avLst/>
          </a:prstGeom>
          <a:noFill/>
        </p:spPr>
        <p:txBody>
          <a:bodyPr wrap="square" lIns="0" tIns="0" rIns="0" bIns="0" anchor="t">
            <a:spAutoFit/>
          </a:bodyPr>
          <a:lstStyle/>
          <a:p>
            <a:pPr algn="l">
              <a:spcAft>
                <a:spcPts val="0"/>
              </a:spcAft>
            </a:pPr>
            <a:r>
              <a:rPr sz="1200" b="1">
                <a:solidFill>
                  <a:srgbClr val="7A3E0F"/>
                </a:solidFill>
                <a:latin typeface="Segoe UI"/>
              </a:rPr>
              <a:t>14  —  STILL OPEN</a:t>
            </a:r>
          </a:p>
        </p:txBody>
      </p:sp>
      <p:sp>
        <p:nvSpPr>
          <p:cNvPr id="3" name="TextBox 2"/>
          <p:cNvSpPr txBox="1"/>
          <p:nvPr/>
        </p:nvSpPr>
        <p:spPr>
          <a:xfrm>
            <a:off x="502920" y="749808"/>
            <a:ext cx="11185855" cy="415498"/>
          </a:xfrm>
          <a:prstGeom prst="rect">
            <a:avLst/>
          </a:prstGeom>
          <a:noFill/>
        </p:spPr>
        <p:txBody>
          <a:bodyPr wrap="square" lIns="0" tIns="0" rIns="0" bIns="0" anchor="t">
            <a:spAutoFit/>
          </a:bodyPr>
          <a:lstStyle/>
          <a:p>
            <a:pPr algn="l">
              <a:spcAft>
                <a:spcPts val="0"/>
              </a:spcAft>
            </a:pPr>
            <a:r>
              <a:rPr sz="2700" b="1">
                <a:solidFill>
                  <a:srgbClr val="1A1A2E"/>
                </a:solidFill>
                <a:latin typeface="Segoe UI Semibold"/>
              </a:rPr>
              <a:t>What's still genuinely open, and who owns it</a:t>
            </a:r>
            <a:endParaRPr sz="2700" b="1" dirty="0">
              <a:solidFill>
                <a:srgbClr val="1A1A2E"/>
              </a:solidFill>
              <a:latin typeface="Segoe UI Semibold"/>
            </a:endParaRPr>
          </a:p>
        </p:txBody>
      </p:sp>
      <p:sp>
        <p:nvSpPr>
          <p:cNvPr id="4" name="TextBox 3"/>
          <p:cNvSpPr txBox="1"/>
          <p:nvPr/>
        </p:nvSpPr>
        <p:spPr>
          <a:xfrm>
            <a:off x="502920" y="1417320"/>
            <a:ext cx="10800000" cy="502920"/>
          </a:xfrm>
          <a:prstGeom prst="rect">
            <a:avLst/>
          </a:prstGeom>
          <a:noFill/>
        </p:spPr>
        <p:txBody>
          <a:bodyPr wrap="square" lIns="0" tIns="0" rIns="0" bIns="0" anchor="t">
            <a:spAutoFit/>
          </a:bodyPr>
          <a:lstStyle/>
          <a:p>
            <a:pPr algn="l">
              <a:spcAft>
                <a:spcPts val="0"/>
              </a:spcAft>
            </a:pPr>
            <a:r>
              <a:rPr sz="1350" b="0">
                <a:solidFill>
                  <a:srgbClr val="6B6558"/>
                </a:solidFill>
                <a:latin typeface="Segoe UI"/>
              </a:rPr>
              <a:t>The strategic risks are on the Risks slide. This is the operational punch list.</a:t>
            </a:r>
          </a:p>
        </p:txBody>
      </p:sp>
      <p:sp>
        <p:nvSpPr>
          <p:cNvPr id="5" name="TextBox 4"/>
          <p:cNvSpPr txBox="1"/>
          <p:nvPr/>
        </p:nvSpPr>
        <p:spPr>
          <a:xfrm>
            <a:off x="502920" y="6528816"/>
            <a:ext cx="7315200" cy="274320"/>
          </a:xfrm>
          <a:prstGeom prst="rect">
            <a:avLst/>
          </a:prstGeom>
          <a:noFill/>
        </p:spPr>
        <p:txBody>
          <a:bodyPr wrap="square" lIns="0" tIns="0" rIns="0" bIns="0" anchor="t">
            <a:spAutoFit/>
          </a:bodyPr>
          <a:lstStyle/>
          <a:p>
            <a:pPr algn="l">
              <a:spcAft>
                <a:spcPts val="0"/>
              </a:spcAft>
            </a:pPr>
            <a:r>
              <a:rPr sz="900" b="0">
                <a:solidFill>
                  <a:srgbClr val="9B9384"/>
                </a:solidFill>
                <a:latin typeface="Segoe UI"/>
              </a:rPr>
              <a:t>BALKANEA MOBILE  —  SANDBOX / TEST READINESS</a:t>
            </a:r>
          </a:p>
        </p:txBody>
      </p:sp>
      <p:sp>
        <p:nvSpPr>
          <p:cNvPr id="6" name="TextBox 5"/>
          <p:cNvSpPr txBox="1"/>
          <p:nvPr/>
        </p:nvSpPr>
        <p:spPr>
          <a:xfrm>
            <a:off x="10774375" y="6528816"/>
            <a:ext cx="914400" cy="274320"/>
          </a:xfrm>
          <a:prstGeom prst="rect">
            <a:avLst/>
          </a:prstGeom>
          <a:noFill/>
        </p:spPr>
        <p:txBody>
          <a:bodyPr wrap="square" lIns="0" tIns="0" rIns="0" bIns="0" anchor="t">
            <a:spAutoFit/>
          </a:bodyPr>
          <a:lstStyle/>
          <a:p>
            <a:pPr algn="r">
              <a:spcAft>
                <a:spcPts val="0"/>
              </a:spcAft>
            </a:pPr>
            <a:r>
              <a:rPr sz="900" b="0">
                <a:solidFill>
                  <a:srgbClr val="9B9384"/>
                </a:solidFill>
                <a:latin typeface="Segoe UI"/>
              </a:rPr>
              <a:t>15</a:t>
            </a:r>
          </a:p>
        </p:txBody>
      </p:sp>
      <p:sp>
        <p:nvSpPr>
          <p:cNvPr id="7" name="Rounded Rectangle 6"/>
          <p:cNvSpPr/>
          <p:nvPr/>
        </p:nvSpPr>
        <p:spPr>
          <a:xfrm>
            <a:off x="502920" y="2148840"/>
            <a:ext cx="11185855" cy="954278"/>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 y="2289144"/>
            <a:ext cx="4000000" cy="807974"/>
          </a:xfrm>
          <a:prstGeom prst="rect">
            <a:avLst/>
          </a:prstGeom>
          <a:noFill/>
        </p:spPr>
        <p:txBody>
          <a:bodyPr wrap="square" lIns="0" tIns="0" rIns="0" bIns="0" anchor="t">
            <a:spAutoFit/>
          </a:bodyPr>
          <a:lstStyle/>
          <a:p>
            <a:pPr algn="l">
              <a:spcAft>
                <a:spcPts val="0"/>
              </a:spcAft>
            </a:pPr>
            <a:r>
              <a:rPr sz="1400" b="1">
                <a:solidFill>
                  <a:srgbClr val="1A1A2E"/>
                </a:solidFill>
                <a:latin typeface="Segoe UI Semibold"/>
              </a:rPr>
              <a:t>Apple + Google Play accounts</a:t>
            </a:r>
          </a:p>
        </p:txBody>
      </p:sp>
      <p:sp>
        <p:nvSpPr>
          <p:cNvPr id="9" name="TextBox 8"/>
          <p:cNvSpPr txBox="1"/>
          <p:nvPr/>
        </p:nvSpPr>
        <p:spPr>
          <a:xfrm>
            <a:off x="4802920" y="2289144"/>
            <a:ext cx="6600000" cy="186077"/>
          </a:xfrm>
          <a:prstGeom prst="rect">
            <a:avLst/>
          </a:prstGeom>
          <a:noFill/>
        </p:spPr>
        <p:txBody>
          <a:bodyPr wrap="square" lIns="0" tIns="0" rIns="0" bIns="0" anchor="t">
            <a:spAutoFit/>
          </a:bodyPr>
          <a:lstStyle/>
          <a:p>
            <a:pPr algn="l">
              <a:lnSpc>
                <a:spcPct val="115000"/>
              </a:lnSpc>
              <a:spcAft>
                <a:spcPts val="0"/>
              </a:spcAft>
            </a:pPr>
            <a:r>
              <a:rPr sz="1150" b="0">
                <a:solidFill>
                  <a:srgbClr val="6B6558"/>
                </a:solidFill>
                <a:latin typeface="Segoe UI"/>
              </a:rPr>
              <a:t>Apple: native Sign-in code shipped 8/5, still needs a Services ID + signed JWT from Ray's own Apple Developer account. Google Play: developer account still not created (confirmed not started as of the July 24 call) -- account verification itself takes calendar time independent of app readiness. Both Ray-owned, not build-gated.</a:t>
            </a:r>
          </a:p>
        </p:txBody>
      </p:sp>
      <p:sp>
        <p:nvSpPr>
          <p:cNvPr id="10" name="Rounded Rectangle 9"/>
          <p:cNvSpPr/>
          <p:nvPr/>
        </p:nvSpPr>
        <p:spPr>
          <a:xfrm>
            <a:off x="502920" y="3231134"/>
            <a:ext cx="11185855" cy="954278"/>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 y="3371438"/>
            <a:ext cx="4000000" cy="807974"/>
          </a:xfrm>
          <a:prstGeom prst="rect">
            <a:avLst/>
          </a:prstGeom>
          <a:noFill/>
        </p:spPr>
        <p:txBody>
          <a:bodyPr wrap="square" lIns="0" tIns="0" rIns="0" bIns="0" anchor="t">
            <a:spAutoFit/>
          </a:bodyPr>
          <a:lstStyle/>
          <a:p>
            <a:pPr algn="l">
              <a:spcAft>
                <a:spcPts val="0"/>
              </a:spcAft>
            </a:pPr>
            <a:r>
              <a:rPr sz="1400" b="1">
                <a:solidFill>
                  <a:srgbClr val="1A1A2E"/>
                </a:solidFill>
                <a:latin typeface="Segoe UI Semibold"/>
              </a:rPr>
              <a:t>Bankart mobile-responsive checkout</a:t>
            </a:r>
          </a:p>
        </p:txBody>
      </p:sp>
      <p:sp>
        <p:nvSpPr>
          <p:cNvPr id="12" name="TextBox 11"/>
          <p:cNvSpPr txBox="1"/>
          <p:nvPr/>
        </p:nvSpPr>
        <p:spPr>
          <a:xfrm>
            <a:off x="4802920" y="3371438"/>
            <a:ext cx="6600000" cy="807974"/>
          </a:xfrm>
          <a:prstGeom prst="rect">
            <a:avLst/>
          </a:prstGeom>
          <a:noFill/>
        </p:spPr>
        <p:txBody>
          <a:bodyPr wrap="square" lIns="0" tIns="0" rIns="0" bIns="0" anchor="t">
            <a:spAutoFit/>
          </a:bodyPr>
          <a:lstStyle/>
          <a:p>
            <a:pPr algn="l">
              <a:lnSpc>
                <a:spcPct val="115000"/>
              </a:lnSpc>
              <a:spcAft>
                <a:spcPts val="0"/>
              </a:spcAft>
            </a:pPr>
            <a:r>
              <a:rPr sz="1150" b="0">
                <a:solidFill>
                  <a:srgbClr val="6B6558"/>
                </a:solidFill>
                <a:latin typeface="Segoe UI"/>
              </a:rPr>
              <a:t>Bankart's hosted card page isn't mobile-responsive today, and is missing billing-address and cardholder-name fields. Written spec sent to Hristijan 8/25 (design tokens, autofill attributes, field list). On his side to build.</a:t>
            </a:r>
          </a:p>
        </p:txBody>
      </p:sp>
      <p:sp>
        <p:nvSpPr>
          <p:cNvPr id="13" name="Rounded Rectangle 12"/>
          <p:cNvSpPr/>
          <p:nvPr/>
        </p:nvSpPr>
        <p:spPr>
          <a:xfrm>
            <a:off x="502920" y="4313428"/>
            <a:ext cx="11185855" cy="954278"/>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 y="4453732"/>
            <a:ext cx="4000000" cy="807974"/>
          </a:xfrm>
          <a:prstGeom prst="rect">
            <a:avLst/>
          </a:prstGeom>
          <a:noFill/>
        </p:spPr>
        <p:txBody>
          <a:bodyPr wrap="square" lIns="0" tIns="0" rIns="0" bIns="0" anchor="t">
            <a:spAutoFit/>
          </a:bodyPr>
          <a:lstStyle/>
          <a:p>
            <a:pPr algn="l">
              <a:spcAft>
                <a:spcPts val="0"/>
              </a:spcAft>
            </a:pPr>
            <a:r>
              <a:rPr sz="1400" b="1">
                <a:solidFill>
                  <a:srgbClr val="1A1A2E"/>
                </a:solidFill>
                <a:latin typeface="Segoe UI Semibold"/>
              </a:rPr>
              <a:t>Admin portal WooCommerce-parity gap</a:t>
            </a:r>
          </a:p>
        </p:txBody>
      </p:sp>
      <p:sp>
        <p:nvSpPr>
          <p:cNvPr id="15" name="TextBox 14"/>
          <p:cNvSpPr txBox="1"/>
          <p:nvPr/>
        </p:nvSpPr>
        <p:spPr>
          <a:xfrm>
            <a:off x="4802920" y="4453732"/>
            <a:ext cx="6600000" cy="807974"/>
          </a:xfrm>
          <a:prstGeom prst="rect">
            <a:avLst/>
          </a:prstGeom>
          <a:noFill/>
        </p:spPr>
        <p:txBody>
          <a:bodyPr wrap="square" lIns="0" tIns="0" rIns="0" bIns="0" anchor="t">
            <a:spAutoFit/>
          </a:bodyPr>
          <a:lstStyle/>
          <a:p>
            <a:pPr algn="l">
              <a:lnSpc>
                <a:spcPct val="115000"/>
              </a:lnSpc>
              <a:spcAft>
                <a:spcPts val="0"/>
              </a:spcAft>
            </a:pPr>
            <a:r>
              <a:rPr sz="1150" b="0">
                <a:solidFill>
                  <a:srgbClr val="6B6558"/>
                </a:solidFill>
                <a:latin typeface="Segoe UI"/>
              </a:rPr>
              <a:t>admin-payments.html covers bookings + payment state, with Capture/Void stubbed -- but doesn't yet cover WooCommerce's refunds/cancellations/invoicing. Gap inventoried, not yet built.</a:t>
            </a:r>
          </a:p>
        </p:txBody>
      </p:sp>
      <p:sp>
        <p:nvSpPr>
          <p:cNvPr id="16" name="Rounded Rectangle 15"/>
          <p:cNvSpPr/>
          <p:nvPr/>
        </p:nvSpPr>
        <p:spPr>
          <a:xfrm>
            <a:off x="502920" y="5395722"/>
            <a:ext cx="11185855" cy="954278"/>
          </a:xfrm>
          <a:prstGeom prst="roundRect">
            <a:avLst>
              <a:gd name="adj" fmla="val 8000"/>
            </a:avLst>
          </a:prstGeom>
          <a:solidFill>
            <a:srgbClr val="FFFFFF"/>
          </a:solidFill>
          <a:ln w="9525">
            <a:solidFill>
              <a:srgbClr val="E7E0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 y="5536026"/>
            <a:ext cx="4000000" cy="215444"/>
          </a:xfrm>
          <a:prstGeom prst="rect">
            <a:avLst/>
          </a:prstGeom>
          <a:noFill/>
        </p:spPr>
        <p:txBody>
          <a:bodyPr wrap="square" lIns="0" tIns="0" rIns="0" bIns="0" anchor="t">
            <a:spAutoFit/>
          </a:bodyPr>
          <a:lstStyle/>
          <a:p>
            <a:pPr algn="l">
              <a:spcAft>
                <a:spcPts val="0"/>
              </a:spcAft>
            </a:pPr>
            <a:r>
              <a:rPr sz="1400" b="1">
                <a:solidFill>
                  <a:srgbClr val="1A1A2E"/>
                </a:solidFill>
                <a:latin typeface="Segoe UI Semibold"/>
              </a:rPr>
              <a:t>deliverables to unblock this week</a:t>
            </a:r>
          </a:p>
        </p:txBody>
      </p:sp>
      <p:sp>
        <p:nvSpPr>
          <p:cNvPr id="18" name="TextBox 17"/>
          <p:cNvSpPr txBox="1"/>
          <p:nvPr/>
        </p:nvSpPr>
        <p:spPr>
          <a:xfrm>
            <a:off x="4802920" y="5536026"/>
            <a:ext cx="6600000" cy="186077"/>
          </a:xfrm>
          <a:prstGeom prst="rect">
            <a:avLst/>
          </a:prstGeom>
          <a:noFill/>
        </p:spPr>
        <p:txBody>
          <a:bodyPr wrap="square" lIns="0" tIns="0" rIns="0" bIns="0" anchor="t">
            <a:spAutoFit/>
          </a:bodyPr>
          <a:lstStyle/>
          <a:p>
            <a:pPr algn="l">
              <a:lnSpc>
                <a:spcPct val="115000"/>
              </a:lnSpc>
              <a:spcAft>
                <a:spcPts val="0"/>
              </a:spcAft>
            </a:pPr>
            <a:r>
              <a:rPr sz="1150" b="0">
                <a:solidFill>
                  <a:srgbClr val="6B6558"/>
                </a:solidFill>
                <a:latin typeface="Segoe UI"/>
              </a:rPr>
              <a:t>From Ray: Apple Services ID/JWT, Google Play account. From Hristijan: mobile-responsive fix + billing/cardholder-name fields (spec sent 8/25). From Claude: RateHawk wiring + multi-room build are both done -- next is RateHawk's certification questionnaire.</a:t>
            </a:r>
          </a:p>
        </p:txBody>
      </p:sp>
      <p:sp>
        <p:nvSpPr>
          <p:cNvPr id="19" name="TextBox 18"/>
          <p:cNvSpPr txBox="1"/>
          <p:nvPr/>
        </p:nvSpPr>
        <p:spPr>
          <a:xfrm>
            <a:off x="502919" y="6345556"/>
            <a:ext cx="11185855" cy="280000"/>
          </a:xfrm>
          <a:prstGeom prst="rect">
            <a:avLst/>
          </a:prstGeom>
          <a:noFill/>
        </p:spPr>
        <p:txBody>
          <a:bodyPr wrap="square" lIns="0" tIns="0" rIns="0" bIns="0" anchor="t">
            <a:spAutoFit/>
          </a:bodyPr>
          <a:lstStyle/>
          <a:p>
            <a:pPr algn="l">
              <a:spcAft>
                <a:spcPts val="0"/>
              </a:spcAft>
            </a:pPr>
            <a:r>
              <a:rPr sz="950" b="1">
                <a:solidFill>
                  <a:srgbClr val="9B9384"/>
                </a:solidFill>
                <a:latin typeface="Segoe UI"/>
              </a:rPr>
              <a:t>Store submission, once ready: no Google Play account yet · Apple review ~3–5 days · Google's 14-day closed-testing minimum · RateHawk cert runs in parallel.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322</TotalTime>
  <Words>2909</Words>
  <Application>Microsoft Office PowerPoint</Application>
  <PresentationFormat>Widescreen</PresentationFormat>
  <Paragraphs>215</Paragraphs>
  <Slides>12</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Ray Weale</dc:creator>
  <cp:keywords/>
  <dc:description>generated using python-pptx</dc:description>
  <cp:lastModifiedBy>Ray Weale</cp:lastModifiedBy>
  <cp:revision>11</cp:revision>
  <dcterms:created xsi:type="dcterms:W3CDTF">2013-01-27T09:14:16Z</dcterms:created>
  <dcterms:modified xsi:type="dcterms:W3CDTF">2026-08-21T14:01:06Z</dcterms:modified>
  <cp:category/>
</cp:coreProperties>
</file>