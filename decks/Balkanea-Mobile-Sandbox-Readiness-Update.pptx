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7" r:id="rId6"/>
    <p:sldId id="268" r:id="rId7"/>
    <p:sldId id="265" r:id="rId8"/>
    <p:sldId id="260" r:id="rId9"/>
    <p:sldId id="264" r:id="rId10"/>
    <p:sldId id="261" r:id="rId11"/>
    <p:sldId id="262" r:id="rId12"/>
    <p:sldId id="263"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6" d="100"/>
          <a:sy n="96" d="100"/>
        </p:scale>
        <p:origin x="10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What's changed since the last review</a:t>
            </a:r>
          </a:p>
          <a:p>
            <a:pPr algn="l">
              <a:lnSpc>
                <a:spcPct val="105000"/>
              </a:lnSpc>
              <a:spcAft>
                <a:spcPts val="0"/>
              </a:spcAft>
            </a:pPr>
            <a:r>
              <a:rPr sz="4000" b="1">
                <a:solidFill>
                  <a:srgbClr val="FBF6EE"/>
                </a:solidFill>
                <a:latin typeface="Segoe UI Semibold"/>
              </a:rPr>
              <a:t>and what still needs a decision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Hotel database is live, RateHawk sandbox is being provisioned, and payments hit a</a:t>
            </a:r>
          </a:p>
          <a:p>
            <a:pPr algn="l">
              <a:lnSpc>
                <a:spcPct val="120000"/>
              </a:lnSpc>
              <a:spcAft>
                <a:spcPts val="0"/>
              </a:spcAft>
            </a:pPr>
            <a:r>
              <a:rPr sz="1450" b="0">
                <a:solidFill>
                  <a:srgbClr val="C9D9D3"/>
                </a:solidFill>
                <a:latin typeface="Segoe UI"/>
              </a:rPr>
              <a:t>new architecture call — prepared for review with Dragana &amp; Hristijan</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a:t>
            </a:r>
            <a:r>
              <a:rPr sz="1150" b="0">
                <a:solidFill>
                  <a:srgbClr val="E6EFEC"/>
                </a:solidFill>
                <a:latin typeface="Segoe UI"/>
              </a:rPr>
              <a:t>TestFlight (v1.0.7, build 11)      </a:t>
            </a:r>
            <a:r>
              <a:rPr sz="1150" b="1">
                <a:solidFill>
                  <a:srgbClr val="9FB8AE"/>
                </a:solidFill>
                <a:latin typeface="Segoe UI"/>
              </a:rPr>
              <a:t>Systems:  </a:t>
            </a:r>
            <a:r>
              <a:rPr sz="1150" b="0">
                <a:solidFill>
                  <a:srgbClr val="E6EFEC"/>
                </a:solidFill>
                <a:latin typeface="Segoe UI"/>
              </a:rPr>
              <a:t>RateHawk · Bank checkout (architecture TBD) · Supabase auth      </a:t>
            </a:r>
            <a:r>
              <a:rPr sz="1150" b="1">
                <a:solidFill>
                  <a:srgbClr val="9FB8AE"/>
                </a:solidFill>
                <a:latin typeface="Segoe UI"/>
              </a:rPr>
              <a:t>Prepared:  </a:t>
            </a:r>
            <a:r>
              <a:rPr sz="1150" b="0">
                <a:solidFill>
                  <a:srgbClr val="E6EFEC"/>
                </a:solidFill>
                <a:latin typeface="Segoe UI"/>
              </a:rPr>
              <a:t>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Hotel database is live; sandbox key issued, likely needs reactivating</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hotel-DB half of this is done. The sandbox key landed 8/17 but calls fail with 401 — checking RateHawk’s own docs points more toward an inactive key than IP whitelisting. Search-flow decision and booking endpoints still ahead.</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BLOCKED</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Sandbox key issued (ID 954) — first calls blocked, not by bad credentials</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Received 8/17 under the “balkanea-mobile” Office (contract slug accepted by RateHawk 8/14): Key ID 954 + access token. Live calls return 401, key recognized but token unmatched — checked RateHawk’s own docs since, whitelisting reads as a certification-stage item, not a sandbox gate, so this looks more like an inactive key. See slide 5.</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 round trip is now ~215ms of pure network latency, not DB work.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Search-flow now settled by RateHawk's own rules; booking endpoints + 2 missing test hotels still to build</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Not actually a choice anymore: </a:t>
            </a:r>
            <a:r>
              <a:rPr sz="1050" b="0" dirty="0" err="1">
                <a:solidFill>
                  <a:srgbClr val="6B6558"/>
                </a:solidFill>
                <a:latin typeface="Segoe UI"/>
              </a:rPr>
              <a:t>RateHawk's</a:t>
            </a:r>
            <a:r>
              <a:rPr sz="1050" b="0" dirty="0">
                <a:solidFill>
                  <a:srgbClr val="6B6558"/>
                </a:solidFill>
                <a:latin typeface="Segoe UI"/>
              </a:rPr>
              <a:t> docs prohibit calling the Content API live during search, so DB-first is required, not just faster. None of the room-rate, pre-book, or create-order calls exist yet. New: certification needs 2 specific test hotels (Conrad LA + one other) that aren't in our DB — confirmed</a:t>
            </a:r>
            <a:r>
              <a:rPr lang="en-US" sz="1050" b="0" dirty="0">
                <a:solidFill>
                  <a:srgbClr val="6B6558"/>
                </a:solidFill>
                <a:latin typeface="Segoe UI"/>
              </a:rPr>
              <a:t>.</a:t>
            </a:r>
            <a:r>
              <a:rPr sz="1050" b="0" dirty="0">
                <a:solidFill>
                  <a:srgbClr val="6B6558"/>
                </a:solidFill>
                <a:latin typeface="Segoe UI"/>
              </a:rPr>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works end-to-end — confirmed live with NLB</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Confirmed 8/20: a real test-card payment cleared through NLB via Bankart, from the app's booking flow to a synced Salesforce lead. What's left: making Bankart's hosted card page render correctly on phones and tablets.</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 LIVE</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Balkanea Payment Bridge — built and confirmed working end-to-end</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Hristijan's ‘Balkanea Payment Bridge’ plugin (signed HMAC links, Bankart Gateway V3 hosted card form, async Notify webhook) is live. Confirmed 8/20: a real test-card payment cleared through NLB, initiated from the actual mobile app booking flow — 3DS, async postback, booking auto-confirm, and Salesforce sync all verified working end-to-end.</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Outstanding: mobile-responsive card page</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sz="1050">
                <a:solidFill>
                  <a:srgbClr val="6B6558"/>
                </a:solidFill>
                <a:latin typeface="Segoe UI"/>
              </a:rPr>
              <a:t>Bankart's hosted card page isn't mobile-responsive today — input fields misalign on phone and tablet, iOS and Android. That's the one open item blocking a clean guest-facing checkout; on Hristijan's side to fix.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184666"/>
          </a:xfrm>
          <a:prstGeom prst="rect">
            <a:avLst/>
          </a:prstGeom>
          <a:noFill/>
        </p:spPr>
        <p:txBody>
          <a:bodyPr wrap="square" lIns="0" tIns="0" rIns="0" bIns="0">
            <a:spAutoFit/>
          </a:bodyPr>
          <a:lstStyle/>
          <a:p>
            <a:pPr algn="l"/>
            <a:r>
              <a:rPr sz="1200" b="1" i="0" dirty="0">
                <a:solidFill>
                  <a:srgbClr val="7A3E0F"/>
                </a:solidFill>
                <a:latin typeface="Segoe UI Semibold"/>
              </a:rPr>
              <a:t>05  —  PROXY: </a:t>
            </a:r>
            <a:r>
              <a:rPr lang="en-US" sz="1200" b="1" dirty="0">
                <a:solidFill>
                  <a:srgbClr val="7A3E0F"/>
                </a:solidFill>
                <a:latin typeface="Segoe UI Semibold"/>
              </a:rPr>
              <a:t>Proposal</a:t>
            </a:r>
            <a:r>
              <a:rPr sz="1200" b="1" i="0" dirty="0">
                <a:solidFill>
                  <a:srgbClr val="7A3E0F"/>
                </a:solidFill>
                <a:latin typeface="Segoe UI Semibold"/>
              </a:rPr>
              <a:t> VS AWS</a:t>
            </a:r>
          </a:p>
        </p:txBody>
      </p:sp>
      <p:sp>
        <p:nvSpPr>
          <p:cNvPr id="3" name="TextBox 2"/>
          <p:cNvSpPr txBox="1"/>
          <p:nvPr/>
        </p:nvSpPr>
        <p:spPr>
          <a:xfrm>
            <a:off x="502920" y="749808"/>
            <a:ext cx="11183112" cy="384721"/>
          </a:xfrm>
          <a:prstGeom prst="rect">
            <a:avLst/>
          </a:prstGeom>
          <a:noFill/>
        </p:spPr>
        <p:txBody>
          <a:bodyPr wrap="square" lIns="0" tIns="0" rIns="0" bIns="0">
            <a:spAutoFit/>
          </a:bodyPr>
          <a:lstStyle/>
          <a:p>
            <a:pPr algn="l"/>
            <a:r>
              <a:rPr sz="2500" b="1" i="0" dirty="0">
                <a:solidFill>
                  <a:srgbClr val="1A1A2E"/>
                </a:solidFill>
                <a:latin typeface="Segoe UI Semibold"/>
              </a:rPr>
              <a:t>proxy proposal vs. what</a:t>
            </a:r>
            <a:r>
              <a:rPr lang="en-US" sz="2500" b="1" i="0" dirty="0">
                <a:solidFill>
                  <a:srgbClr val="1A1A2E"/>
                </a:solidFill>
                <a:latin typeface="Segoe UI Semibold"/>
              </a:rPr>
              <a:t>’s</a:t>
            </a:r>
            <a:r>
              <a:rPr sz="2500" b="1" i="0" dirty="0">
                <a:solidFill>
                  <a:srgbClr val="1A1A2E"/>
                </a:solidFill>
                <a:latin typeface="Segoe UI Semibold"/>
              </a:rPr>
              <a:t> built on AWS</a:t>
            </a:r>
          </a:p>
        </p:txBody>
      </p:sp>
      <p:sp>
        <p:nvSpPr>
          <p:cNvPr id="4" name="TextBox 3"/>
          <p:cNvSpPr txBox="1"/>
          <p:nvPr/>
        </p:nvSpPr>
        <p:spPr>
          <a:xfrm>
            <a:off x="502920" y="1335024"/>
            <a:ext cx="10799064" cy="192360"/>
          </a:xfrm>
          <a:prstGeom prst="rect">
            <a:avLst/>
          </a:prstGeom>
          <a:noFill/>
        </p:spPr>
        <p:txBody>
          <a:bodyPr wrap="square" lIns="0" tIns="0" rIns="0" bIns="0">
            <a:spAutoFit/>
          </a:bodyPr>
          <a:lstStyle/>
          <a:p>
            <a:pPr algn="l"/>
            <a:r>
              <a:rPr sz="1250" b="0" i="0" dirty="0">
                <a:solidFill>
                  <a:srgbClr val="6B6558"/>
                </a:solidFill>
                <a:latin typeface="Segoe UI"/>
              </a:rPr>
              <a:t>Scoped only to the static-IP requirement for </a:t>
            </a:r>
            <a:r>
              <a:rPr sz="1250" b="0" i="0" dirty="0" err="1">
                <a:solidFill>
                  <a:srgbClr val="6B6558"/>
                </a:solidFill>
                <a:latin typeface="Segoe UI"/>
              </a:rPr>
              <a:t>RateHawk</a:t>
            </a:r>
            <a:r>
              <a:rPr sz="1250" b="0" i="0" dirty="0">
                <a:solidFill>
                  <a:srgbClr val="6B6558"/>
                </a:solidFill>
                <a:latin typeface="Segoe UI"/>
              </a:rPr>
              <a:t> ; both columns are real options.</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i="0">
                <a:solidFill>
                  <a:srgbClr val="9B9384"/>
                </a:solidFill>
                <a:latin typeface="Segoe UI"/>
              </a:rPr>
              <a:t>6</a:t>
            </a:r>
          </a:p>
        </p:txBody>
      </p:sp>
      <p:sp>
        <p:nvSpPr>
          <p:cNvPr id="7" name="TextBox 6"/>
          <p:cNvSpPr txBox="1"/>
          <p:nvPr/>
        </p:nvSpPr>
        <p:spPr>
          <a:xfrm>
            <a:off x="2468880" y="1773935"/>
            <a:ext cx="4480560" cy="161583"/>
          </a:xfrm>
          <a:prstGeom prst="rect">
            <a:avLst/>
          </a:prstGeom>
          <a:noFill/>
        </p:spPr>
        <p:txBody>
          <a:bodyPr wrap="square" lIns="0" tIns="0" rIns="0" bIns="0">
            <a:spAutoFit/>
          </a:bodyPr>
          <a:lstStyle/>
          <a:p>
            <a:pPr algn="l"/>
            <a:r>
              <a:rPr sz="1050" b="1" i="0" dirty="0">
                <a:solidFill>
                  <a:srgbClr val="7A3E0F"/>
                </a:solidFill>
                <a:latin typeface="Segoe UI Semibold"/>
              </a:rPr>
              <a:t>PROXY PROPOSAL</a:t>
            </a:r>
          </a:p>
        </p:txBody>
      </p:sp>
      <p:sp>
        <p:nvSpPr>
          <p:cNvPr id="8" name="TextBox 7"/>
          <p:cNvSpPr txBox="1"/>
          <p:nvPr/>
        </p:nvSpPr>
        <p:spPr>
          <a:xfrm>
            <a:off x="7114032" y="1773935"/>
            <a:ext cx="4480560" cy="256032"/>
          </a:xfrm>
          <a:prstGeom prst="rect">
            <a:avLst/>
          </a:prstGeom>
          <a:noFill/>
        </p:spPr>
        <p:txBody>
          <a:bodyPr wrap="square" lIns="0" tIns="0" rIns="0" bIns="0">
            <a:spAutoFit/>
          </a:bodyPr>
          <a:lstStyle/>
          <a:p>
            <a:pPr algn="l"/>
            <a:r>
              <a:rPr sz="1050" b="1" i="0">
                <a:solidFill>
                  <a:srgbClr val="7A3E0F"/>
                </a:solidFill>
                <a:latin typeface="Segoe UI Semibold"/>
              </a:rPr>
              <a:t>OUR AWS BUILD (LIVE TODAY)</a:t>
            </a:r>
          </a:p>
        </p:txBody>
      </p:sp>
      <p:sp>
        <p:nvSpPr>
          <p:cNvPr id="9" name="Rounded Rectangle 8"/>
          <p:cNvSpPr/>
          <p:nvPr/>
        </p:nvSpPr>
        <p:spPr>
          <a:xfrm>
            <a:off x="502920" y="2084831"/>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920" y="2176271"/>
            <a:ext cx="1762760" cy="457200"/>
          </a:xfrm>
          <a:prstGeom prst="rect">
            <a:avLst/>
          </a:prstGeom>
          <a:noFill/>
        </p:spPr>
        <p:txBody>
          <a:bodyPr wrap="square" lIns="0" tIns="0" rIns="0" bIns="0">
            <a:spAutoFit/>
          </a:bodyPr>
          <a:lstStyle/>
          <a:p>
            <a:pPr algn="l"/>
            <a:r>
              <a:rPr sz="1100" b="1" i="0">
                <a:solidFill>
                  <a:srgbClr val="1A1A2E"/>
                </a:solidFill>
                <a:latin typeface="Segoe UI Semibold"/>
              </a:rPr>
              <a:t>COST</a:t>
            </a:r>
          </a:p>
        </p:txBody>
      </p:sp>
      <p:sp>
        <p:nvSpPr>
          <p:cNvPr id="11" name="TextBox 10"/>
          <p:cNvSpPr txBox="1"/>
          <p:nvPr/>
        </p:nvSpPr>
        <p:spPr>
          <a:xfrm>
            <a:off x="2595880" y="2157983"/>
            <a:ext cx="4226560" cy="585216"/>
          </a:xfrm>
          <a:prstGeom prst="rect">
            <a:avLst/>
          </a:prstGeom>
          <a:noFill/>
        </p:spPr>
        <p:txBody>
          <a:bodyPr wrap="square" lIns="0" tIns="0" rIns="0" bIns="0">
            <a:spAutoFit/>
          </a:bodyPr>
          <a:lstStyle/>
          <a:p>
            <a:pPr algn="l"/>
            <a:r>
              <a:rPr sz="950" b="0" i="0" dirty="0">
                <a:solidFill>
                  <a:srgbClr val="6B6558"/>
                </a:solidFill>
                <a:latin typeface="Segoe UI"/>
              </a:rPr>
              <a:t>Not costed in his doc. As specified — VPS + Redis + eventual HA instance — realistically ~$20–50+/</a:t>
            </a:r>
            <a:r>
              <a:rPr sz="950" b="0" i="0" dirty="0" err="1">
                <a:solidFill>
                  <a:srgbClr val="6B6558"/>
                </a:solidFill>
                <a:latin typeface="Segoe UI"/>
              </a:rPr>
              <a:t>mo</a:t>
            </a:r>
            <a:r>
              <a:rPr sz="950" b="0" i="0" dirty="0">
                <a:solidFill>
                  <a:srgbClr val="6B6558"/>
                </a:solidFill>
                <a:latin typeface="Segoe UI"/>
              </a:rPr>
              <a:t>, plus unspecified engineering time to build it.</a:t>
            </a:r>
          </a:p>
        </p:txBody>
      </p:sp>
      <p:sp>
        <p:nvSpPr>
          <p:cNvPr id="12" name="TextBox 11"/>
          <p:cNvSpPr txBox="1"/>
          <p:nvPr/>
        </p:nvSpPr>
        <p:spPr>
          <a:xfrm>
            <a:off x="7241032" y="2157983"/>
            <a:ext cx="4226560" cy="438582"/>
          </a:xfrm>
          <a:prstGeom prst="rect">
            <a:avLst/>
          </a:prstGeom>
          <a:noFill/>
        </p:spPr>
        <p:txBody>
          <a:bodyPr wrap="square" lIns="0" tIns="0" rIns="0" bIns="0">
            <a:spAutoFit/>
          </a:bodyPr>
          <a:lstStyle/>
          <a:p>
            <a:r>
              <a:rPr sz="950" b="0" i="0" dirty="0">
                <a:solidFill>
                  <a:srgbClr val="2E6B57"/>
                </a:solidFill>
                <a:latin typeface="Segoe UI"/>
              </a:rPr>
              <a:t>~$5–8/</a:t>
            </a:r>
            <a:r>
              <a:rPr sz="950" b="0" i="0" dirty="0" err="1">
                <a:solidFill>
                  <a:srgbClr val="2E6B57"/>
                </a:solidFill>
                <a:latin typeface="Segoe UI"/>
              </a:rPr>
              <a:t>mo</a:t>
            </a:r>
            <a:r>
              <a:rPr sz="950" b="0" i="0" dirty="0">
                <a:solidFill>
                  <a:srgbClr val="2E6B57"/>
                </a:solidFill>
                <a:latin typeface="Segoe UI"/>
              </a:rPr>
              <a:t> (single small instance), $0 static IP, $0 TLS. Real, verified spend — not an estimate.</a:t>
            </a:r>
            <a:r>
              <a:rPr lang="en-US" sz="950" b="0" i="0" dirty="0">
                <a:solidFill>
                  <a:srgbClr val="2E6B57"/>
                </a:solidFill>
                <a:latin typeface="Segoe UI"/>
              </a:rPr>
              <a:t> </a:t>
            </a:r>
            <a:r>
              <a:rPr lang="en-US" sz="950" dirty="0">
                <a:solidFill>
                  <a:srgbClr val="6B6558"/>
                </a:solidFill>
                <a:latin typeface="Segoe UI"/>
              </a:rPr>
              <a:t>Redis rate-limiting, </a:t>
            </a:r>
            <a:r>
              <a:rPr lang="en-US" sz="950" dirty="0" err="1">
                <a:solidFill>
                  <a:srgbClr val="6B6558"/>
                </a:solidFill>
                <a:latin typeface="Segoe UI"/>
              </a:rPr>
              <a:t>BullMQ</a:t>
            </a:r>
            <a:r>
              <a:rPr lang="en-US" sz="950" dirty="0">
                <a:solidFill>
                  <a:srgbClr val="6B6558"/>
                </a:solidFill>
                <a:latin typeface="Segoe UI"/>
              </a:rPr>
              <a:t> queueing and HA (standby instance + auto-failover) +$14/month</a:t>
            </a:r>
            <a:endParaRPr sz="950" b="0" i="0" dirty="0">
              <a:solidFill>
                <a:srgbClr val="2E6B57"/>
              </a:solidFill>
              <a:latin typeface="Segoe UI"/>
            </a:endParaRPr>
          </a:p>
        </p:txBody>
      </p:sp>
      <p:sp>
        <p:nvSpPr>
          <p:cNvPr id="13" name="Rounded Rectangle 12"/>
          <p:cNvSpPr/>
          <p:nvPr/>
        </p:nvSpPr>
        <p:spPr>
          <a:xfrm>
            <a:off x="502920" y="2871215"/>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920" y="2962655"/>
            <a:ext cx="1762760" cy="457200"/>
          </a:xfrm>
          <a:prstGeom prst="rect">
            <a:avLst/>
          </a:prstGeom>
          <a:noFill/>
        </p:spPr>
        <p:txBody>
          <a:bodyPr wrap="square" lIns="0" tIns="0" rIns="0" bIns="0">
            <a:spAutoFit/>
          </a:bodyPr>
          <a:lstStyle/>
          <a:p>
            <a:pPr algn="l"/>
            <a:r>
              <a:rPr sz="1100" b="1" i="0">
                <a:solidFill>
                  <a:srgbClr val="1A1A2E"/>
                </a:solidFill>
                <a:latin typeface="Segoe UI Semibold"/>
              </a:rPr>
              <a:t>PERFORMANCE</a:t>
            </a:r>
          </a:p>
        </p:txBody>
      </p:sp>
      <p:sp>
        <p:nvSpPr>
          <p:cNvPr id="15" name="TextBox 14"/>
          <p:cNvSpPr txBox="1"/>
          <p:nvPr/>
        </p:nvSpPr>
        <p:spPr>
          <a:xfrm>
            <a:off x="2595880"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Designed for high scale from day one (Redis rate-limiting, </a:t>
            </a:r>
            <a:r>
              <a:rPr sz="950" b="0" i="0" dirty="0" err="1">
                <a:solidFill>
                  <a:srgbClr val="6B6558"/>
                </a:solidFill>
                <a:latin typeface="Segoe UI"/>
              </a:rPr>
              <a:t>BullMQ</a:t>
            </a:r>
            <a:r>
              <a:rPr sz="950" b="0" i="0" dirty="0">
                <a:solidFill>
                  <a:srgbClr val="6B6558"/>
                </a:solidFill>
                <a:latin typeface="Segoe UI"/>
              </a:rPr>
              <a:t> queueing). Higher ceiling, but unbuilt and untested</a:t>
            </a:r>
            <a:r>
              <a:rPr lang="en-US" sz="950" b="0" i="0" dirty="0">
                <a:solidFill>
                  <a:srgbClr val="6B6558"/>
                </a:solidFill>
                <a:latin typeface="Segoe UI"/>
              </a:rPr>
              <a:t>.</a:t>
            </a:r>
            <a:endParaRPr sz="950" b="0" i="0" dirty="0">
              <a:solidFill>
                <a:srgbClr val="6B6558"/>
              </a:solidFill>
              <a:latin typeface="Segoe UI"/>
            </a:endParaRPr>
          </a:p>
        </p:txBody>
      </p:sp>
      <p:sp>
        <p:nvSpPr>
          <p:cNvPr id="16" name="TextBox 15"/>
          <p:cNvSpPr txBox="1"/>
          <p:nvPr/>
        </p:nvSpPr>
        <p:spPr>
          <a:xfrm>
            <a:off x="7241032"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Single lightweight instance </a:t>
            </a:r>
            <a:r>
              <a:rPr lang="en-US" sz="950" dirty="0">
                <a:solidFill>
                  <a:srgbClr val="6B6558"/>
                </a:solidFill>
                <a:latin typeface="Segoe UI"/>
              </a:rPr>
              <a:t>with HA </a:t>
            </a:r>
            <a:r>
              <a:rPr sz="950" b="0" i="0" dirty="0">
                <a:solidFill>
                  <a:srgbClr val="6B6558"/>
                </a:solidFill>
                <a:latin typeface="Segoe UI"/>
              </a:rPr>
              <a:t>handles this thin forwarding workload with large headroom. </a:t>
            </a:r>
            <a:r>
              <a:rPr sz="950" b="0" i="0" dirty="0" err="1">
                <a:solidFill>
                  <a:srgbClr val="6B6558"/>
                </a:solidFill>
                <a:latin typeface="Segoe UI"/>
              </a:rPr>
              <a:t>RateHawk’s</a:t>
            </a:r>
            <a:r>
              <a:rPr sz="950" b="0" i="0" dirty="0">
                <a:solidFill>
                  <a:srgbClr val="6B6558"/>
                </a:solidFill>
                <a:latin typeface="Segoe UI"/>
              </a:rPr>
              <a:t> own rate limits are the real ceiling either way.</a:t>
            </a:r>
          </a:p>
        </p:txBody>
      </p:sp>
      <p:sp>
        <p:nvSpPr>
          <p:cNvPr id="17" name="Rounded Rectangle 16"/>
          <p:cNvSpPr/>
          <p:nvPr/>
        </p:nvSpPr>
        <p:spPr>
          <a:xfrm>
            <a:off x="502920" y="3657599"/>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9920" y="3749039"/>
            <a:ext cx="1762760" cy="457200"/>
          </a:xfrm>
          <a:prstGeom prst="rect">
            <a:avLst/>
          </a:prstGeom>
          <a:noFill/>
        </p:spPr>
        <p:txBody>
          <a:bodyPr wrap="square" lIns="0" tIns="0" rIns="0" bIns="0">
            <a:spAutoFit/>
          </a:bodyPr>
          <a:lstStyle/>
          <a:p>
            <a:pPr algn="l"/>
            <a:r>
              <a:rPr sz="1100" b="1" i="0">
                <a:solidFill>
                  <a:srgbClr val="1A1A2E"/>
                </a:solidFill>
                <a:latin typeface="Segoe UI Semibold"/>
              </a:rPr>
              <a:t>STABILITY</a:t>
            </a:r>
          </a:p>
        </p:txBody>
      </p:sp>
      <p:sp>
        <p:nvSpPr>
          <p:cNvPr id="19" name="TextBox 18"/>
          <p:cNvSpPr txBox="1"/>
          <p:nvPr/>
        </p:nvSpPr>
        <p:spPr>
          <a:xfrm>
            <a:off x="2595880" y="3730751"/>
            <a:ext cx="4226560" cy="292388"/>
          </a:xfrm>
          <a:prstGeom prst="rect">
            <a:avLst/>
          </a:prstGeom>
          <a:noFill/>
        </p:spPr>
        <p:txBody>
          <a:bodyPr wrap="square" lIns="0" tIns="0" rIns="0" bIns="0">
            <a:spAutoFit/>
          </a:bodyPr>
          <a:lstStyle/>
          <a:p>
            <a:pPr algn="l"/>
            <a:r>
              <a:rPr sz="950" b="0" i="0" dirty="0">
                <a:solidFill>
                  <a:srgbClr val="6B6558"/>
                </a:solidFill>
                <a:latin typeface="Segoe UI"/>
              </a:rPr>
              <a:t>Phase 1 as specified is also single-instance </a:t>
            </a:r>
            <a:r>
              <a:rPr lang="en-US" sz="950" b="0" i="0" dirty="0">
                <a:solidFill>
                  <a:srgbClr val="6B6558"/>
                </a:solidFill>
                <a:latin typeface="Segoe UI"/>
              </a:rPr>
              <a:t>. </a:t>
            </a:r>
            <a:r>
              <a:rPr sz="950" b="0" i="0" dirty="0">
                <a:solidFill>
                  <a:srgbClr val="6B6558"/>
                </a:solidFill>
                <a:latin typeface="Segoe UI"/>
              </a:rPr>
              <a:t>HA to a future phase. Same posture as </a:t>
            </a:r>
            <a:r>
              <a:rPr lang="en-US" sz="950" b="0" i="0" dirty="0">
                <a:solidFill>
                  <a:srgbClr val="6B6558"/>
                </a:solidFill>
                <a:latin typeface="Segoe UI"/>
              </a:rPr>
              <a:t>AWS</a:t>
            </a:r>
            <a:r>
              <a:rPr sz="950" b="0" i="0" dirty="0">
                <a:solidFill>
                  <a:srgbClr val="6B6558"/>
                </a:solidFill>
                <a:latin typeface="Segoe UI"/>
              </a:rPr>
              <a:t>.</a:t>
            </a:r>
          </a:p>
        </p:txBody>
      </p:sp>
      <p:sp>
        <p:nvSpPr>
          <p:cNvPr id="20" name="TextBox 19"/>
          <p:cNvSpPr txBox="1"/>
          <p:nvPr/>
        </p:nvSpPr>
        <p:spPr>
          <a:xfrm>
            <a:off x="7241032" y="3730751"/>
            <a:ext cx="4226560" cy="438582"/>
          </a:xfrm>
          <a:prstGeom prst="rect">
            <a:avLst/>
          </a:prstGeom>
          <a:noFill/>
        </p:spPr>
        <p:txBody>
          <a:bodyPr wrap="square" lIns="0" tIns="0" rIns="0" bIns="0">
            <a:spAutoFit/>
          </a:bodyPr>
          <a:lstStyle/>
          <a:p>
            <a:r>
              <a:rPr sz="950" b="0" i="0" dirty="0">
                <a:solidFill>
                  <a:srgbClr val="6B6558"/>
                </a:solidFill>
                <a:latin typeface="Segoe UI"/>
              </a:rPr>
              <a:t>Single instance</a:t>
            </a:r>
            <a:r>
              <a:rPr lang="en-US" sz="950" b="0" i="0" dirty="0">
                <a:solidFill>
                  <a:srgbClr val="6B6558"/>
                </a:solidFill>
                <a:latin typeface="Segoe UI"/>
              </a:rPr>
              <a:t> with standby instance</a:t>
            </a:r>
            <a:r>
              <a:rPr sz="950" b="0" i="0" dirty="0">
                <a:solidFill>
                  <a:srgbClr val="6B6558"/>
                </a:solidFill>
                <a:latin typeface="Segoe UI"/>
              </a:rPr>
              <a:t>, auto-restart on crash, fully rebuildable from source-controlled scripts. Box itself verified working; </a:t>
            </a:r>
            <a:r>
              <a:rPr sz="950" b="0" i="0" dirty="0" err="1">
                <a:solidFill>
                  <a:srgbClr val="6B6558"/>
                </a:solidFill>
                <a:latin typeface="Segoe UI"/>
              </a:rPr>
              <a:t>RateHawk</a:t>
            </a:r>
            <a:r>
              <a:rPr sz="950" b="0" i="0" dirty="0">
                <a:solidFill>
                  <a:srgbClr val="6B6558"/>
                </a:solidFill>
                <a:latin typeface="Segoe UI"/>
              </a:rPr>
              <a:t>-specific logic not yet built on either side.</a:t>
            </a:r>
            <a:r>
              <a:rPr lang="en-US" sz="950" b="0" i="0" dirty="0">
                <a:solidFill>
                  <a:srgbClr val="6B6558"/>
                </a:solidFill>
                <a:latin typeface="Segoe UI"/>
              </a:rPr>
              <a:t> </a:t>
            </a:r>
            <a:r>
              <a:rPr lang="en-US" sz="950" dirty="0">
                <a:solidFill>
                  <a:srgbClr val="6B6558"/>
                </a:solidFill>
                <a:latin typeface="Segoe UI"/>
              </a:rPr>
              <a:t>HA (standby instance + auto-failover</a:t>
            </a:r>
            <a:endParaRPr sz="950" b="0" i="0" dirty="0">
              <a:solidFill>
                <a:srgbClr val="6B6558"/>
              </a:solidFill>
              <a:latin typeface="Segoe UI"/>
            </a:endParaRPr>
          </a:p>
        </p:txBody>
      </p:sp>
      <p:sp>
        <p:nvSpPr>
          <p:cNvPr id="21" name="Rounded Rectangle 20"/>
          <p:cNvSpPr/>
          <p:nvPr/>
        </p:nvSpPr>
        <p:spPr>
          <a:xfrm>
            <a:off x="502920" y="4443983"/>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920" y="4535423"/>
            <a:ext cx="1762760" cy="457200"/>
          </a:xfrm>
          <a:prstGeom prst="rect">
            <a:avLst/>
          </a:prstGeom>
          <a:noFill/>
        </p:spPr>
        <p:txBody>
          <a:bodyPr wrap="square" lIns="0" tIns="0" rIns="0" bIns="0">
            <a:spAutoFit/>
          </a:bodyPr>
          <a:lstStyle/>
          <a:p>
            <a:pPr algn="l"/>
            <a:r>
              <a:rPr sz="1100" b="1" i="0">
                <a:solidFill>
                  <a:srgbClr val="1A1A2E"/>
                </a:solidFill>
                <a:latin typeface="Segoe UI Semibold"/>
              </a:rPr>
              <a:t>SUPPORT</a:t>
            </a:r>
          </a:p>
        </p:txBody>
      </p:sp>
      <p:sp>
        <p:nvSpPr>
          <p:cNvPr id="23" name="TextBox 22"/>
          <p:cNvSpPr txBox="1"/>
          <p:nvPr/>
        </p:nvSpPr>
        <p:spPr>
          <a:xfrm>
            <a:off x="2595880" y="4517135"/>
            <a:ext cx="4226560" cy="146194"/>
          </a:xfrm>
          <a:prstGeom prst="rect">
            <a:avLst/>
          </a:prstGeom>
          <a:noFill/>
        </p:spPr>
        <p:txBody>
          <a:bodyPr wrap="square" lIns="0" tIns="0" rIns="0" bIns="0">
            <a:spAutoFit/>
          </a:bodyPr>
          <a:lstStyle/>
          <a:p>
            <a:pPr algn="l"/>
            <a:r>
              <a:rPr sz="950" b="0" i="0" dirty="0">
                <a:solidFill>
                  <a:srgbClr val="6B6558"/>
                </a:solidFill>
                <a:latin typeface="Segoe UI"/>
              </a:rPr>
              <a:t>No hosting provider or support commitment specified. </a:t>
            </a:r>
          </a:p>
        </p:txBody>
      </p:sp>
      <p:sp>
        <p:nvSpPr>
          <p:cNvPr id="24" name="TextBox 23"/>
          <p:cNvSpPr txBox="1"/>
          <p:nvPr/>
        </p:nvSpPr>
        <p:spPr>
          <a:xfrm>
            <a:off x="7241032" y="4517135"/>
            <a:ext cx="4226560" cy="292388"/>
          </a:xfrm>
          <a:prstGeom prst="rect">
            <a:avLst/>
          </a:prstGeom>
          <a:noFill/>
        </p:spPr>
        <p:txBody>
          <a:bodyPr wrap="square" lIns="0" tIns="0" rIns="0" bIns="0">
            <a:spAutoFit/>
          </a:bodyPr>
          <a:lstStyle/>
          <a:p>
            <a:pPr algn="l"/>
            <a:r>
              <a:rPr sz="950" b="0" i="0" dirty="0">
                <a:solidFill>
                  <a:srgbClr val="2E6B57"/>
                </a:solidFill>
                <a:latin typeface="Segoe UI"/>
              </a:rPr>
              <a:t>Real AWS infrastructure (~99.99% published EC2 SLA). can add paid AWS support later if ever needed. </a:t>
            </a:r>
          </a:p>
        </p:txBody>
      </p:sp>
      <p:sp>
        <p:nvSpPr>
          <p:cNvPr id="25" name="Rounded Rectangle 24"/>
          <p:cNvSpPr/>
          <p:nvPr/>
        </p:nvSpPr>
        <p:spPr>
          <a:xfrm>
            <a:off x="502920" y="5230367"/>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920" y="5321807"/>
            <a:ext cx="1762760" cy="457200"/>
          </a:xfrm>
          <a:prstGeom prst="rect">
            <a:avLst/>
          </a:prstGeom>
          <a:noFill/>
        </p:spPr>
        <p:txBody>
          <a:bodyPr wrap="square" lIns="0" tIns="0" rIns="0" bIns="0">
            <a:spAutoFit/>
          </a:bodyPr>
          <a:lstStyle/>
          <a:p>
            <a:pPr algn="l"/>
            <a:r>
              <a:rPr sz="1100" b="1" i="0">
                <a:solidFill>
                  <a:srgbClr val="1A1A2E"/>
                </a:solidFill>
                <a:latin typeface="Segoe UI Semibold"/>
              </a:rPr>
              <a:t>SCALABILITY</a:t>
            </a:r>
          </a:p>
        </p:txBody>
      </p:sp>
      <p:sp>
        <p:nvSpPr>
          <p:cNvPr id="27" name="TextBox 26"/>
          <p:cNvSpPr txBox="1"/>
          <p:nvPr/>
        </p:nvSpPr>
        <p:spPr>
          <a:xfrm>
            <a:off x="2595880" y="5303519"/>
            <a:ext cx="4226560" cy="146194"/>
          </a:xfrm>
          <a:prstGeom prst="rect">
            <a:avLst/>
          </a:prstGeom>
          <a:noFill/>
        </p:spPr>
        <p:txBody>
          <a:bodyPr wrap="square" lIns="0" tIns="0" rIns="0" bIns="0">
            <a:spAutoFit/>
          </a:bodyPr>
          <a:lstStyle/>
          <a:p>
            <a:pPr algn="l"/>
            <a:r>
              <a:rPr sz="950" b="0" i="0" dirty="0">
                <a:solidFill>
                  <a:srgbClr val="6B6558"/>
                </a:solidFill>
                <a:latin typeface="Segoe UI"/>
              </a:rPr>
              <a:t>Redis/</a:t>
            </a:r>
            <a:r>
              <a:rPr sz="950" b="0" i="0" dirty="0" err="1">
                <a:solidFill>
                  <a:srgbClr val="6B6558"/>
                </a:solidFill>
                <a:latin typeface="Segoe UI"/>
              </a:rPr>
              <a:t>BullMQ</a:t>
            </a:r>
            <a:r>
              <a:rPr sz="950" b="0" i="0" dirty="0">
                <a:solidFill>
                  <a:srgbClr val="6B6558"/>
                </a:solidFill>
                <a:latin typeface="Segoe UI"/>
              </a:rPr>
              <a:t>/</a:t>
            </a:r>
            <a:r>
              <a:rPr sz="950" b="0" i="0">
                <a:solidFill>
                  <a:srgbClr val="6B6558"/>
                </a:solidFill>
                <a:latin typeface="Segoe UI"/>
              </a:rPr>
              <a:t>HA </a:t>
            </a:r>
            <a:endParaRPr sz="950" b="0" i="0" dirty="0">
              <a:solidFill>
                <a:srgbClr val="6B6558"/>
              </a:solidFill>
              <a:latin typeface="Segoe UI"/>
            </a:endParaRPr>
          </a:p>
        </p:txBody>
      </p:sp>
      <p:sp>
        <p:nvSpPr>
          <p:cNvPr id="28" name="TextBox 27"/>
          <p:cNvSpPr txBox="1"/>
          <p:nvPr/>
        </p:nvSpPr>
        <p:spPr>
          <a:xfrm>
            <a:off x="7241032" y="5303519"/>
            <a:ext cx="4226560" cy="146194"/>
          </a:xfrm>
          <a:prstGeom prst="rect">
            <a:avLst/>
          </a:prstGeom>
          <a:noFill/>
        </p:spPr>
        <p:txBody>
          <a:bodyPr wrap="square" lIns="0" tIns="0" rIns="0" bIns="0">
            <a:spAutoFit/>
          </a:bodyPr>
          <a:lstStyle/>
          <a:p>
            <a:r>
              <a:rPr lang="en-US" sz="950" dirty="0">
                <a:solidFill>
                  <a:srgbClr val="6B6558"/>
                </a:solidFill>
                <a:latin typeface="Segoe UI"/>
              </a:rPr>
              <a:t>Redis/</a:t>
            </a:r>
            <a:r>
              <a:rPr lang="en-US" sz="950" dirty="0" err="1">
                <a:solidFill>
                  <a:srgbClr val="6B6558"/>
                </a:solidFill>
                <a:latin typeface="Segoe UI"/>
              </a:rPr>
              <a:t>BullMQ</a:t>
            </a:r>
            <a:r>
              <a:rPr lang="en-US" sz="950" dirty="0">
                <a:solidFill>
                  <a:srgbClr val="6B6558"/>
                </a:solidFill>
                <a:latin typeface="Segoe UI"/>
              </a:rPr>
              <a:t>/HA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i="0">
                <a:solidFill>
                  <a:srgbClr val="7A3E0F"/>
                </a:solidFill>
                <a:latin typeface="Segoe UI Semibold"/>
              </a:rPr>
              <a:t>06  —  ALIGNMENT &amp; RECOMMENDATION</a:t>
            </a:r>
          </a:p>
        </p:txBody>
      </p:sp>
      <p:sp>
        <p:nvSpPr>
          <p:cNvPr id="3" name="TextBox 2"/>
          <p:cNvSpPr txBox="1"/>
          <p:nvPr/>
        </p:nvSpPr>
        <p:spPr>
          <a:xfrm>
            <a:off x="502920" y="749808"/>
            <a:ext cx="11183112" cy="566928"/>
          </a:xfrm>
          <a:prstGeom prst="rect">
            <a:avLst/>
          </a:prstGeom>
          <a:noFill/>
        </p:spPr>
        <p:txBody>
          <a:bodyPr wrap="square" lIns="0" tIns="0" rIns="0" bIns="0">
            <a:spAutoFit/>
          </a:bodyPr>
          <a:lstStyle/>
          <a:p>
            <a:pPr algn="l"/>
            <a:r>
              <a:rPr sz="2500" b="1" i="0">
                <a:solidFill>
                  <a:srgbClr val="1A1A2E"/>
                </a:solidFill>
                <a:latin typeface="Segoe UI Semibold"/>
              </a:rPr>
              <a:t>Same pattern as Analytics — the fastest path to go-live</a:t>
            </a:r>
          </a:p>
        </p:txBody>
      </p:sp>
      <p:sp>
        <p:nvSpPr>
          <p:cNvPr id="4" name="TextBox 3"/>
          <p:cNvSpPr txBox="1"/>
          <p:nvPr/>
        </p:nvSpPr>
        <p:spPr>
          <a:xfrm>
            <a:off x="502920" y="1335024"/>
            <a:ext cx="10799064" cy="411480"/>
          </a:xfrm>
          <a:prstGeom prst="rect">
            <a:avLst/>
          </a:prstGeom>
          <a:noFill/>
        </p:spPr>
        <p:txBody>
          <a:bodyPr wrap="square" lIns="0" tIns="0" rIns="0" bIns="0">
            <a:spAutoFit/>
          </a:bodyPr>
          <a:lstStyle/>
          <a:p>
            <a:pPr algn="l"/>
            <a:r>
              <a:rPr sz="1250" b="0" i="0">
                <a:solidFill>
                  <a:srgbClr val="6B6558"/>
                </a:solidFill>
                <a:latin typeface="Segoe UI"/>
              </a:rPr>
              <a:t>Both options are real. Here is the case for each, and why one fits this specific requirement better.</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i="0">
                <a:solidFill>
                  <a:srgbClr val="9B9384"/>
                </a:solidFill>
                <a:latin typeface="Segoe UI"/>
              </a:rPr>
              <a:t>7</a:t>
            </a:r>
          </a:p>
        </p:txBody>
      </p:sp>
      <p:sp>
        <p:nvSpPr>
          <p:cNvPr id="7" name="Rounded Rectangle 6"/>
          <p:cNvSpPr/>
          <p:nvPr/>
        </p:nvSpPr>
        <p:spPr>
          <a:xfrm>
            <a:off x="502920" y="2103120"/>
            <a:ext cx="11183112" cy="91440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31136"/>
            <a:ext cx="9466072" cy="219456"/>
          </a:xfrm>
          <a:prstGeom prst="rect">
            <a:avLst/>
          </a:prstGeom>
          <a:noFill/>
        </p:spPr>
        <p:txBody>
          <a:bodyPr wrap="square" lIns="0" tIns="0" rIns="0" bIns="0">
            <a:spAutoFit/>
          </a:bodyPr>
          <a:lstStyle/>
          <a:p>
            <a:pPr algn="l"/>
            <a:r>
              <a:rPr sz="1150" b="1" i="0">
                <a:solidFill>
                  <a:srgbClr val="1A1A2E"/>
                </a:solidFill>
                <a:latin typeface="Segoe UI Semibold"/>
              </a:rPr>
              <a:t>Aligned with the Analytics Architecture, not a one-off</a:t>
            </a:r>
          </a:p>
        </p:txBody>
      </p:sp>
      <p:sp>
        <p:nvSpPr>
          <p:cNvPr id="9" name="TextBox 8"/>
          <p:cNvSpPr txBox="1"/>
          <p:nvPr/>
        </p:nvSpPr>
        <p:spPr>
          <a:xfrm>
            <a:off x="629920" y="2505456"/>
            <a:ext cx="10929112" cy="457200"/>
          </a:xfrm>
          <a:prstGeom prst="rect">
            <a:avLst/>
          </a:prstGeom>
          <a:noFill/>
        </p:spPr>
        <p:txBody>
          <a:bodyPr wrap="square" lIns="0" tIns="0" rIns="0" bIns="0">
            <a:spAutoFit/>
          </a:bodyPr>
          <a:lstStyle/>
          <a:p>
            <a:pPr algn="l"/>
            <a:r>
              <a:rPr sz="980" b="0" i="0">
                <a:solidFill>
                  <a:srgbClr val="6B6558"/>
                </a:solidFill>
                <a:latin typeface="Segoe UI"/>
              </a:rPr>
              <a:t>The same static-IP relay pattern — a small, dedicated, isolated instance with a static IP — is already the documented pattern for Alana Analytics' own extraction relay. Both now live under one AWS Organization, in separate accounts for compliance isolation, following the same internal playbook. Ivan's proposal has no relationship to this existing, already-proven pattern.</a:t>
            </a:r>
          </a:p>
        </p:txBody>
      </p:sp>
      <p:sp>
        <p:nvSpPr>
          <p:cNvPr id="10" name="Rounded Rectangle 9"/>
          <p:cNvSpPr/>
          <p:nvPr/>
        </p:nvSpPr>
        <p:spPr>
          <a:xfrm>
            <a:off x="10268712" y="2192020"/>
            <a:ext cx="10160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MARRA-WIDE</a:t>
            </a:r>
          </a:p>
        </p:txBody>
      </p:sp>
      <p:sp>
        <p:nvSpPr>
          <p:cNvPr id="15" name="Rounded Rectangle 14"/>
          <p:cNvSpPr/>
          <p:nvPr/>
        </p:nvSpPr>
        <p:spPr>
          <a:xfrm>
            <a:off x="502920" y="3209544"/>
            <a:ext cx="11183112" cy="1417320"/>
          </a:xfrm>
          <a:prstGeom prst="roundRect">
            <a:avLst>
              <a:gd name="adj" fmla="val 9000"/>
            </a:avLst>
          </a:prstGeom>
          <a:solidFill>
            <a:srgbClr val="E3EEE9"/>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3337560"/>
            <a:ext cx="9466072" cy="219456"/>
          </a:xfrm>
          <a:prstGeom prst="rect">
            <a:avLst/>
          </a:prstGeom>
          <a:noFill/>
        </p:spPr>
        <p:txBody>
          <a:bodyPr wrap="square" lIns="0" tIns="0" rIns="0" bIns="0">
            <a:spAutoFit/>
          </a:bodyPr>
          <a:lstStyle/>
          <a:p>
            <a:pPr algn="l"/>
            <a:r>
              <a:rPr sz="1150" b="1" i="0">
                <a:solidFill>
                  <a:srgbClr val="1A1A2E"/>
                </a:solidFill>
                <a:latin typeface="Segoe UI Semibold"/>
              </a:rPr>
              <a:t>Recommendation: use the AWS build to reach go-live</a:t>
            </a:r>
          </a:p>
        </p:txBody>
      </p:sp>
      <p:sp>
        <p:nvSpPr>
          <p:cNvPr id="17" name="TextBox 16"/>
          <p:cNvSpPr txBox="1"/>
          <p:nvPr/>
        </p:nvSpPr>
        <p:spPr>
          <a:xfrm>
            <a:off x="629920" y="3611880"/>
            <a:ext cx="10929112" cy="914400"/>
          </a:xfrm>
          <a:prstGeom prst="rect">
            <a:avLst/>
          </a:prstGeom>
          <a:noFill/>
        </p:spPr>
        <p:txBody>
          <a:bodyPr wrap="square" lIns="0" tIns="0" rIns="0" bIns="0">
            <a:spAutoFit/>
          </a:bodyPr>
          <a:lstStyle/>
          <a:p>
            <a:pPr algn="l"/>
            <a:r>
              <a:rPr sz="980" b="0" i="0">
                <a:solidFill>
                  <a:srgbClr val="6B6558"/>
                </a:solidFill>
                <a:latin typeface="Segoe UI"/>
              </a:rPr>
              <a:t>For the actual requirement — a static IP RateHawk will accept — the AWS build is live, verified, and ~$5–8/mo today, with no further engineering or coordination needed. Ivan's fuller proposal is well-designed for a mature, high-traffic system, but adopting it as specified means more infrastructure, more cost, and an unresolved question of who builds and runs it — none of which the actual RateHawk traffic requires right now. Fastest, lowest-risk path to go-live: use what's already built. Revisit Redis/queueing/the full gateway abstraction once real traffic data justifies it — that evolution path stays open either way.</a:t>
            </a:r>
          </a:p>
        </p:txBody>
      </p:sp>
      <p:sp>
        <p:nvSpPr>
          <p:cNvPr id="18" name="Rounded Rectangle 17"/>
          <p:cNvSpPr/>
          <p:nvPr/>
        </p:nvSpPr>
        <p:spPr>
          <a:xfrm>
            <a:off x="9994392" y="3298444"/>
            <a:ext cx="10922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RECOMMENDED</a:t>
            </a:r>
          </a:p>
        </p:txBody>
      </p:sp>
      <p:sp>
        <p:nvSpPr>
          <p:cNvPr id="20" name="TextBox 19">
            <a:extLst>
              <a:ext uri="{FF2B5EF4-FFF2-40B4-BE49-F238E27FC236}">
                <a16:creationId xmlns:a16="http://schemas.microsoft.com/office/drawing/2014/main" id="{C2CE49DA-71D9-46FB-4438-7B6BA9A4AFA2}"/>
              </a:ext>
            </a:extLst>
          </p:cNvPr>
          <p:cNvSpPr txBox="1"/>
          <p:nvPr/>
        </p:nvSpPr>
        <p:spPr>
          <a:xfrm>
            <a:off x="1266345" y="4167878"/>
            <a:ext cx="8728047" cy="369332"/>
          </a:xfrm>
          <a:prstGeom prst="rect">
            <a:avLst/>
          </a:prstGeom>
          <a:noFill/>
        </p:spPr>
        <p:txBody>
          <a:bodyPr wrap="square">
            <a:spAutoFit/>
          </a:bodyPr>
          <a:lstStyle/>
          <a:p>
            <a:r>
              <a:rPr lang="en-US" dirty="0"/>
              <a:t>63.185.27.197 - Elastic IP attached to the AWS proxy box in eu-central-1 (Frankfurt)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07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sz="2700" b="1">
                <a:solidFill>
                  <a:srgbClr val="1A1A2E"/>
                </a:solidFill>
                <a:latin typeface="Segoe UI Semibold"/>
              </a:rPr>
              <a:t>End-to-end payment now works — from the app</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Confirmed 8/20: a real test card cleared through NLB, from the mobile app's own booking flow to a synced Salesforce lead.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8</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a:solidFill>
                  <a:srgbClr val="1A1A2E"/>
                </a:solidFill>
                <a:latin typeface="Segoe UI Semibold"/>
              </a:rPr>
              <a:t>What happened</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a:solidFill>
                  <a:srgbClr val="6B6558"/>
                </a:solidFill>
                <a:latin typeface="Segoe UI"/>
              </a:rPr>
              <a:t>A real booking in the app → signed Bankart payment link → Bankart's hosted card form → NLB processing with 3DS → async Notify webhook confirms the booking → Salesforce lead synced. The actual app flow, start to finish — not a browser demo.</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full stack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This wasn't a sandboxed demo — a real card ran through NLB via Bankart, initiated from the actual mobile app, ending in a confirmed booking and a synced CRM lead. Every layer (signed link, hosted card form, async webhook, Supabase state) is now proven live together, not just individually tested.</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What's still open: the card page isn't mobile-responsive</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Bankart's hosted card page (Hristijan's side, outside our control) has alignment issues on phone and tablet screens — the one open item before this is a clean guest-facing checkout on iOS and Android.</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OPEN ITEM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08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Path to a real sandbox/test build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Payments and RateHawk are both gated by partners right now, not effort.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9</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UNBLOCK</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Partner-gated, timeline not ours to set</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NLB-direct payment spec from Hristijan/Ivan (the new critical path — nothing on payments builds further until it lands), RateHawk sandbox key (contract confirmed 8/14, issuance in progress), and Google Play Developer account creation (still not started).</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3663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2 - BUILD</a:t>
            </a:r>
          </a:p>
        </p:txBody>
      </p:sp>
      <p:sp>
        <p:nvSpPr>
          <p:cNvPr id="15" name="TextBox 14"/>
          <p:cNvSpPr txBox="1"/>
          <p:nvPr/>
        </p:nvSpPr>
        <p:spPr>
          <a:xfrm>
            <a:off x="612920" y="359663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~2–3 weeks once Phase 1 clears  ·  Claude-implemented</a:t>
            </a:r>
          </a:p>
        </p:txBody>
      </p:sp>
      <p:sp>
        <p:nvSpPr>
          <p:cNvPr id="16" name="TextBox 15"/>
          <p:cNvSpPr txBox="1"/>
          <p:nvPr/>
        </p:nvSpPr>
        <p:spPr>
          <a:xfrm>
            <a:off x="612920" y="383663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Payment gateway built against the NLB-direct spec once it lands (net-new — two earlier attempts were built on wrong assumptions and discarded), RateHawk's mobile-specific room-rate/pre-book/create-order endpoints plus their certification checklist, search-flow wired up, and Apple's OAuth secret configured for the native sign-in code already shipped.</a:t>
            </a:r>
          </a:p>
        </p:txBody>
      </p:sp>
      <p:sp>
        <p:nvSpPr>
          <p:cNvPr id="17" name="Rounded Rectangle 16"/>
          <p:cNvSpPr/>
          <p:nvPr/>
        </p:nvSpPr>
        <p:spPr>
          <a:xfrm>
            <a:off x="502920" y="430442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~3–5 days,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Structured QA across auth, search, booking, and payment — spread across the TestFlight testers. Store assets (screenshots, listing copy): ~2–3 days of design time on top of already-</a:t>
            </a:r>
            <a:r>
              <a:rPr sz="950" b="0" dirty="0" err="1">
                <a:solidFill>
                  <a:srgbClr val="6B6558"/>
                </a:solidFill>
                <a:latin typeface="Segoe UI"/>
              </a:rPr>
              <a:t>speced</a:t>
            </a:r>
            <a:r>
              <a:rPr sz="950" b="0" dirty="0">
                <a:solidFill>
                  <a:srgbClr val="6B6558"/>
                </a:solidFill>
                <a:latin typeface="Segoe UI"/>
              </a:rPr>
              <a: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both stores + RateHawk cert  ·  estimate</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Google Play's 14-day mandatory closed-testing period is the long pole. New: RateHawk's own certification (pre-cert checklist + demo access) also gates production API access, running in parallel. Budget at least one rejection-and-resubmit round on each store.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09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Two boxes are still open — payments, and the admin portal’s WooCommerce-parity gap. The shared static-IP proxy is agreed and shown below, in progress with Ivan.</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10</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RateHawk mobile workflow (SERP / Prebook / create-order), payment gateway, Salesforce sync.</a:t>
            </a:r>
          </a:p>
        </p:txBody>
      </p:sp>
      <p:sp>
        <p:nvSpPr>
          <p:cNvPr id="20" name="Rounded Rectangle 19"/>
          <p:cNvSpPr/>
          <p:nvPr/>
        </p:nvSpPr>
        <p:spPr>
          <a:xfrm>
            <a:off x="5788152"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a:solidFill>
                  <a:srgbClr val="6B6558"/>
                </a:solidFill>
                <a:latin typeface="Segoe UI"/>
              </a:rPr>
              <a:t>850,218 hotels / 3.9M rooms, all 10 countries. Region-filtered search, daily refresh from RateHawk dump.</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 / payment_state. Migration ready, on hold pending the payment decision.</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confirmed 8/14). Sandbox key incoming → certification →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FFFFFF"/>
          </a:solidFill>
          <a:ln w="1587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1A1A2E"/>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Confirmed 8/14 + 8/18: real debit-via-API works, no WooCommerce order created. Bank-callback bug being fixed (~8/19), then Hristijan delivers the mobile integration spec. Refunds still unbuilt.</a:t>
            </a:r>
          </a:p>
        </p:txBody>
      </p:sp>
      <p:sp>
        <p:nvSpPr>
          <p:cNvPr id="34" name="Rounded Rectangle 33"/>
          <p:cNvSpPr/>
          <p:nvPr/>
        </p:nvSpPr>
        <p:spPr>
          <a:xfrm>
            <a:off x="10640822" y="357276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IN PROGRESS</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9920" y="4901184"/>
            <a:ext cx="2077720" cy="201168"/>
          </a:xfrm>
          <a:prstGeom prst="rect">
            <a:avLst/>
          </a:prstGeom>
          <a:noFill/>
        </p:spPr>
        <p:txBody>
          <a:bodyPr wrap="square" lIns="0" tIns="0" r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tIns="0" r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3145536" y="432511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272536" y="4617720"/>
            <a:ext cx="2077720" cy="201168"/>
          </a:xfrm>
          <a:prstGeom prst="rect">
            <a:avLst/>
          </a:prstGeom>
          <a:noFill/>
        </p:spPr>
        <p:txBody>
          <a:bodyPr wrap="square" lIns="0" tIns="0" rIns="0" bIns="0">
            <a:spAutoFit/>
          </a:bodyPr>
          <a:lstStyle/>
          <a:p>
            <a:pPr algn="l"/>
            <a:r>
              <a:rPr sz="1150" b="1">
                <a:solidFill>
                  <a:srgbClr val="1A1A2E"/>
                </a:solidFill>
                <a:latin typeface="Segoe UI Semibold"/>
              </a:rPr>
              <a:t>Stage Server (Proxy)</a:t>
            </a:r>
          </a:p>
        </p:txBody>
      </p:sp>
      <p:sp>
        <p:nvSpPr>
          <p:cNvPr id="56" name="TextBox 55"/>
          <p:cNvSpPr txBox="1"/>
          <p:nvPr/>
        </p:nvSpPr>
        <p:spPr>
          <a:xfrm>
            <a:off x="3272536" y="4855464"/>
            <a:ext cx="2077720" cy="353568"/>
          </a:xfrm>
          <a:prstGeom prst="rect">
            <a:avLst/>
          </a:prstGeom>
          <a:noFill/>
        </p:spPr>
        <p:txBody>
          <a:bodyPr wrap="square" lIns="0" tIns="0" rIns="0" bIns="0">
            <a:spAutoFit/>
          </a:bodyPr>
          <a:lstStyle/>
          <a:p>
            <a:pPr algn="l"/>
            <a:r>
              <a:rPr sz="900" b="0">
                <a:solidFill>
                  <a:srgbClr val="6B6558"/>
                </a:solidFill>
                <a:latin typeface="Segoe UI"/>
              </a:rPr>
              <a:t>Squid/tinyproxy on the existing Linux stage server — shared static IP for RateHawk + NLB outbound calls. Agreed 8/18. Ivan configuring; spec + access request sent.</a:t>
            </a:r>
          </a:p>
        </p:txBody>
      </p:sp>
      <p:sp>
        <p:nvSpPr>
          <p:cNvPr id="57" name="Rounded Rectangle 56"/>
          <p:cNvSpPr/>
          <p:nvPr/>
        </p:nvSpPr>
        <p:spPr>
          <a:xfrm>
            <a:off x="4432046" y="4414012"/>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IN PROGRESS</a:t>
            </a:r>
          </a:p>
        </p:txBody>
      </p:sp>
      <p:cxnSp>
        <p:nvCxnSpPr>
          <p:cNvPr id="58" name="Connector 57"/>
          <p:cNvCxnSpPr/>
          <p:nvPr/>
        </p:nvCxnSpPr>
        <p:spPr>
          <a:xfrm>
            <a:off x="4311396" y="4142232"/>
            <a:ext cx="0" cy="182880"/>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77256" y="2665476"/>
            <a:ext cx="2953512" cy="213969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77256" y="3963924"/>
            <a:ext cx="2953512" cy="84124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10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11</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lang="en-US" sz="1050" b="0">
                <a:solidFill>
                  <a:srgbClr val="6B6558"/>
                </a:solidFill>
                <a:latin typeface="Segoe UI"/>
              </a:rPr>
              <a:t>Estimated $400 AI Cost</a:t>
            </a:r>
            <a:endParaRPr sz="1050" b="0" dirty="0">
              <a:solidFill>
                <a:srgbClr val="6B6558"/>
              </a:solidFill>
              <a:latin typeface="Segoe UI"/>
            </a:endParaRP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running now at ~$25/mo (Pro plan, Medium compute). Production baseline ~$75/mo once live; HA read replica deferred until traffic justifies it. Backups skipped.</a:t>
            </a:r>
            <a:endParaRPr sz="1050" b="0" dirty="0">
              <a:solidFill>
                <a:srgbClr val="6B6558"/>
              </a:solidFill>
              <a:latin typeface="Segoe U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11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(Luke, July 21),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12</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$935</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~$6,841</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~12%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$8,472</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~$69,288</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is a small, roughly flat share of margin (~11–12%). Confirms Luke's own read from July 21: marketing/adoption is the real bottleneck, not running cost. On Haiku 4.5 instead of Sonnet, running cost drops to ~$435/mo (10's) and ~$3,472/mo (100's) — further shrinking that share, at a quality trade-off worth testing before committing.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12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dirty="0">
                <a:solidFill>
                  <a:srgbClr val="1A1A2E"/>
                </a:solidFill>
                <a:latin typeface="Segoe UI Semibold"/>
              </a:rPr>
              <a:t>What's still open, and </a:t>
            </a:r>
            <a:r>
              <a:rPr sz="2700" b="1">
                <a:solidFill>
                  <a:srgbClr val="1A1A2E"/>
                </a:solidFill>
                <a:latin typeface="Segoe UI Semibold"/>
              </a:rPr>
              <a:t>what's moving</a:t>
            </a:r>
            <a:r>
              <a:rPr lang="en-US" sz="2700" b="1">
                <a:solidFill>
                  <a:srgbClr val="1A1A2E"/>
                </a:solidFill>
                <a:latin typeface="Segoe UI Semibold"/>
              </a:rPr>
              <a: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Plus one hard scheduling constraint that should anchor any target date.</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13</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RateHawk sandbox</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Key landed 8/17 under the “balkanea-mobile” Office (ID 954) but calls return incorrect_credentials — checked RateHawk’s docs, looks more like an inactive key than IP whitelisting (that only shows up as a later certification-checklist item). Next: email RateHawk support directly, then start the certification checklist — which also needs 2 test hotels added to our DB first.</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Search-flow design</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Resolved by RateHawk's own rules, not a preference: their docs prohibit live Content API calls during search, so DB-first is required. Still needs building.</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Payment path</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Confirmed 8/20: a real end-to-end payment cleared through NLB via Bankart, from the app's booking flow to a synced Salesforce lead. Only remaining item: Bankart's hosted card page isn't mobile-responsive on phone/tablet — Hristijan-side fix. RateHawk's booking flow draws on its own deposit balance, not the guest's card, so RateHawk build work doesn't wait on this.</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dirty="0">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Email to RateHawk support on key 954 status; mobile-responsive fix timeline for Bankart's hosted card page, from Hristijan</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dirty="0">
                <a:solidFill>
                  <a:srgbClr val="9B9384"/>
                </a:solidFill>
                <a:latin typeface="Segoe UI"/>
              </a:rPr>
              <a:t>Store submission, once ready: </a:t>
            </a:r>
            <a:r>
              <a:rPr sz="950" b="0" dirty="0">
                <a:solidFill>
                  <a:srgbClr val="9B9384"/>
                </a:solidFill>
                <a:latin typeface="Segoe UI"/>
              </a:rPr>
              <a:t>no Google Play account yet · Apple review ~3–5 days · Google's 14-day closed-testing minimum · ~1 month+ total, RateHawk cert now runs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322</TotalTime>
  <Words>2909</Words>
  <Application>Microsoft Office PowerPoint</Application>
  <PresentationFormat>Widescreen</PresentationFormat>
  <Paragraphs>215</Paragraphs>
  <Slides>12</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11</cp:revision>
  <dcterms:created xsi:type="dcterms:W3CDTF">2013-01-27T09:14:16Z</dcterms:created>
  <dcterms:modified xsi:type="dcterms:W3CDTF">2026-08-21T14:01:06Z</dcterms:modified>
  <cp:category/>
</cp:coreProperties>
</file>