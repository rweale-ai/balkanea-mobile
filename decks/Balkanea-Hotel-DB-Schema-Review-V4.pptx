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2" r:id="rId5"/>
    <p:sldId id="263" r:id="rId6"/>
    <p:sldId id="264" r:id="rId7"/>
    <p:sldId id="265" r:id="rId8"/>
    <p:sldId id="266" r:id="rId9"/>
    <p:sldId id="260" r:id="rId10"/>
    <p:sldId id="261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8" d="100"/>
          <a:sy n="98" d="100"/>
        </p:scale>
        <p:origin x="1038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331720"/>
            <a:ext cx="111858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D8323"/>
                </a:solidFill>
                <a:latin typeface="Segoe UI"/>
              </a:rPr>
              <a:t>BALKANEA MOBILE × WEB  —  HOTEL DATABASE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743200"/>
            <a:ext cx="9800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BF6EE"/>
                </a:solidFill>
                <a:latin typeface="Segoe UI Semibold"/>
              </a:rPr>
              <a:t>Schema &amp; Architecture</a:t>
            </a:r>
          </a:p>
          <a:p>
            <a:pPr algn="l"/>
            <a:r>
              <a:rPr sz="4000" b="1">
                <a:solidFill>
                  <a:srgbClr val="FBF6EE"/>
                </a:solidFill>
                <a:latin typeface="Segoe UI Semibold"/>
              </a:rPr>
              <a:t>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343400"/>
            <a:ext cx="805381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>
                <a:solidFill>
                  <a:srgbClr val="C9D9D3"/>
                </a:solidFill>
                <a:latin typeface="Segoe UI"/>
              </a:rPr>
              <a:t>Full RateHawk import complete — walking through what's built, what</a:t>
            </a:r>
          </a:p>
          <a:p>
            <a:pPr algn="l"/>
            <a:r>
              <a:rPr sz="1450" b="0">
                <a:solidFill>
                  <a:srgbClr val="C9D9D3"/>
                </a:solidFill>
                <a:latin typeface="Segoe UI"/>
              </a:rPr>
              <a:t>we measured, and the open questions for the shared web+mobile schema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166360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9FB8AE"/>
                </a:solidFill>
                <a:latin typeface="Segoe UI"/>
              </a:rPr>
              <a:t>Data:  850,218 hotels / 3,930,128 rooms      Countries:  10      Prepared:  August 2026 (update)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457200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7A3E0F"/>
                </a:solidFill>
                <a:latin typeface="Segoe UI"/>
              </a:rPr>
              <a:t>01  —  WHAT'S BEEN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A1A2E"/>
                </a:solidFill>
                <a:latin typeface="Segoe UI Semibold"/>
              </a:rPr>
              <a:t>Full hotel dataset imported and 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1080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6B6558"/>
                </a:solidFill>
                <a:latin typeface="Segoe UI"/>
              </a:rPr>
              <a:t>Sandbox database is populated and ready to explore in Supabase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148840"/>
            <a:ext cx="11185855" cy="11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1255371" y="2295144"/>
            <a:ext cx="330000" cy="237744"/>
          </a:xfrm>
          <a:prstGeom prst="roundRect">
            <a:avLst>
              <a:gd name="adj" fmla="val 50000"/>
            </a:avLst>
          </a:prstGeom>
          <a:solidFill>
            <a:srgbClr val="E1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30000" rIns="0" bIns="0" rtlCol="0" anchor="ctr"/>
          <a:lstStyle/>
          <a:p>
            <a:pPr algn="ctr"/>
            <a:r>
              <a:rPr sz="750" b="1">
                <a:solidFill>
                  <a:srgbClr val="1F7A4D"/>
                </a:solidFill>
                <a:latin typeface="Segoe UI"/>
              </a:rPr>
              <a:t>Live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" y="2285840"/>
            <a:ext cx="989324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2E"/>
                </a:solidFill>
                <a:latin typeface="Segoe UI Semibold"/>
              </a:rPr>
              <a:t>850,218 hotels / 3,930,128 rooms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" y="2615840"/>
            <a:ext cx="10893247" cy="7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B6558"/>
                </a:solidFill>
                <a:latin typeface="Segoe UI"/>
              </a:rPr>
              <a:t>All 10 target countries — HR, CZ, EG, FR, GR, IT, ME, MK, ES, TR. Every property kind included, unfiltered, per our earlier direction. 0 parse errors across the full 53GB source dump.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461840"/>
            <a:ext cx="11185855" cy="11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1255371" y="3608144"/>
            <a:ext cx="330000" cy="237744"/>
          </a:xfrm>
          <a:prstGeom prst="roundRect">
            <a:avLst>
              <a:gd name="adj" fmla="val 50000"/>
            </a:avLst>
          </a:prstGeom>
          <a:solidFill>
            <a:srgbClr val="E1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30000" rIns="0" bIns="0" rtlCol="0" anchor="ctr"/>
          <a:lstStyle/>
          <a:p>
            <a:pPr algn="ctr"/>
            <a:r>
              <a:rPr sz="750" b="1">
                <a:solidFill>
                  <a:srgbClr val="1F7A4D"/>
                </a:solidFill>
                <a:latin typeface="Segoe UI"/>
              </a:rPr>
              <a:t>Live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" y="3598840"/>
            <a:ext cx="989324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2E"/>
                </a:solidFill>
                <a:latin typeface="Segoe UI Semibold"/>
              </a:rPr>
              <a:t>Real images and structured amenities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" y="3928840"/>
            <a:ext cx="10893247" cy="7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B6558"/>
                </a:solidFill>
                <a:latin typeface="Segoe UI"/>
              </a:rPr>
              <a:t>Each hotel's RateHawk CDN image URLs and amenity_groups (grouped, e.g. Pool &amp; Beach, Parking, Kids) are present and queryable — confirmed directly against live records, not assumed from the schema.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774840"/>
            <a:ext cx="11185855" cy="9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9224" y="4911840"/>
            <a:ext cx="1089324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2E"/>
                </a:solidFill>
                <a:latin typeface="Segoe UI Semibold"/>
              </a:rPr>
              <a:t>Per-country breakdown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" y="5241840"/>
            <a:ext cx="10893247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B6558"/>
                </a:solidFill>
                <a:latin typeface="Segoe UI"/>
              </a:rPr>
              <a:t>IT 271,258 · FR 196,916 · ES 161,222 · HR 73,323 · GR 71,270 · TR 44,461 · CZ 15,515 · EG 7,882 · ME 6,674 · MK 1,697.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B9384"/>
                </a:solidFill>
                <a:latin typeface="Segoe UI"/>
              </a:rPr>
              <a:t>BALKANEA HOTEL DATABASE  —  SCHEMA &amp; ARCHITECTURE REVIEW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74375" y="652881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B9384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457200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7A3E0F"/>
                </a:solidFill>
                <a:latin typeface="Segoe UI"/>
              </a:rPr>
              <a:t>02  —  SCHEMA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A1A2E"/>
                </a:solidFill>
                <a:latin typeface="Segoe UI Semibold"/>
              </a:rPr>
              <a:t>Partitioned by country, built for shared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1080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6B6558"/>
                </a:solidFill>
                <a:latin typeface="Segoe UI"/>
              </a:rPr>
              <a:t>Direct response to the scale concern you flagged in the proposal review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148840"/>
            <a:ext cx="11185855" cy="11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1255371" y="2295144"/>
            <a:ext cx="330000" cy="237744"/>
          </a:xfrm>
          <a:prstGeom prst="roundRect">
            <a:avLst>
              <a:gd name="adj" fmla="val 50000"/>
            </a:avLst>
          </a:prstGeom>
          <a:solidFill>
            <a:srgbClr val="E1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30000" rIns="0" bIns="0" rtlCol="0" anchor="ctr"/>
          <a:lstStyle/>
          <a:p>
            <a:pPr algn="ctr"/>
            <a:r>
              <a:rPr sz="750" b="1">
                <a:solidFill>
                  <a:srgbClr val="1F7A4D"/>
                </a:solidFill>
                <a:latin typeface="Segoe UI"/>
              </a:rPr>
              <a:t>Live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" y="2285840"/>
            <a:ext cx="989324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2E"/>
                </a:solidFill>
                <a:latin typeface="Segoe UI Semibold"/>
              </a:rPr>
              <a:t>hotels + rooms tables, partitioned by country_code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" y="2615840"/>
            <a:ext cx="10893247" cy="7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B6558"/>
                </a:solidFill>
                <a:latin typeface="Segoe UI"/>
              </a:rPr>
              <a:t>Postgres list partitioning — each country is its own physical partition under one logical table. New countries are added as new partitions without touching existing data or queries.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461840"/>
            <a:ext cx="11185855" cy="11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1255371" y="3608144"/>
            <a:ext cx="330000" cy="237744"/>
          </a:xfrm>
          <a:prstGeom prst="roundRect">
            <a:avLst>
              <a:gd name="adj" fmla="val 50000"/>
            </a:avLst>
          </a:prstGeom>
          <a:solidFill>
            <a:srgbClr val="E1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30000" rIns="0" bIns="0" rtlCol="0" anchor="ctr"/>
          <a:lstStyle/>
          <a:p>
            <a:pPr algn="ctr"/>
            <a:r>
              <a:rPr sz="750" b="1">
                <a:solidFill>
                  <a:srgbClr val="1F7A4D"/>
                </a:solidFill>
                <a:latin typeface="Segoe UI"/>
              </a:rPr>
              <a:t>Live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" y="3598840"/>
            <a:ext cx="989324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2E"/>
                </a:solidFill>
                <a:latin typeface="Segoe UI Semibold"/>
              </a:rPr>
              <a:t>Composite keys for partition-wise joins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" y="3928840"/>
            <a:ext cx="10893247" cy="7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B6558"/>
                </a:solidFill>
                <a:latin typeface="Segoe UI"/>
              </a:rPr>
              <a:t>(country_code, hid) and (country_code, id) as composite primary keys, with a matching composite foreign key on rooms — keeps hotel↔room joins scoped to a single partition instead of the whole table.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774840"/>
            <a:ext cx="11185855" cy="11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1075371" y="4921144"/>
            <a:ext cx="510000" cy="237744"/>
          </a:xfrm>
          <a:prstGeom prst="roundRect">
            <a:avLst>
              <a:gd name="adj" fmla="val 50000"/>
            </a:avLst>
          </a:prstGeom>
          <a:solidFill>
            <a:srgbClr val="FBE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30000" rIns="0" bIns="0" rtlCol="0" anchor="ctr"/>
          <a:lstStyle/>
          <a:p>
            <a:pPr algn="ctr"/>
            <a:r>
              <a:rPr sz="750" b="1">
                <a:solidFill>
                  <a:srgbClr val="B8790A"/>
                </a:solidFill>
                <a:latin typeface="Segoe UI"/>
              </a:rPr>
              <a:t>Discuss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" y="4911840"/>
            <a:ext cx="989324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2E"/>
                </a:solidFill>
                <a:latin typeface="Segoe UI Semibold"/>
              </a:rPr>
              <a:t>Still open: does this go far enough at full scale?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" y="5241840"/>
            <a:ext cx="10893247" cy="448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dirty="0">
                <a:solidFill>
                  <a:srgbClr val="6B6558"/>
                </a:solidFill>
                <a:latin typeface="Segoe UI"/>
              </a:rPr>
              <a:t>This solves mobile's current 10-country scope. At full catalog scale (~4M hotels), each query still only scans its own country partition — see the measured benchmark on Performance Expectations. Open question: does partitioning alone cover it, or is region-level sharding still needed for the largest countries?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B9384"/>
                </a:solidFill>
                <a:latin typeface="Segoe UI"/>
              </a:rPr>
              <a:t>BALKANEA HOTEL DATABASE  —  SCHEMA &amp; ARCHITECTURE REVIEW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74375" y="652881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B9384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457200"/>
            <a:ext cx="11185855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7A3E0F"/>
                </a:solidFill>
                <a:latin typeface="Segoe UI"/>
              </a:rPr>
              <a:t>03  —  SCHEMA 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85855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700" b="1" dirty="0">
                <a:solidFill>
                  <a:srgbClr val="1A1A2E"/>
                </a:solidFill>
                <a:latin typeface="Segoe UI Semibold"/>
              </a:rPr>
              <a:t>hotels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10800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50" b="0">
                <a:solidFill>
                  <a:srgbClr val="6B6558"/>
                </a:solidFill>
                <a:latin typeface="Segoe UI"/>
              </a:rPr>
              <a:t>Primary key (country_code, hid) · list-partitioned into 10 destination-country partitions + a default catch-all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970000"/>
            <a:ext cx="11185855" cy="4510000"/>
          </a:xfrm>
          <a:prstGeom prst="roundRect">
            <a:avLst>
              <a:gd name="adj" fmla="val 3000"/>
            </a:avLst>
          </a:prstGeom>
          <a:solidFill>
            <a:srgbClr val="003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22920" y="2130000"/>
            <a:ext cx="10745855" cy="41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08"/>
              </a:lnSpc>
            </a:pPr>
            <a:r>
              <a:rPr sz="1100" b="1">
                <a:solidFill>
                  <a:srgbClr val="FBF6EE"/>
                </a:solidFill>
                <a:latin typeface="Consolas"/>
              </a:rPr>
              <a:t>hid                 </a:t>
            </a:r>
            <a:r>
              <a:rPr sz="1100" b="0">
                <a:solidFill>
                  <a:srgbClr val="C9D9D3"/>
                </a:solidFill>
                <a:latin typeface="Consolas"/>
              </a:rPr>
              <a:t>bigint             not null</a:t>
            </a:r>
          </a:p>
          <a:p>
            <a:pPr>
              <a:lnSpc>
                <a:spcPts val="1408"/>
              </a:lnSpc>
            </a:pPr>
            <a:r>
              <a:rPr sz="1100" b="1">
                <a:solidFill>
                  <a:srgbClr val="FBF6EE"/>
                </a:solidFill>
                <a:latin typeface="Consolas"/>
              </a:rPr>
              <a:t>country_code        </a:t>
            </a:r>
            <a:r>
              <a:rPr sz="1100" b="0">
                <a:solidFill>
                  <a:srgbClr val="C9D9D3"/>
                </a:solidFill>
                <a:latin typeface="Consolas"/>
              </a:rPr>
              <a:t>text               not null</a:t>
            </a:r>
          </a:p>
          <a:p>
            <a:pPr>
              <a:lnSpc>
                <a:spcPts val="1408"/>
              </a:lnSpc>
            </a:pPr>
            <a:r>
              <a:rPr sz="1100" b="1">
                <a:solidFill>
                  <a:srgbClr val="FBF6EE"/>
                </a:solidFill>
                <a:latin typeface="Consolas"/>
              </a:rPr>
              <a:t>slug                </a:t>
            </a:r>
            <a:r>
              <a:rPr sz="1100" b="0">
                <a:solidFill>
                  <a:srgbClr val="C9D9D3"/>
                </a:solidFill>
                <a:latin typeface="Consolas"/>
              </a:rPr>
              <a:t>text               not null</a:t>
            </a:r>
          </a:p>
          <a:p>
            <a:pPr>
              <a:lnSpc>
                <a:spcPts val="1408"/>
              </a:lnSpc>
            </a:pPr>
            <a:r>
              <a:rPr sz="1100" b="1">
                <a:solidFill>
                  <a:srgbClr val="FBF6EE"/>
                </a:solidFill>
                <a:latin typeface="Consolas"/>
              </a:rPr>
              <a:t>name                </a:t>
            </a:r>
            <a:r>
              <a:rPr sz="1100" b="0">
                <a:solidFill>
                  <a:srgbClr val="C9D9D3"/>
                </a:solidFill>
                <a:latin typeface="Consolas"/>
              </a:rPr>
              <a:t>text               not null</a:t>
            </a:r>
          </a:p>
          <a:p>
            <a:pPr>
              <a:lnSpc>
                <a:spcPts val="1408"/>
              </a:lnSpc>
            </a:pPr>
            <a:r>
              <a:rPr sz="1100" b="1">
                <a:solidFill>
                  <a:srgbClr val="FBF6EE"/>
                </a:solidFill>
                <a:latin typeface="Consolas"/>
              </a:rPr>
              <a:t>kind                </a:t>
            </a:r>
            <a:r>
              <a:rPr sz="1100" b="0">
                <a:solidFill>
                  <a:srgbClr val="C9D9D3"/>
                </a:solidFill>
                <a:latin typeface="Consolas"/>
              </a:rPr>
              <a:t>text               not null</a:t>
            </a:r>
          </a:p>
          <a:p>
            <a:pPr>
              <a:lnSpc>
                <a:spcPts val="1408"/>
              </a:lnSpc>
            </a:pPr>
            <a:r>
              <a:rPr sz="1100" b="1">
                <a:solidFill>
                  <a:srgbClr val="FBF6EE"/>
                </a:solidFill>
                <a:latin typeface="Consolas"/>
              </a:rPr>
              <a:t>star_rating         </a:t>
            </a:r>
            <a:r>
              <a:rPr sz="1100" b="0">
                <a:solidFill>
                  <a:srgbClr val="C9D9D3"/>
                </a:solidFill>
                <a:latin typeface="Consolas"/>
              </a:rPr>
              <a:t>smallint           </a:t>
            </a:r>
          </a:p>
          <a:p>
            <a:pPr>
              <a:lnSpc>
                <a:spcPts val="1408"/>
              </a:lnSpc>
            </a:pPr>
            <a:r>
              <a:rPr sz="1100" b="1">
                <a:solidFill>
                  <a:srgbClr val="FBF6EE"/>
                </a:solidFill>
                <a:latin typeface="Consolas"/>
              </a:rPr>
              <a:t>address             </a:t>
            </a:r>
            <a:r>
              <a:rPr sz="1100" b="0">
                <a:solidFill>
                  <a:srgbClr val="C9D9D3"/>
                </a:solidFill>
                <a:latin typeface="Consolas"/>
              </a:rPr>
              <a:t>text               </a:t>
            </a:r>
          </a:p>
          <a:p>
            <a:pPr>
              <a:lnSpc>
                <a:spcPts val="1408"/>
              </a:lnSpc>
            </a:pPr>
            <a:r>
              <a:rPr sz="1100" b="1">
                <a:solidFill>
                  <a:srgbClr val="FBF6EE"/>
                </a:solidFill>
                <a:latin typeface="Consolas"/>
              </a:rPr>
              <a:t>region_id           </a:t>
            </a:r>
            <a:r>
              <a:rPr sz="1100" b="0">
                <a:solidFill>
                  <a:srgbClr val="C9D9D3"/>
                </a:solidFill>
                <a:latin typeface="Consolas"/>
              </a:rPr>
              <a:t>bigint             </a:t>
            </a:r>
          </a:p>
          <a:p>
            <a:pPr>
              <a:lnSpc>
                <a:spcPts val="1408"/>
              </a:lnSpc>
            </a:pPr>
            <a:r>
              <a:rPr sz="1100" b="1">
                <a:solidFill>
                  <a:srgbClr val="FBF6EE"/>
                </a:solidFill>
                <a:latin typeface="Consolas"/>
              </a:rPr>
              <a:t>region_name         </a:t>
            </a:r>
            <a:r>
              <a:rPr sz="1100" b="0">
                <a:solidFill>
                  <a:srgbClr val="C9D9D3"/>
                </a:solidFill>
                <a:latin typeface="Consolas"/>
              </a:rPr>
              <a:t>text               </a:t>
            </a:r>
          </a:p>
          <a:p>
            <a:pPr>
              <a:lnSpc>
                <a:spcPts val="1408"/>
              </a:lnSpc>
            </a:pPr>
            <a:r>
              <a:rPr sz="1100" b="1">
                <a:solidFill>
                  <a:srgbClr val="FBF6EE"/>
                </a:solidFill>
                <a:latin typeface="Consolas"/>
              </a:rPr>
              <a:t>region_type         </a:t>
            </a:r>
            <a:r>
              <a:rPr sz="1100" b="0">
                <a:solidFill>
                  <a:srgbClr val="C9D9D3"/>
                </a:solidFill>
                <a:latin typeface="Consolas"/>
              </a:rPr>
              <a:t>text               </a:t>
            </a:r>
          </a:p>
          <a:p>
            <a:pPr>
              <a:lnSpc>
                <a:spcPts val="1408"/>
              </a:lnSpc>
            </a:pPr>
            <a:r>
              <a:rPr sz="1100" b="1">
                <a:solidFill>
                  <a:srgbClr val="FBF6EE"/>
                </a:solidFill>
                <a:latin typeface="Consolas"/>
              </a:rPr>
              <a:t>latitude            </a:t>
            </a:r>
            <a:r>
              <a:rPr sz="1100" b="0">
                <a:solidFill>
                  <a:srgbClr val="C9D9D3"/>
                </a:solidFill>
                <a:latin typeface="Consolas"/>
              </a:rPr>
              <a:t>double precision   </a:t>
            </a:r>
          </a:p>
          <a:p>
            <a:pPr>
              <a:lnSpc>
                <a:spcPts val="1408"/>
              </a:lnSpc>
            </a:pPr>
            <a:r>
              <a:rPr sz="1100" b="1">
                <a:solidFill>
                  <a:srgbClr val="FBF6EE"/>
                </a:solidFill>
                <a:latin typeface="Consolas"/>
              </a:rPr>
              <a:t>longitude           </a:t>
            </a:r>
            <a:r>
              <a:rPr sz="1100" b="0">
                <a:solidFill>
                  <a:srgbClr val="C9D9D3"/>
                </a:solidFill>
                <a:latin typeface="Consolas"/>
              </a:rPr>
              <a:t>double precision   </a:t>
            </a:r>
          </a:p>
          <a:p>
            <a:pPr>
              <a:lnSpc>
                <a:spcPts val="1408"/>
              </a:lnSpc>
            </a:pPr>
            <a:r>
              <a:rPr sz="1100" b="1">
                <a:solidFill>
                  <a:srgbClr val="FBF6EE"/>
                </a:solidFill>
                <a:latin typeface="Consolas"/>
              </a:rPr>
              <a:t>phone               </a:t>
            </a:r>
            <a:r>
              <a:rPr sz="1100" b="0">
                <a:solidFill>
                  <a:srgbClr val="C9D9D3"/>
                </a:solidFill>
                <a:latin typeface="Consolas"/>
              </a:rPr>
              <a:t>text               </a:t>
            </a:r>
          </a:p>
          <a:p>
            <a:pPr>
              <a:lnSpc>
                <a:spcPts val="1408"/>
              </a:lnSpc>
            </a:pPr>
            <a:r>
              <a:rPr sz="1100" b="1">
                <a:solidFill>
                  <a:srgbClr val="FBF6EE"/>
                </a:solidFill>
                <a:latin typeface="Consolas"/>
              </a:rPr>
              <a:t>email               </a:t>
            </a:r>
            <a:r>
              <a:rPr sz="1100" b="0">
                <a:solidFill>
                  <a:srgbClr val="C9D9D3"/>
                </a:solidFill>
                <a:latin typeface="Consolas"/>
              </a:rPr>
              <a:t>text               </a:t>
            </a:r>
          </a:p>
          <a:p>
            <a:pPr>
              <a:lnSpc>
                <a:spcPts val="1408"/>
              </a:lnSpc>
            </a:pPr>
            <a:r>
              <a:rPr sz="1100" b="1">
                <a:solidFill>
                  <a:srgbClr val="FBF6EE"/>
                </a:solidFill>
                <a:latin typeface="Consolas"/>
              </a:rPr>
              <a:t>postal_code         </a:t>
            </a:r>
            <a:r>
              <a:rPr sz="1100" b="0">
                <a:solidFill>
                  <a:srgbClr val="C9D9D3"/>
                </a:solidFill>
                <a:latin typeface="Consolas"/>
              </a:rPr>
              <a:t>text               </a:t>
            </a:r>
          </a:p>
          <a:p>
            <a:pPr>
              <a:lnSpc>
                <a:spcPts val="1408"/>
              </a:lnSpc>
            </a:pPr>
            <a:r>
              <a:rPr sz="1100" b="1">
                <a:solidFill>
                  <a:srgbClr val="FBF6EE"/>
                </a:solidFill>
                <a:latin typeface="Consolas"/>
              </a:rPr>
              <a:t>check_in_time       </a:t>
            </a:r>
            <a:r>
              <a:rPr sz="1100" b="0">
                <a:solidFill>
                  <a:srgbClr val="C9D9D3"/>
                </a:solidFill>
                <a:latin typeface="Consolas"/>
              </a:rPr>
              <a:t>time               </a:t>
            </a:r>
          </a:p>
          <a:p>
            <a:pPr>
              <a:lnSpc>
                <a:spcPts val="1408"/>
              </a:lnSpc>
            </a:pPr>
            <a:r>
              <a:rPr sz="1100" b="1">
                <a:solidFill>
                  <a:srgbClr val="FBF6EE"/>
                </a:solidFill>
                <a:latin typeface="Consolas"/>
              </a:rPr>
              <a:t>check_out_time      </a:t>
            </a:r>
            <a:r>
              <a:rPr sz="1100" b="0">
                <a:solidFill>
                  <a:srgbClr val="C9D9D3"/>
                </a:solidFill>
                <a:latin typeface="Consolas"/>
              </a:rPr>
              <a:t>time               </a:t>
            </a:r>
          </a:p>
          <a:p>
            <a:pPr>
              <a:lnSpc>
                <a:spcPts val="1408"/>
              </a:lnSpc>
            </a:pPr>
            <a:r>
              <a:rPr sz="1100" b="1">
                <a:solidFill>
                  <a:srgbClr val="FBF6EE"/>
                </a:solidFill>
                <a:latin typeface="Consolas"/>
              </a:rPr>
              <a:t>images              </a:t>
            </a:r>
            <a:r>
              <a:rPr sz="1100" b="0">
                <a:solidFill>
                  <a:srgbClr val="C9D9D3"/>
                </a:solidFill>
                <a:latin typeface="Consolas"/>
              </a:rPr>
              <a:t>jsonb              </a:t>
            </a:r>
          </a:p>
          <a:p>
            <a:pPr>
              <a:lnSpc>
                <a:spcPts val="1408"/>
              </a:lnSpc>
            </a:pPr>
            <a:r>
              <a:rPr sz="1100" b="1">
                <a:solidFill>
                  <a:srgbClr val="FBF6EE"/>
                </a:solidFill>
                <a:latin typeface="Consolas"/>
              </a:rPr>
              <a:t>amenity_groups      </a:t>
            </a:r>
            <a:r>
              <a:rPr sz="1100" b="0">
                <a:solidFill>
                  <a:srgbClr val="C9D9D3"/>
                </a:solidFill>
                <a:latin typeface="Consolas"/>
              </a:rPr>
              <a:t>jsonb              </a:t>
            </a:r>
          </a:p>
          <a:p>
            <a:pPr>
              <a:lnSpc>
                <a:spcPts val="1408"/>
              </a:lnSpc>
            </a:pPr>
            <a:r>
              <a:rPr sz="1100" b="1">
                <a:solidFill>
                  <a:srgbClr val="FBF6EE"/>
                </a:solidFill>
                <a:latin typeface="Consolas"/>
              </a:rPr>
              <a:t>description_struct  </a:t>
            </a:r>
            <a:r>
              <a:rPr sz="1100" b="0">
                <a:solidFill>
                  <a:srgbClr val="C9D9D3"/>
                </a:solidFill>
                <a:latin typeface="Consolas"/>
              </a:rPr>
              <a:t>jsonb              </a:t>
            </a:r>
          </a:p>
          <a:p>
            <a:pPr>
              <a:lnSpc>
                <a:spcPts val="1408"/>
              </a:lnSpc>
            </a:pPr>
            <a:r>
              <a:rPr sz="1100" b="1">
                <a:solidFill>
                  <a:srgbClr val="FBF6EE"/>
                </a:solidFill>
                <a:latin typeface="Consolas"/>
              </a:rPr>
              <a:t>is_deleted          </a:t>
            </a:r>
            <a:r>
              <a:rPr sz="1100" b="0">
                <a:solidFill>
                  <a:srgbClr val="C9D9D3"/>
                </a:solidFill>
                <a:latin typeface="Consolas"/>
              </a:rPr>
              <a:t>boolean            default false</a:t>
            </a:r>
          </a:p>
          <a:p>
            <a:pPr>
              <a:lnSpc>
                <a:spcPts val="1408"/>
              </a:lnSpc>
            </a:pPr>
            <a:r>
              <a:rPr sz="1100" b="1">
                <a:solidFill>
                  <a:srgbClr val="FBF6EE"/>
                </a:solidFill>
                <a:latin typeface="Consolas"/>
              </a:rPr>
              <a:t>source_language     </a:t>
            </a:r>
            <a:r>
              <a:rPr sz="1100" b="0">
                <a:solidFill>
                  <a:srgbClr val="C9D9D3"/>
                </a:solidFill>
                <a:latin typeface="Consolas"/>
              </a:rPr>
              <a:t>text               default 'en'</a:t>
            </a:r>
          </a:p>
          <a:p>
            <a:pPr>
              <a:lnSpc>
                <a:spcPts val="1408"/>
              </a:lnSpc>
            </a:pPr>
            <a:r>
              <a:rPr sz="1100" b="1">
                <a:solidFill>
                  <a:srgbClr val="FBF6EE"/>
                </a:solidFill>
                <a:latin typeface="Consolas"/>
              </a:rPr>
              <a:t>updated_at          </a:t>
            </a:r>
            <a:r>
              <a:rPr sz="1100" b="0">
                <a:solidFill>
                  <a:srgbClr val="C9D9D3"/>
                </a:solidFill>
                <a:latin typeface="Consolas"/>
              </a:rPr>
              <a:t>timestamptz        default now()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9B9384"/>
                </a:solidFill>
                <a:latin typeface="Segoe UI"/>
              </a:rPr>
              <a:t>BALKANEA HOTEL DATABASE  —  SCHEMA &amp; ARCHITECTURE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74375" y="6528816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>
                <a:solidFill>
                  <a:srgbClr val="9B9384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457200"/>
            <a:ext cx="11185855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7A3E0F"/>
                </a:solidFill>
                <a:latin typeface="Segoe UI"/>
              </a:rPr>
              <a:t>04  —  SCHEMA 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85855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700" b="1">
                <a:solidFill>
                  <a:srgbClr val="1A1A2E"/>
                </a:solidFill>
                <a:latin typeface="Segoe UI Semibold"/>
              </a:rPr>
              <a:t>rooms, and how the two tables join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10800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50" b="0">
                <a:solidFill>
                  <a:srgbClr val="6B6558"/>
                </a:solidFill>
                <a:latin typeface="Segoe UI"/>
              </a:rPr>
              <a:t>Partitioned the same way as hotels, so a hotel's rooms always live in the same partition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970000"/>
            <a:ext cx="5450000" cy="4510000"/>
          </a:xfrm>
          <a:prstGeom prst="roundRect">
            <a:avLst>
              <a:gd name="adj" fmla="val 3000"/>
            </a:avLst>
          </a:prstGeom>
          <a:solidFill>
            <a:srgbClr val="003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22920" y="2130000"/>
            <a:ext cx="5010000" cy="41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64"/>
              </a:lnSpc>
            </a:pPr>
            <a:r>
              <a:rPr sz="1300" b="1">
                <a:solidFill>
                  <a:srgbClr val="FBF6EE"/>
                </a:solidFill>
                <a:latin typeface="Consolas"/>
              </a:rPr>
              <a:t>id                </a:t>
            </a:r>
            <a:r>
              <a:rPr sz="1300" b="0">
                <a:solidFill>
                  <a:srgbClr val="C9D9D3"/>
                </a:solidFill>
                <a:latin typeface="Consolas"/>
              </a:rPr>
              <a:t>bigserial      </a:t>
            </a:r>
          </a:p>
          <a:p>
            <a:pPr>
              <a:lnSpc>
                <a:spcPts val="1664"/>
              </a:lnSpc>
            </a:pPr>
            <a:r>
              <a:rPr sz="1300" b="1">
                <a:solidFill>
                  <a:srgbClr val="FBF6EE"/>
                </a:solidFill>
                <a:latin typeface="Consolas"/>
              </a:rPr>
              <a:t>hotel_hid         </a:t>
            </a:r>
            <a:r>
              <a:rPr sz="1300" b="0">
                <a:solidFill>
                  <a:srgbClr val="C9D9D3"/>
                </a:solidFill>
                <a:latin typeface="Consolas"/>
              </a:rPr>
              <a:t>bigint         not null</a:t>
            </a:r>
          </a:p>
          <a:p>
            <a:pPr>
              <a:lnSpc>
                <a:spcPts val="1664"/>
              </a:lnSpc>
            </a:pPr>
            <a:r>
              <a:rPr sz="1300" b="1">
                <a:solidFill>
                  <a:srgbClr val="FBF6EE"/>
                </a:solidFill>
                <a:latin typeface="Consolas"/>
              </a:rPr>
              <a:t>country_code      </a:t>
            </a:r>
            <a:r>
              <a:rPr sz="1300" b="0">
                <a:solidFill>
                  <a:srgbClr val="C9D9D3"/>
                </a:solidFill>
                <a:latin typeface="Consolas"/>
              </a:rPr>
              <a:t>text           not null</a:t>
            </a:r>
          </a:p>
          <a:p>
            <a:pPr>
              <a:lnSpc>
                <a:spcPts val="1664"/>
              </a:lnSpc>
            </a:pPr>
            <a:r>
              <a:rPr sz="1300" b="1">
                <a:solidFill>
                  <a:srgbClr val="FBF6EE"/>
                </a:solidFill>
                <a:latin typeface="Consolas"/>
              </a:rPr>
              <a:t>room_group_id     </a:t>
            </a:r>
            <a:r>
              <a:rPr sz="1300" b="0">
                <a:solidFill>
                  <a:srgbClr val="C9D9D3"/>
                </a:solidFill>
                <a:latin typeface="Consolas"/>
              </a:rPr>
              <a:t>integer        </a:t>
            </a:r>
          </a:p>
          <a:p>
            <a:pPr>
              <a:lnSpc>
                <a:spcPts val="1664"/>
              </a:lnSpc>
            </a:pPr>
            <a:r>
              <a:rPr sz="1300" b="1">
                <a:solidFill>
                  <a:srgbClr val="FBF6EE"/>
                </a:solidFill>
                <a:latin typeface="Consolas"/>
              </a:rPr>
              <a:t>name              </a:t>
            </a:r>
            <a:r>
              <a:rPr sz="1300" b="0">
                <a:solidFill>
                  <a:srgbClr val="C9D9D3"/>
                </a:solidFill>
                <a:latin typeface="Consolas"/>
              </a:rPr>
              <a:t>text           </a:t>
            </a:r>
          </a:p>
          <a:p>
            <a:pPr>
              <a:lnSpc>
                <a:spcPts val="1664"/>
              </a:lnSpc>
            </a:pPr>
            <a:r>
              <a:rPr sz="1300" b="1">
                <a:solidFill>
                  <a:srgbClr val="FBF6EE"/>
                </a:solidFill>
                <a:latin typeface="Consolas"/>
              </a:rPr>
              <a:t>room_amenities    </a:t>
            </a:r>
            <a:r>
              <a:rPr sz="1300" b="0">
                <a:solidFill>
                  <a:srgbClr val="C9D9D3"/>
                </a:solidFill>
                <a:latin typeface="Consolas"/>
              </a:rPr>
              <a:t>jsonb          </a:t>
            </a:r>
          </a:p>
          <a:p>
            <a:pPr>
              <a:lnSpc>
                <a:spcPts val="1664"/>
              </a:lnSpc>
            </a:pPr>
            <a:r>
              <a:rPr sz="1300" b="1">
                <a:solidFill>
                  <a:srgbClr val="FBF6EE"/>
                </a:solidFill>
                <a:latin typeface="Consolas"/>
              </a:rPr>
              <a:t>rg_ext            </a:t>
            </a:r>
            <a:r>
              <a:rPr sz="1300" b="0">
                <a:solidFill>
                  <a:srgbClr val="C9D9D3"/>
                </a:solidFill>
                <a:latin typeface="Consolas"/>
              </a:rPr>
              <a:t>jsonb          </a:t>
            </a:r>
          </a:p>
          <a:p>
            <a:pPr>
              <a:lnSpc>
                <a:spcPts val="1664"/>
              </a:lnSpc>
            </a:pPr>
            <a:r>
              <a:rPr sz="1300" b="1">
                <a:solidFill>
                  <a:srgbClr val="FBF6EE"/>
                </a:solidFill>
                <a:latin typeface="Consolas"/>
              </a:rPr>
              <a:t>name_struct       </a:t>
            </a:r>
            <a:r>
              <a:rPr sz="1300" b="0">
                <a:solidFill>
                  <a:srgbClr val="C9D9D3"/>
                </a:solidFill>
                <a:latin typeface="Consolas"/>
              </a:rPr>
              <a:t>jsonb          </a:t>
            </a:r>
          </a:p>
          <a:p>
            <a:pPr>
              <a:lnSpc>
                <a:spcPts val="1664"/>
              </a:lnSpc>
            </a:pPr>
            <a:r>
              <a:rPr sz="1300" b="1">
                <a:solidFill>
                  <a:srgbClr val="FBF6EE"/>
                </a:solidFill>
                <a:latin typeface="Consolas"/>
              </a:rPr>
              <a:t>images            </a:t>
            </a:r>
            <a:r>
              <a:rPr sz="1300" b="0">
                <a:solidFill>
                  <a:srgbClr val="C9D9D3"/>
                </a:solidFill>
                <a:latin typeface="Consolas"/>
              </a:rPr>
              <a:t>jsonb          </a:t>
            </a:r>
          </a:p>
          <a:p>
            <a:pPr>
              <a:lnSpc>
                <a:spcPts val="1664"/>
              </a:lnSpc>
            </a:pPr>
            <a:r>
              <a:rPr sz="1300" b="1">
                <a:solidFill>
                  <a:srgbClr val="FBF6EE"/>
                </a:solidFill>
                <a:latin typeface="Consolas"/>
              </a:rPr>
              <a:t>updated_at        </a:t>
            </a:r>
            <a:r>
              <a:rPr sz="1300" b="0">
                <a:solidFill>
                  <a:srgbClr val="C9D9D3"/>
                </a:solidFill>
                <a:latin typeface="Consolas"/>
              </a:rPr>
              <a:t>timestamptz    default now()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38775" y="1970000"/>
            <a:ext cx="5450000" cy="21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85079" y="2107000"/>
            <a:ext cx="5157392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1A1A2E"/>
                </a:solidFill>
                <a:latin typeface="Segoe UI Semibold"/>
              </a:rPr>
              <a:t>Keys &amp; relationships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85079" y="2437000"/>
            <a:ext cx="5157392" cy="17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B6558"/>
                </a:solidFill>
                <a:latin typeface="Segoe UI"/>
              </a:rPr>
              <a:t>•  Primary key: (country_code, id)</a:t>
            </a:r>
          </a:p>
          <a:p>
            <a:pPr algn="l">
              <a:lnSpc>
                <a:spcPct val="125000"/>
              </a:lnSpc>
            </a:pPr>
            <a:r>
              <a:rPr sz="950" b="0">
                <a:solidFill>
                  <a:srgbClr val="6B6558"/>
                </a:solidFill>
                <a:latin typeface="Segoe UI"/>
              </a:rPr>
              <a:t>•  Foreign key: rooms(country_code, hotel_hid) → hotels(country_code, hid), on delete cascade</a:t>
            </a:r>
          </a:p>
          <a:p>
            <a:pPr algn="l">
              <a:lnSpc>
                <a:spcPct val="125000"/>
              </a:lnSpc>
            </a:pPr>
            <a:r>
              <a:rPr sz="950" b="0">
                <a:solidFill>
                  <a:srgbClr val="6B6558"/>
                </a:solidFill>
                <a:latin typeface="Segoe UI"/>
              </a:rPr>
              <a:t>•  Unique (country_code, hotel_hid, room_group_id) — the natural key the daily refresh upserts against, so re-imports update rows instead of duplicating them</a:t>
            </a:r>
          </a:p>
          <a:p>
            <a:pPr algn="l">
              <a:lnSpc>
                <a:spcPct val="125000"/>
              </a:lnSpc>
            </a:pPr>
            <a:r>
              <a:rPr sz="950" b="0">
                <a:solidFill>
                  <a:srgbClr val="6B6558"/>
                </a:solidFill>
                <a:latin typeface="Segoe UI"/>
              </a:rPr>
              <a:t>•  Composite keys on both sides keep every hotel↔room join scoped to one partition (“partition-wise joins”)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8775" y="4270000"/>
            <a:ext cx="5450000" cy="21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85079" y="4407000"/>
            <a:ext cx="5157392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1A1A2E"/>
                </a:solidFill>
                <a:latin typeface="Segoe UI Semibold"/>
              </a:rPr>
              <a:t>Indexes on hotels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5079" y="4737000"/>
            <a:ext cx="5157392" cy="17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B6558"/>
                </a:solidFill>
                <a:latin typeface="Segoe UI"/>
              </a:rPr>
              <a:t>•  idx_hotels_star_rating_name — (star_rating desc, name) — powers Nea's default sorted list</a:t>
            </a:r>
          </a:p>
          <a:p>
            <a:pPr algn="l">
              <a:lnSpc>
                <a:spcPct val="125000"/>
              </a:lnSpc>
            </a:pPr>
            <a:r>
              <a:rPr sz="950" b="0">
                <a:solidFill>
                  <a:srgbClr val="6B6558"/>
                </a:solidFill>
                <a:latin typeface="Segoe UI"/>
              </a:rPr>
              <a:t>•  idx_hotels_amenity_groups_gin — GIN index on amenity_groups (JSONB) — powers amenity-filtered search</a:t>
            </a:r>
          </a:p>
          <a:p>
            <a:pPr algn="l">
              <a:lnSpc>
                <a:spcPct val="125000"/>
              </a:lnSpc>
            </a:pPr>
            <a:r>
              <a:rPr sz="950" b="0">
                <a:solidFill>
                  <a:srgbClr val="6B6558"/>
                </a:solidFill>
                <a:latin typeface="Segoe UI"/>
              </a:rPr>
              <a:t>•  idx_hotels_region, idx_hotels_kind, idx_rooms_hotel — supporting lookups, auto-applied to every partition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9B9384"/>
                </a:solidFill>
                <a:latin typeface="Segoe UI"/>
              </a:rPr>
              <a:t>BALKANEA HOTEL DATABASE  —  SCHEMA &amp; ARCHITECTURE 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74375" y="6528816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>
                <a:solidFill>
                  <a:srgbClr val="9B9384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457200"/>
            <a:ext cx="11185855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7A3E0F"/>
                </a:solidFill>
                <a:latin typeface="Segoe UI"/>
              </a:rPr>
              <a:t>05  —  WHY SUPABASE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85855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700" b="1">
                <a:solidFill>
                  <a:srgbClr val="1A1A2E"/>
                </a:solidFill>
                <a:latin typeface="Segoe UI Semibold"/>
              </a:rPr>
              <a:t>Not a new vendor decision — consolidation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10800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50" b="0">
                <a:solidFill>
                  <a:srgbClr val="6B6558"/>
                </a:solidFill>
                <a:latin typeface="Segoe UI"/>
              </a:rPr>
              <a:t>Weighed against the realistic alternatives, not chosen in a vacuum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970000"/>
            <a:ext cx="11185855" cy="93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1255371" y="2116304"/>
            <a:ext cx="330000" cy="237744"/>
          </a:xfrm>
          <a:prstGeom prst="roundRect">
            <a:avLst>
              <a:gd name="adj" fmla="val 50000"/>
            </a:avLst>
          </a:prstGeom>
          <a:solidFill>
            <a:srgbClr val="E1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750" b="1">
                <a:solidFill>
                  <a:srgbClr val="1F7A4D"/>
                </a:solidFill>
                <a:latin typeface="Segoe UI"/>
              </a:rPr>
              <a:t>Live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" y="2107000"/>
            <a:ext cx="10893247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1A1A2E"/>
                </a:solidFill>
                <a:latin typeface="Segoe UI Semibold"/>
              </a:rPr>
              <a:t>Already the mobile app's database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" y="2437000"/>
            <a:ext cx="10893247" cy="53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B6558"/>
                </a:solidFill>
                <a:latin typeface="Segoe UI"/>
              </a:rPr>
              <a:t>Google OAuth already runs on Supabase today, redirect URI configured. Adding hotel data here means one Postgres instance and one credential set for the app — not a second vendor to operate.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040000"/>
            <a:ext cx="11185855" cy="93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" y="3177000"/>
            <a:ext cx="10893247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1A1A2E"/>
                </a:solidFill>
                <a:latin typeface="Segoe UI Semibold"/>
              </a:rPr>
              <a:t>The self-hosted alternative we already ruled 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" y="3507000"/>
            <a:ext cx="10893247" cy="53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B6558"/>
                </a:solidFill>
                <a:latin typeface="Segoe UI"/>
              </a:rPr>
              <a:t>Postgres on the existing web stage server was the other option. Ray and Hristijan agreed on 2026-08-04 this needs to be separate infrastructure — Supabase gives that isolation without us running the server.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110000"/>
            <a:ext cx="11185855" cy="93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" y="4247000"/>
            <a:ext cx="10893247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1A1A2E"/>
                </a:solidFill>
                <a:latin typeface="Segoe UI Semibold"/>
              </a:rPr>
              <a:t>Real Postgres, not a workaround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" y="4577000"/>
            <a:ext cx="10893247" cy="53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B6558"/>
                </a:solidFill>
                <a:latin typeface="Segoe UI"/>
              </a:rPr>
              <a:t>List partitioning, composite foreign keys, and GIN indexes on JSONB — what makes amenity search and partition-wise joins fast — aren't available in the MySQL web runs on today.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9B9384"/>
                </a:solidFill>
                <a:latin typeface="Segoe UI"/>
              </a:rPr>
              <a:t>BALKANEA HOTEL DATABASE  —  SCHEMA &amp; ARCHITECTURE 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74375" y="6528816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>
                <a:solidFill>
                  <a:srgbClr val="9B9384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457200"/>
            <a:ext cx="11185855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7A3E0F"/>
                </a:solidFill>
                <a:latin typeface="Segoe UI"/>
              </a:rPr>
              <a:t>06  —  HOSTING &amp; COST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85855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700" b="1">
                <a:solidFill>
                  <a:srgbClr val="1A1A2E"/>
                </a:solidFill>
                <a:latin typeface="Segoe UI Semibold"/>
              </a:rPr>
              <a:t>What this costs today, and at full 4M-hotel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10800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50" b="0">
                <a:solidFill>
                  <a:srgbClr val="6B6558"/>
                </a:solidFill>
                <a:latin typeface="Segoe UI"/>
              </a:rPr>
              <a:t>Verified live from the sandbox project (2026-08-10) and extrapolated from its own measured storage footprint — not a vendor quote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970000"/>
          <a:ext cx="11185855" cy="34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929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929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00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BF6EE"/>
                          </a:solidFill>
                          <a:latin typeface="Segoe UI Semibold"/>
                        </a:rPr>
                        <a:t>Line item</a:t>
                      </a:r>
                    </a:p>
                  </a:txBody>
                  <a:tcPr marL="90000" marR="90000" marT="45000" marB="45000"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BF6EE"/>
                          </a:solidFill>
                          <a:latin typeface="Segoe UI Semibold"/>
                        </a:rPr>
                        <a:t>Sandbox — today (850K hotels)</a:t>
                      </a:r>
                    </a:p>
                  </a:txBody>
                  <a:tcPr marL="90000" marR="90000" marT="45000" marB="45000"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BF6EE"/>
                          </a:solidFill>
                          <a:latin typeface="Segoe UI Semibold"/>
                        </a:rPr>
                        <a:t>Production — baseline (~4M hotels)</a:t>
                      </a:r>
                    </a:p>
                  </a:txBody>
                  <a:tcPr marL="90000" marR="90000" marT="45000" marB="45000" anchor="ctr">
                    <a:solidFill>
                      <a:srgbClr val="1A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2E"/>
                          </a:solidFill>
                          <a:latin typeface="Segoe UI"/>
                        </a:rPr>
                        <a:t>Plan base (Supabase Pro)</a:t>
                      </a:r>
                    </a:p>
                  </a:txBody>
                  <a:tcPr marL="90000" marR="90000" marT="45000" marB="4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6B6558"/>
                          </a:solidFill>
                          <a:latin typeface="Segoe UI"/>
                        </a:rPr>
                        <a:t>$25/mo</a:t>
                      </a:r>
                    </a:p>
                  </a:txBody>
                  <a:tcPr marL="90000" marR="90000" marT="45000" marB="4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6B6558"/>
                          </a:solidFill>
                          <a:latin typeface="Segoe UI"/>
                        </a:rPr>
                        <a:t>$25/mo</a:t>
                      </a:r>
                    </a:p>
                  </a:txBody>
                  <a:tcPr marL="90000" marR="90000" marT="45000" marB="45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2E"/>
                          </a:solidFill>
                          <a:latin typeface="Segoe UI"/>
                        </a:rPr>
                        <a:t>Compute</a:t>
                      </a:r>
                    </a:p>
                  </a:txBody>
                  <a:tcPr marL="90000" marR="90000" marT="45000" marB="45000" anchor="ctr"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6B6558"/>
                          </a:solidFill>
                          <a:latin typeface="Segoe UI"/>
                        </a:rPr>
                        <a:t>Medium: $60 − $10 included credit = $50/mo net</a:t>
                      </a:r>
                    </a:p>
                  </a:txBody>
                  <a:tcPr marL="90000" marR="90000" marT="45000" marB="45000" anchor="ctr"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6B6558"/>
                          </a:solidFill>
                          <a:latin typeface="Segoe UI"/>
                        </a:rPr>
                        <a:t>Medium: $50/mo net (proven through 9x data growth already)</a:t>
                      </a:r>
                    </a:p>
                  </a:txBody>
                  <a:tcPr marL="90000" marR="90000" marT="45000" marB="45000" anchor="ctr">
                    <a:solidFill>
                      <a:srgbClr val="F4F0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2E"/>
                          </a:solidFill>
                          <a:latin typeface="Segoe UI"/>
                        </a:rPr>
                        <a:t>Disk</a:t>
                      </a:r>
                    </a:p>
                  </a:txBody>
                  <a:tcPr marL="90000" marR="90000" marT="45000" marB="4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6B6558"/>
                          </a:solidFill>
                          <a:latin typeface="Segoe UI"/>
                        </a:rPr>
                        <a:t>12GB provisioned, 7.4GB measured in use — approx. $0.50/mo over the 8GB included</a:t>
                      </a:r>
                    </a:p>
                  </a:txBody>
                  <a:tcPr marL="90000" marR="90000" marT="45000" marB="4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6B6558"/>
                          </a:solidFill>
                          <a:latin typeface="Segoe UI"/>
                        </a:rPr>
                        <a:t>approx. 34GB extrapolated (10.1% measured index overhead) — 40GB provisioned → approx. $4/mo over included</a:t>
                      </a:r>
                    </a:p>
                  </a:txBody>
                  <a:tcPr marL="90000" marR="90000" marT="45000" marB="45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2E"/>
                          </a:solidFill>
                          <a:latin typeface="Segoe UI"/>
                        </a:rPr>
                        <a:t>Egress</a:t>
                      </a:r>
                    </a:p>
                  </a:txBody>
                  <a:tcPr marL="90000" marR="90000" marT="45000" marB="45000" anchor="ctr"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6B6558"/>
                          </a:solidFill>
                          <a:latin typeface="Segoe UI"/>
                        </a:rPr>
                        <a:t>within 250GB included</a:t>
                      </a:r>
                    </a:p>
                  </a:txBody>
                  <a:tcPr marL="90000" marR="90000" marT="45000" marB="45000" anchor="ctr"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6B6558"/>
                          </a:solidFill>
                          <a:latin typeface="Segoe UI"/>
                        </a:rPr>
                        <a:t>within 250GB included*</a:t>
                      </a:r>
                    </a:p>
                  </a:txBody>
                  <a:tcPr marL="90000" marR="90000" marT="45000" marB="45000" anchor="ctr">
                    <a:solidFill>
                      <a:srgbClr val="F4F0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2E"/>
                          </a:solidFill>
                          <a:latin typeface="Segoe UI"/>
                        </a:rPr>
                        <a:t>HA read replica</a:t>
                      </a:r>
                    </a:p>
                  </a:txBody>
                  <a:tcPr marL="90000" marR="90000" marT="45000" marB="4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6B6558"/>
                          </a:solidFill>
                          <a:latin typeface="Segoe UI"/>
                        </a:rPr>
                        <a:t>not enabled</a:t>
                      </a:r>
                    </a:p>
                  </a:txBody>
                  <a:tcPr marL="90000" marR="90000" marT="45000" marB="4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6B6558"/>
                          </a:solidFill>
                          <a:latin typeface="Segoe UI"/>
                        </a:rPr>
                        <a:t>not enabled (deferred until real traffic justifies it)</a:t>
                      </a:r>
                    </a:p>
                  </a:txBody>
                  <a:tcPr marL="90000" marR="90000" marT="45000" marB="45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2E"/>
                          </a:solidFill>
                          <a:latin typeface="Segoe UI"/>
                        </a:rPr>
                        <a:t>PITR backups</a:t>
                      </a:r>
                    </a:p>
                  </a:txBody>
                  <a:tcPr marL="90000" marR="90000" marT="45000" marB="45000" anchor="ctr"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6B6558"/>
                          </a:solidFill>
                          <a:latin typeface="Segoe UI"/>
                        </a:rPr>
                        <a:t>skipped — hotel data is fully re-derivable from RateHawk</a:t>
                      </a:r>
                    </a:p>
                  </a:txBody>
                  <a:tcPr marL="90000" marR="90000" marT="45000" marB="45000" anchor="ctr"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6B6558"/>
                          </a:solidFill>
                          <a:latin typeface="Segoe UI"/>
                        </a:rPr>
                        <a:t>skipped, same reasoning</a:t>
                      </a:r>
                    </a:p>
                  </a:txBody>
                  <a:tcPr marL="90000" marR="90000" marT="45000" marB="45000" anchor="ctr">
                    <a:solidFill>
                      <a:srgbClr val="F4F0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A1A2E"/>
                          </a:solidFill>
                          <a:latin typeface="Segoe UI Semibold"/>
                        </a:rPr>
                        <a:t>Total (baseline)</a:t>
                      </a:r>
                    </a:p>
                  </a:txBody>
                  <a:tcPr marL="90000" marR="90000" marT="45000" marB="45000" anchor="ctr">
                    <a:solidFill>
                      <a:srgbClr val="EFE4D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A1A2E"/>
                          </a:solidFill>
                          <a:latin typeface="Segoe UI"/>
                        </a:rPr>
                        <a:t>approx. $75.50/mo</a:t>
                      </a:r>
                    </a:p>
                  </a:txBody>
                  <a:tcPr marL="90000" marR="90000" marT="45000" marB="45000" anchor="ctr">
                    <a:solidFill>
                      <a:srgbClr val="EFE4D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A1A2E"/>
                          </a:solidFill>
                          <a:latin typeface="Segoe UI"/>
                        </a:rPr>
                        <a:t>approx. $79/mo</a:t>
                      </a:r>
                    </a:p>
                  </a:txBody>
                  <a:tcPr marL="90000" marR="90000" marT="45000" marB="45000" anchor="ctr">
                    <a:solidFill>
                      <a:srgbClr val="EFE4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5510000"/>
            <a:ext cx="11185855" cy="9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2000"/>
              </a:lnSpc>
            </a:pPr>
            <a:r>
              <a:rPr sz="850" b="0">
                <a:solidFill>
                  <a:srgbClr val="6B6558"/>
                </a:solidFill>
                <a:latin typeface="Segoe UI"/>
              </a:rPr>
              <a:t>* Assumes JSON payloads only — hotel/room images are served from RateHawk's CDN, not through Supabase. · Headroom option: Large compute ($110 − $10 credit = $100/mo net) if concurrent mobile traffic outgrows Medium, approx. $129/mo total. · Optional HA read replica: approx. $50–$60/mo on top, once real traffic justifies it. · Sandbox could step down to Small/Micro (approx. $25–$30/mo total) once the daily-refresh pipeline is steady-state and no longer needs Medium's index-build throughput.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9B9384"/>
                </a:solidFill>
                <a:latin typeface="Segoe UI"/>
              </a:rPr>
              <a:t>BALKANEA HOTEL DATABASE  —  SCHEMA &amp; ARCHITECTURE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74375" y="6528816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>
                <a:solidFill>
                  <a:srgbClr val="9B9384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457200"/>
            <a:ext cx="11185855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7A3E0F"/>
                </a:solidFill>
                <a:latin typeface="Segoe UI"/>
              </a:rPr>
              <a:t>07  — 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85855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700" b="1">
                <a:solidFill>
                  <a:srgbClr val="1A1A2E"/>
                </a:solidFill>
                <a:latin typeface="Segoe UI Semibold"/>
              </a:rPr>
              <a:t>Fast today, and why it should hold at 4M hotels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10800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50" b="0">
                <a:solidFill>
                  <a:srgbClr val="6B6558"/>
                </a:solidFill>
                <a:latin typeface="Segoe UI"/>
              </a:rPr>
              <a:t>Measured against the live sandbox, not projected from a benchmark suite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970000"/>
            <a:ext cx="11185855" cy="8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1255371" y="2116304"/>
            <a:ext cx="330000" cy="237744"/>
          </a:xfrm>
          <a:prstGeom prst="roundRect">
            <a:avLst>
              <a:gd name="adj" fmla="val 50000"/>
            </a:avLst>
          </a:prstGeom>
          <a:solidFill>
            <a:srgbClr val="E1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750" b="1">
                <a:solidFill>
                  <a:srgbClr val="1F7A4D"/>
                </a:solidFill>
                <a:latin typeface="Segoe UI"/>
              </a:rPr>
              <a:t>Live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" y="2107000"/>
            <a:ext cx="10893247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50" b="1">
                <a:solidFill>
                  <a:srgbClr val="1A1A2E"/>
                </a:solidFill>
                <a:latin typeface="Segoe UI Semibold"/>
              </a:rPr>
              <a:t>approx. 215ms end-to-end — under 1ms of it is the database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" y="2437000"/>
            <a:ext cx="10893247" cy="4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6558"/>
                </a:solidFill>
                <a:latin typeface="Segoe UI"/>
              </a:rPr>
              <a:t>Client-to-Supabase round trip for the region-filtered, sorted hotel list measured at approx. 213–218ms. Server-side query execution itself: 0.216ms — the rest is network latency to the EU-region database, not query work.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018017"/>
            <a:ext cx="11185855" cy="8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" y="3155017"/>
            <a:ext cx="10893247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50" b="1">
                <a:solidFill>
                  <a:srgbClr val="1A1A2E"/>
                </a:solidFill>
                <a:latin typeface="Segoe UI Semibold"/>
              </a:rPr>
              <a:t>Partitioning keeps per-country queries flat as the catalog grows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" y="3485017"/>
            <a:ext cx="10893247" cy="4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6558"/>
                </a:solidFill>
                <a:latin typeface="Segoe UI"/>
              </a:rPr>
              <a:t>Each query is scoped to one country_code partition, not the full table. Expect similar sub-millisecond to low-single-digit-ms DB response at full ~4M-hotel scale, since any one country's partition doesn't grow anywhere near 30x.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008017"/>
            <a:ext cx="11185855" cy="8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9224" y="4145017"/>
            <a:ext cx="10893247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50" b="1">
                <a:solidFill>
                  <a:srgbClr val="1A1A2E"/>
                </a:solidFill>
                <a:latin typeface="Segoe UI Semibold"/>
              </a:rPr>
              <a:t>RateHawk, not the database, is the real latency budget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" y="4475017"/>
            <a:ext cx="10893247" cy="4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6558"/>
                </a:solidFill>
                <a:latin typeface="Segoe UI"/>
              </a:rPr>
              <a:t>DB-side filtering (region, amenities, star rating) is fast at any scale. Live price/availability is a separate RateHawk call, 5–30 seconds, triggered only on a specific hotel — not the initial list.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960000"/>
            <a:ext cx="11185855" cy="38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8000"/>
              </a:lnSpc>
            </a:pPr>
            <a:r>
              <a:rPr sz="850" b="0" dirty="0">
                <a:solidFill>
                  <a:srgbClr val="6B6558"/>
                </a:solidFill>
                <a:latin typeface="Segoe UI"/>
              </a:rPr>
              <a:t>Note: these numbers are the direct database round trip. The mobile app calls through </a:t>
            </a:r>
            <a:r>
              <a:rPr sz="850" b="0" dirty="0" err="1">
                <a:solidFill>
                  <a:srgbClr val="6B6558"/>
                </a:solidFill>
                <a:latin typeface="Segoe UI"/>
              </a:rPr>
              <a:t>balkanea</a:t>
            </a:r>
            <a:r>
              <a:rPr sz="850" b="0" dirty="0">
                <a:solidFill>
                  <a:srgbClr val="6B6558"/>
                </a:solidFill>
                <a:latin typeface="Segoe UI"/>
              </a:rPr>
              <a:t>-lead-webhook's /</a:t>
            </a:r>
            <a:r>
              <a:rPr sz="850" b="0" dirty="0" err="1">
                <a:solidFill>
                  <a:srgbClr val="6B6558"/>
                </a:solidFill>
                <a:latin typeface="Segoe UI"/>
              </a:rPr>
              <a:t>api</a:t>
            </a:r>
            <a:r>
              <a:rPr sz="850" b="0" dirty="0">
                <a:solidFill>
                  <a:srgbClr val="6B6558"/>
                </a:solidFill>
                <a:latin typeface="Segoe UI"/>
              </a:rPr>
              <a:t>/search-hotels, adding one backend hop not yet included in this measurement — budget accordingly until that path is benchmarked end-to-end.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9B9384"/>
                </a:solidFill>
                <a:latin typeface="Segoe UI"/>
              </a:rPr>
              <a:t>BALKANEA HOTEL DATABASE  —  SCHEMA &amp; ARCHITECTURE 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74375" y="6528816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>
                <a:solidFill>
                  <a:srgbClr val="9B9384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457200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7A3E0F"/>
                </a:solidFill>
                <a:latin typeface="Segoe UI"/>
              </a:rPr>
              <a:t>08  —  FOR 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A1A2E"/>
                </a:solidFill>
                <a:latin typeface="Segoe UI Semibold"/>
              </a:rPr>
              <a:t>Four open questions for this call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1080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6B6558"/>
                </a:solidFill>
                <a:latin typeface="Segoe UI"/>
              </a:rPr>
              <a:t>The things that actually need a decision, not just a status update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148840"/>
            <a:ext cx="11185855" cy="93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1075371" y="2295144"/>
            <a:ext cx="510000" cy="237744"/>
          </a:xfrm>
          <a:prstGeom prst="roundRect">
            <a:avLst>
              <a:gd name="adj" fmla="val 50000"/>
            </a:avLst>
          </a:prstGeom>
          <a:solidFill>
            <a:srgbClr val="FBE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30000" rIns="0" bIns="0" rtlCol="0" anchor="ctr"/>
          <a:lstStyle/>
          <a:p>
            <a:pPr algn="ctr"/>
            <a:r>
              <a:rPr sz="750" b="1">
                <a:solidFill>
                  <a:srgbClr val="B8790A"/>
                </a:solidFill>
                <a:latin typeface="Segoe UI"/>
              </a:rPr>
              <a:t>Discuss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" y="2285840"/>
            <a:ext cx="989324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2E"/>
                </a:solidFill>
                <a:latin typeface="Segoe UI Semibold"/>
              </a:rPr>
              <a:t>1.  Shared schema at full scale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" y="2615840"/>
            <a:ext cx="10893247" cy="5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B6558"/>
                </a:solidFill>
                <a:latin typeface="Segoe UI"/>
              </a:rPr>
              <a:t>We now have measured evidence it holds — partitioning kept query time flat through a 9x growth test (see Performance Expectations). Does that settle it, or do you still want region-level sharding on top for the largest countries?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218840"/>
            <a:ext cx="11185855" cy="93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1075371" y="3365144"/>
            <a:ext cx="510000" cy="237744"/>
          </a:xfrm>
          <a:prstGeom prst="roundRect">
            <a:avLst>
              <a:gd name="adj" fmla="val 50000"/>
            </a:avLst>
          </a:prstGeom>
          <a:solidFill>
            <a:srgbClr val="FBE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30000" rIns="0" bIns="0" rtlCol="0" anchor="ctr"/>
          <a:lstStyle/>
          <a:p>
            <a:pPr algn="ctr"/>
            <a:r>
              <a:rPr sz="750" b="1">
                <a:solidFill>
                  <a:srgbClr val="B8790A"/>
                </a:solidFill>
                <a:latin typeface="Segoe UI"/>
              </a:rPr>
              <a:t>Discuss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" y="3355840"/>
            <a:ext cx="989324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2E"/>
                </a:solidFill>
                <a:latin typeface="Segoe UI Semibold"/>
              </a:rPr>
              <a:t>2.  Property kind filtering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" y="3685840"/>
            <a:ext cx="10893247" cy="5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B6558"/>
                </a:solidFill>
                <a:latin typeface="Segoe UI"/>
              </a:rPr>
              <a:t>Still needs Luke/business sign-off before it's a real decision. If/when it lands, how should it be exposed — schema-level flag, or filtered at query time?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288840"/>
            <a:ext cx="11185855" cy="93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1075371" y="4435144"/>
            <a:ext cx="510000" cy="237744"/>
          </a:xfrm>
          <a:prstGeom prst="roundRect">
            <a:avLst>
              <a:gd name="adj" fmla="val 50000"/>
            </a:avLst>
          </a:prstGeom>
          <a:solidFill>
            <a:srgbClr val="FBE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30000" rIns="0" bIns="0" rtlCol="0" anchor="ctr"/>
          <a:lstStyle/>
          <a:p>
            <a:pPr algn="ctr"/>
            <a:r>
              <a:rPr sz="750" b="1">
                <a:solidFill>
                  <a:srgbClr val="B8790A"/>
                </a:solidFill>
                <a:latin typeface="Segoe UI"/>
              </a:rPr>
              <a:t>Discuss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" y="4425840"/>
            <a:ext cx="989324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2E"/>
                </a:solidFill>
                <a:latin typeface="Segoe UI Semibold"/>
              </a:rPr>
              <a:t>3.  Price in the initial hotel list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" y="4755840"/>
            <a:ext cx="10893247" cy="5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B6558"/>
                </a:solidFill>
                <a:latin typeface="Segoe UI"/>
              </a:rPr>
              <a:t>The DB-only list is near-instant. Adding live price binds every request to RateHawk's 5-30s call and rules out showing a full-region list. Product call, not yet made.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5358840"/>
            <a:ext cx="11185855" cy="93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1075371" y="5505144"/>
            <a:ext cx="510000" cy="237744"/>
          </a:xfrm>
          <a:prstGeom prst="roundRect">
            <a:avLst>
              <a:gd name="adj" fmla="val 50000"/>
            </a:avLst>
          </a:prstGeom>
          <a:solidFill>
            <a:srgbClr val="FBE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30000" rIns="0" bIns="0" rtlCol="0" anchor="ctr"/>
          <a:lstStyle/>
          <a:p>
            <a:pPr algn="ctr"/>
            <a:r>
              <a:rPr sz="750" b="1">
                <a:solidFill>
                  <a:srgbClr val="B8790A"/>
                </a:solidFill>
                <a:latin typeface="Segoe UI"/>
              </a:rPr>
              <a:t>Discuss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" y="5495840"/>
            <a:ext cx="989324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2E"/>
                </a:solidFill>
                <a:latin typeface="Segoe UI Semibold"/>
              </a:rPr>
              <a:t>4.  Daily refresh, implementation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" y="5825840"/>
            <a:ext cx="10893247" cy="5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B6558"/>
                </a:solidFill>
                <a:latin typeface="Segoe UI"/>
              </a:rPr>
              <a:t>Direction is confirmed (daily incremental, per RateHawk's own docs) — what does the actual pipeline look like, and who owns running it?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B9384"/>
                </a:solidFill>
                <a:latin typeface="Segoe UI"/>
              </a:rPr>
              <a:t>BALKANEA HOTEL DATABASE  —  SCHEMA &amp; ARCHITECTURE 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74375" y="652881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B9384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457200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7A3E0F"/>
                </a:solidFill>
                <a:latin typeface="Segoe UI"/>
              </a:rPr>
              <a:t>09  —  ACCESS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1080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6B6558"/>
                </a:solidFill>
                <a:latin typeface="Segoe UI"/>
              </a:rPr>
              <a:t>Access is live now; use it before the call if useful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148840"/>
            <a:ext cx="11185855" cy="11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1255371" y="2295144"/>
            <a:ext cx="330000" cy="237744"/>
          </a:xfrm>
          <a:prstGeom prst="roundRect">
            <a:avLst>
              <a:gd name="adj" fmla="val 50000"/>
            </a:avLst>
          </a:prstGeom>
          <a:solidFill>
            <a:srgbClr val="E1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30000" rIns="0" bIns="0" rtlCol="0" anchor="ctr"/>
          <a:lstStyle/>
          <a:p>
            <a:pPr algn="ctr"/>
            <a:r>
              <a:rPr sz="750" b="1">
                <a:solidFill>
                  <a:srgbClr val="1F7A4D"/>
                </a:solidFill>
                <a:latin typeface="Segoe UI"/>
              </a:rPr>
              <a:t>Live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" y="2285840"/>
            <a:ext cx="989324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2E"/>
                </a:solidFill>
                <a:latin typeface="Segoe UI Semibold"/>
              </a:rPr>
              <a:t>Developer access on Bankanea_SBX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" y="2615840"/>
            <a:ext cx="10893247" cy="7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B6558"/>
                </a:solidFill>
                <a:latin typeface="Segoe UI"/>
              </a:rPr>
              <a:t>Full read/write on the balkanea_hotels_sbx project — Table Editor to browse hotels/rooms directly, SQL Editor for custom queries. Treat it as a shared working environment, not a reference copy.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B9384"/>
                </a:solidFill>
                <a:latin typeface="Segoe UI"/>
              </a:rPr>
              <a:t>BALKANEA HOTEL DATABASE  —  SCHEMA &amp; ARCHITECTURE 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74375" y="652881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B9384"/>
                </a:solidFill>
                <a:latin typeface="Segoe UI"/>
              </a:rPr>
              <a:t>10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438840"/>
            <a:ext cx="11185855" cy="8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1075371" y="3585144"/>
            <a:ext cx="510000" cy="237744"/>
          </a:xfrm>
          <a:prstGeom prst="roundRect">
            <a:avLst>
              <a:gd name="adj" fmla="val 50000"/>
            </a:avLst>
          </a:prstGeom>
          <a:solidFill>
            <a:srgbClr val="FBE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750" b="1">
                <a:solidFill>
                  <a:srgbClr val="B8790A"/>
                </a:solidFill>
                <a:latin typeface="Segoe UI"/>
              </a:rPr>
              <a:t>Discuss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" y="3575840"/>
            <a:ext cx="10893247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1A1A2E"/>
                </a:solidFill>
                <a:latin typeface="Segoe UI Semibold"/>
              </a:rPr>
              <a:t>RateHawk certification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" y="3905840"/>
            <a:ext cx="10893247" cy="4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B6558"/>
                </a:solidFill>
                <a:latin typeface="Segoe UI"/>
              </a:rPr>
              <a:t>Sandbox: contract slug confirmed (balkanea-mobile, accepted 8/14) — RateHawk creating the contract now, sandbox key to follow. Production still needs the certification checklist + test access; still waiting on RateHawk’s requirements doc.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398840"/>
            <a:ext cx="11185855" cy="8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1075371" y="4545144"/>
            <a:ext cx="510000" cy="237744"/>
          </a:xfrm>
          <a:prstGeom prst="roundRect">
            <a:avLst>
              <a:gd name="adj" fmla="val 50000"/>
            </a:avLst>
          </a:prstGeom>
          <a:solidFill>
            <a:srgbClr val="FBE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750" b="1">
                <a:solidFill>
                  <a:srgbClr val="B8790A"/>
                </a:solidFill>
                <a:latin typeface="Segoe UI"/>
              </a:rPr>
              <a:t>Discuss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" y="4535840"/>
            <a:ext cx="10893247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1A1A2E"/>
                </a:solidFill>
                <a:latin typeface="Segoe UI Semibold"/>
              </a:rPr>
              <a:t>Payment gateway — NLB-direct, not WebView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" y="4865840"/>
            <a:ext cx="10893247" cy="4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B6558"/>
                </a:solidFill>
                <a:latin typeface="Segoe UI"/>
              </a:rPr>
              <a:t>The WooCommerce-based WebView checkout got built and verified, then ruled out by a hard ‘no WooCommerce’ constraint. Now waiting on the real NLB-direct spec from Hristijan/Ivan — nothing is built against it yet.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358840"/>
            <a:ext cx="11185855" cy="8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1075371" y="5505144"/>
            <a:ext cx="510000" cy="237744"/>
          </a:xfrm>
          <a:prstGeom prst="roundRect">
            <a:avLst>
              <a:gd name="adj" fmla="val 50000"/>
            </a:avLst>
          </a:prstGeom>
          <a:solidFill>
            <a:srgbClr val="FBE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750" b="1">
                <a:solidFill>
                  <a:srgbClr val="B8790A"/>
                </a:solidFill>
                <a:latin typeface="Segoe UI"/>
              </a:rPr>
              <a:t>Discuss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" y="5495840"/>
            <a:ext cx="10893247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1A1A2E"/>
                </a:solidFill>
                <a:latin typeface="Segoe UI Semibold"/>
              </a:rPr>
              <a:t>Property-kind filtering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" y="5825840"/>
            <a:ext cx="10893247" cy="4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B6558"/>
                </a:solidFill>
                <a:latin typeface="Segoe UI"/>
              </a:rPr>
              <a:t>Needs Luke/business sign-off on which kinds (Hotel, Apartment, Guesthouse…) actually show in the app — not a technical decision.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2802</TotalTime>
  <Words>1842</Words>
  <Application>Microsoft Office PowerPoint</Application>
  <PresentationFormat>Widescreen</PresentationFormat>
  <Paragraphs>173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Consolas</vt:lpstr>
      <vt:lpstr>Segoe UI</vt:lpstr>
      <vt:lpstr>Segoe UI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Ray Weale</dc:creator>
  <cp:keywords/>
  <dc:description>generated using python-pptx</dc:description>
  <cp:lastModifiedBy>Ray Weale</cp:lastModifiedBy>
  <cp:revision>4</cp:revision>
  <dcterms:created xsi:type="dcterms:W3CDTF">2013-01-27T09:14:16Z</dcterms:created>
  <dcterms:modified xsi:type="dcterms:W3CDTF">2026-08-12T11:46:31Z</dcterms:modified>
  <cp:category/>
</cp:coreProperties>
</file>