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700000"/>
            <a:ext cx="1118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8323"/>
                </a:solidFill>
                <a:latin typeface="Segoe UI Semibold"/>
              </a:rPr>
              <a:t>BALKANEA WEB  •  PRODUCTION RATEHAWK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50000"/>
            <a:ext cx="11185855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BF6EE"/>
                </a:solidFill>
                <a:latin typeface="Segoe UI Semibold"/>
              </a:rPr>
              <a:t>Production Integration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BF6EE"/>
                </a:solidFill>
                <a:latin typeface="Segoe UI Semibold"/>
              </a:rPr>
              <a:t>Status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50000"/>
            <a:ext cx="95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C9D9D3"/>
                </a:solidFill>
                <a:latin typeface="Segoe UI"/>
              </a:rPr>
              <a:t>Real hotel search, live pricing, and a full booking flow are now wired to production RateHawk — here's what's built, the real numbers behind it, and how the tech team can test it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5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FB8AE"/>
                </a:solidFill>
                <a:latin typeface="Segoe UI"/>
              </a:rPr>
              <a:t>Data:  3,484,416 hotels / 18,510,072 rooms      Countries:  All (250)      Status:  Live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8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FB8AE"/>
                </a:solidFill>
                <a:latin typeface="Segoe UI"/>
              </a:rPr>
              <a:t>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60000"/>
            <a:ext cx="1118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A3E0F"/>
                </a:solidFill>
                <a:latin typeface="Segoe UI Semibold"/>
              </a:rPr>
              <a:t>01  —  WHAT'S BEEN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80000"/>
            <a:ext cx="11185855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 Semibold"/>
              </a:rPr>
              <a:t>Three things shipped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60000"/>
            <a:ext cx="11185855" cy="10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2920" y="1720000"/>
            <a:ext cx="9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Full global hotel content database imported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920" y="2120000"/>
            <a:ext cx="9625855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3,484,416 hotels / 18,510,072 rooms, every RateHawk-covered country (up from 850,218 hotels across 10 countries previously). Real names, photos, amenities, and room data — no fabricated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775" y="1760000"/>
            <a:ext cx="1000000" cy="280000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000" b="1">
                <a:solidFill>
                  <a:srgbClr val="1F7A4D"/>
                </a:solidFill>
                <a:latin typeface="Segoe UI Semibold"/>
              </a:rPr>
              <a:t>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60000"/>
            <a:ext cx="11185855" cy="10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920" y="2920000"/>
            <a:ext cx="9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balkanea-web now runs on real production RateHawk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920" y="3320000"/>
            <a:ext cx="9625855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Search, hotel detail, and pricing all query the new database + real production pricing — not the old 3-city sandbox (LA/Paris/Dubai). The full booking chain (search → rooms → prebook → order → payment → confirm) is wired end to end against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08775" y="2960000"/>
            <a:ext cx="1000000" cy="280000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000" b="1">
                <a:solidFill>
                  <a:srgbClr val="1F7A4D"/>
                </a:solidFill>
                <a:latin typeface="Segoe UI Semibold"/>
              </a:rPr>
              <a:t>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60000"/>
            <a:ext cx="11185855" cy="10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920" y="4120000"/>
            <a:ext cx="9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POC deployment, password-protected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920" y="4520000"/>
            <a:ext cx="9625855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Vercel's native password protection needs a paid plan upgrade (this project is on Hobby) — built an app-level HTTP Basic Auth gate instead, no plan change required. Credentials shared separately.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08775" y="4160000"/>
            <a:ext cx="1000000" cy="280000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000" b="1">
                <a:solidFill>
                  <a:srgbClr val="1F7A4D"/>
                </a:solidFill>
                <a:latin typeface="Segoe UI Semibold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8000"/>
            <a:ext cx="9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WEB  •  PRODUCTION RATEHAWK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92000" y="6518000"/>
            <a:ext cx="4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60000"/>
            <a:ext cx="1118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A3E0F"/>
                </a:solidFill>
                <a:latin typeface="Segoe UI Semibold"/>
              </a:rPr>
              <a:t>02  —  THE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80000"/>
            <a:ext cx="11185855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 Semibold"/>
              </a:rPr>
              <a:t>balkanea-web.vercel.app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60000"/>
            <a:ext cx="11185855" cy="9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2920" y="1720000"/>
            <a:ext cx="10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What changed for a visitor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920" y="2120000"/>
            <a:ext cx="10625855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Before: search only worked for 3 sandbox cities, with either simulated pricing or fabricated hotels everywhere else. Now: any destination in the new database returns real hotels at real, live production prices — verified live for Athens (Greece) and Belgrade (Serbia, genuinely new coverage).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10000"/>
            <a:ext cx="11185855" cy="15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2920" y="2770000"/>
            <a:ext cx="10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The full flow, wired end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920" y="3170000"/>
            <a:ext cx="10625855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Search results  →  Hotel detail  →  Room selection (real rates, real book_hash)  →  Prebook (rate lock)  →  RateHawk order opened  →  Guest details + Bankart/NLB payment  →  RateHawk order confirmed  →  Booking confirmation + email.</a:t>
            </a:r>
          </a:p>
          <a:p>
            <a:pPr algn="l">
              <a:lnSpc>
                <a:spcPct val="115000"/>
              </a:lnSpc>
            </a:pPr>
            <a:endParaRPr sz="1100" b="0">
              <a:solidFill>
                <a:srgbClr val="6B6558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Every step above now talks to RateHawk's real production API through a dedicated VPN relay, not the sandbox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60000"/>
            <a:ext cx="11185855" cy="7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2920" y="4420000"/>
            <a:ext cx="10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920" y="4820000"/>
            <a:ext cx="10625855" cy="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URL: balkanea-web.vercel.app  —  password-gated, credentials shared via a secure channel, not this deck.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8000"/>
            <a:ext cx="9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WEB  •  PRODUCTION RATEHAWK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92000" y="6518000"/>
            <a:ext cx="4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60000"/>
            <a:ext cx="1118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A3E0F"/>
                </a:solidFill>
                <a:latin typeface="Segoe UI Semibold"/>
              </a:rPr>
              <a:t>03  — 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80000"/>
            <a:ext cx="11185855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 Semibold"/>
              </a:rPr>
              <a:t>Load time &amp; size — real measured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60000"/>
            <a:ext cx="11185855" cy="24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2920" y="1720000"/>
            <a:ext cx="10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Full (bulk) load — 2026-09-05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920" y="2120000"/>
            <a:ext cx="10625855" cy="1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2920" y="2160000"/>
            <a:ext cx="4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Hotels / rooms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2920" y="2160000"/>
            <a:ext cx="61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A1A2E"/>
                </a:solidFill>
                <a:latin typeface="Segoe UI Semibold"/>
              </a:rPr>
              <a:t>3,484,416 / 18,510,072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920" y="2500000"/>
            <a:ext cx="4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Final database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920" y="2500000"/>
            <a:ext cx="61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A1A2E"/>
                </a:solidFill>
                <a:latin typeface="Segoe UI Semibold"/>
              </a:rPr>
              <a:t>32 GB  (of 60 GB provisioned, 53%)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920" y="2840000"/>
            <a:ext cx="4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Source dump (compressed)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920" y="2840000"/>
            <a:ext cx="61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A1A2E"/>
                </a:solidFill>
                <a:latin typeface="Segoe UI Semibold"/>
              </a:rPr>
              <a:t>~2.87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920" y="3180000"/>
            <a:ext cx="4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Total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920" y="3180000"/>
            <a:ext cx="61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A1A2E"/>
                </a:solidFill>
                <a:latin typeface="Segoe UI Semibold"/>
              </a:rPr>
              <a:t>~8.26 hours  (8.10h load + 9.6min index rebuild)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920" y="3520000"/>
            <a:ext cx="4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Throughput (settled rate)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920" y="3520000"/>
            <a:ext cx="61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A1A2E"/>
                </a:solidFill>
                <a:latin typeface="Segoe UI Semibold"/>
              </a:rPr>
              <a:t>~150–200 hotels/sec, after a real index-maintenance 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90000"/>
            <a:ext cx="11185855" cy="206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2920" y="4350000"/>
            <a:ext cx="9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Daily incremental (delta) load — first real test, 2026-09-06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920" y="4750000"/>
            <a:ext cx="9625855" cy="1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08775" y="4390000"/>
            <a:ext cx="1000000" cy="280000"/>
          </a:xfrm>
          <a:prstGeom prst="roundRect">
            <a:avLst>
              <a:gd name="adj" fmla="val 50000"/>
            </a:avLst>
          </a:prstGeom>
          <a:solidFill>
            <a:srgbClr val="FBE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000" b="1">
                <a:solidFill>
                  <a:srgbClr val="9A5B0C"/>
                </a:solidFill>
                <a:latin typeface="Segoe UI Semibold"/>
              </a:rPr>
              <a:t>Needs
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920" y="4790000"/>
            <a:ext cx="4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Hotels changed / total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920" y="4790000"/>
            <a:ext cx="61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A1A2E"/>
                </a:solidFill>
                <a:latin typeface="Segoe UI Semibold"/>
              </a:rPr>
              <a:t>293,553 (~8.4% of catalog)  in  2.61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920" y="5130000"/>
            <a:ext cx="42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Average 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920" y="5130000"/>
            <a:ext cx="61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A1A2E"/>
                </a:solidFill>
                <a:latin typeface="Segoe UI Semibold"/>
              </a:rPr>
              <a:t>~31 hotels/sec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920" y="5470000"/>
            <a:ext cx="42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Known caveat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920" y="5470000"/>
            <a:ext cx="61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A1A2E"/>
                </a:solidFill>
                <a:latin typeface="Segoe UI Semibold"/>
              </a:rPr>
              <a:t>Source file's last_update is still 2026-09-01 — unchanged 6 days running. Not yet confirmed whether RateHawk's daily-delta file is actually refreshing on schedule.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8000"/>
            <a:ext cx="9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WEB  •  PRODUCTION RATEHAWK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92000" y="6518000"/>
            <a:ext cx="4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60000"/>
            <a:ext cx="1118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A3E0F"/>
                </a:solidFill>
                <a:latin typeface="Segoe UI Semibold"/>
              </a:rPr>
              <a:t>04  — 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80000"/>
            <a:ext cx="11185855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 Semibold"/>
              </a:rPr>
              <a:t>The booking flow — how a real reservation is made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8847" y="1650000"/>
            <a:ext cx="2050000" cy="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rIns="80000" rtlCol="0" anchor="ctr"/>
          <a:lstStyle/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Search &amp;</a:t>
            </a:r>
          </a:p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Room Select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28847" y="2065000"/>
            <a:ext cx="146000" cy="120000"/>
          </a:xfrm>
          <a:prstGeom prst="rightArrow">
            <a:avLst/>
          </a:prstGeom>
          <a:solidFill>
            <a:srgbClr val="7A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74847" y="1650000"/>
            <a:ext cx="2050000" cy="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rIns="80000" rtlCol="0" anchor="ctr"/>
          <a:lstStyle/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Prebook</a:t>
            </a:r>
          </a:p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(rate lock)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24847" y="2065000"/>
            <a:ext cx="146000" cy="120000"/>
          </a:xfrm>
          <a:prstGeom prst="rightArrow">
            <a:avLst/>
          </a:prstGeom>
          <a:solidFill>
            <a:srgbClr val="7A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70847" y="1650000"/>
            <a:ext cx="2050000" cy="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rIns="80000" rtlCol="0" anchor="ctr"/>
          <a:lstStyle/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RateHawk Order</a:t>
            </a:r>
          </a:p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Opened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20847" y="2065000"/>
            <a:ext cx="146000" cy="120000"/>
          </a:xfrm>
          <a:prstGeom prst="rightArrow">
            <a:avLst/>
          </a:prstGeom>
          <a:solidFill>
            <a:srgbClr val="7A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66847" y="1650000"/>
            <a:ext cx="2050000" cy="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rIns="80000" rtlCol="0" anchor="ctr"/>
          <a:lstStyle/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Guest Payment</a:t>
            </a:r>
          </a:p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(Bankart/NLB)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16847" y="2065000"/>
            <a:ext cx="146000" cy="120000"/>
          </a:xfrm>
          <a:prstGeom prst="rightArrow">
            <a:avLst/>
          </a:prstGeom>
          <a:solidFill>
            <a:srgbClr val="7A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62847" y="1650000"/>
            <a:ext cx="2050000" cy="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rIns="80000" rtlCol="0" anchor="ctr"/>
          <a:lstStyle/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RateHawk Order</a:t>
            </a:r>
          </a:p>
          <a:p>
            <a:pPr algn="ctr"/>
            <a:r>
              <a:rPr sz="1150" b="1">
                <a:solidFill>
                  <a:srgbClr val="1A1A2E"/>
                </a:solidFill>
                <a:latin typeface="Segoe UI Semibold"/>
              </a:rPr>
              <a:t>Confirmed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50000"/>
            <a:ext cx="11185855" cy="87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2920" y="3010000"/>
            <a:ext cx="10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Status: fully wired to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920" y="3410000"/>
            <a:ext cx="10625855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Every step above talks to RateHawk's production API (via the VPN relay) and Bankart/NLB's real payment gateway. This is not a simulation — completing this flow creates a genuine hotel reservation and a real charge.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50000"/>
            <a:ext cx="11185855" cy="1350000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920" y="3990000"/>
            <a:ext cx="1062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A82A1E"/>
                </a:solidFill>
                <a:latin typeface="Segoe UI Semibold"/>
              </a:rPr>
              <a:t>⚠  Open risk — not yet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920" y="4340000"/>
            <a:ext cx="10625855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82A1E"/>
                </a:solidFill>
                <a:latin typeface="Segoe UI"/>
              </a:rPr>
              <a:t>The RateHawk order is opened BEFORE payment is taken — so reaching checkout, not just completing it, already creates a real order with RateHawk. Two things are still unconfirmed: (1) Balkanea's actual credit/billing terms with RateHawk (a production order becomes a real payable), and (2) whether RateHawk's Pre-Certification Checklist is fully signed off. Don't complete a real booking through payment until both are confirmed.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8000"/>
            <a:ext cx="9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WEB  •  PRODUCTION RATEHAWK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92000" y="6518000"/>
            <a:ext cx="4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60000"/>
            <a:ext cx="1118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A3E0F"/>
                </a:solidFill>
                <a:latin typeface="Segoe UI Semibold"/>
              </a:rPr>
              <a:t>05  —  FOR THE TECH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80000"/>
            <a:ext cx="11185855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Segoe UI Semibold"/>
              </a:rPr>
              <a:t>How to test this safely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60000"/>
            <a:ext cx="11185855" cy="10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2920" y="1720000"/>
            <a:ext cx="9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Safe to test freely — no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920" y="2120000"/>
            <a:ext cx="962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Search any destination, browse hotel detail pages, and select rooms. All of this is real production data and real production pricing, but creates no commitment or charge of any kind.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775" y="1760000"/>
            <a:ext cx="1000000" cy="280000"/>
          </a:xfrm>
          <a:prstGeom prst="roundRect">
            <a:avLst>
              <a:gd name="adj" fmla="val 50000"/>
            </a:avLst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000" b="1">
                <a:solidFill>
                  <a:srgbClr val="1F7A4D"/>
                </a:solidFill>
                <a:latin typeface="Segoe UI Semibold"/>
              </a:rPr>
              <a:t>Go 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60000"/>
            <a:ext cx="11185855" cy="10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920" y="2920000"/>
            <a:ext cx="9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Stop before completing 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920" y="3320000"/>
            <a:ext cx="962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You can safely click through to the guest-details / checkout screen to review the UX — just don't submit payment. See the risk note on the previous slide for why.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08775" y="2960000"/>
            <a:ext cx="1000000" cy="280000"/>
          </a:xfrm>
          <a:prstGeom prst="roundRect">
            <a:avLst>
              <a:gd name="adj" fmla="val 50000"/>
            </a:avLst>
          </a:prstGeom>
          <a:solidFill>
            <a:srgbClr val="FBE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000" b="1">
                <a:solidFill>
                  <a:srgbClr val="9A5B0C"/>
                </a:solidFill>
                <a:latin typeface="Segoe UI Semibold"/>
              </a:rPr>
              <a:t>Caution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60000"/>
            <a:ext cx="11185855" cy="10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920" y="4120000"/>
            <a:ext cx="10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Direct database access, if useful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920" y="4520000"/>
            <a:ext cx="1062585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Can invite you as a Developer on the Supabase project (balkanea_hotels_poc_v2) to browse tables or run queries directly — ask Ray. Main tables: hotels (partitioned by country_code) and rooms.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60000"/>
            <a:ext cx="11185855" cy="7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C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2920" y="5320000"/>
            <a:ext cx="1062585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 Semibold"/>
              </a:rPr>
              <a:t>Full metrics &amp;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920" y="5720000"/>
            <a:ext cx="1062585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558"/>
                </a:solidFill>
                <a:latin typeface="Segoe UI"/>
              </a:rPr>
              <a:t>Mobile/supabase-hotels/docs/load-metrics.md — complete throughput tables and methodology behind slide 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8000"/>
            <a:ext cx="9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B9384"/>
                </a:solidFill>
                <a:latin typeface="Segoe UI"/>
              </a:rPr>
              <a:t>BALKANEA WEB  •  PRODUCTION RATEHAWK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92000" y="6518000"/>
            <a:ext cx="4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B938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893</Words>
  <Application>Microsoft Office PowerPoint</Application>
  <PresentationFormat>Widescreen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Ray Weale</cp:lastModifiedBy>
  <cp:revision>1</cp:revision>
  <dcterms:created xsi:type="dcterms:W3CDTF">2013-01-27T09:14:16Z</dcterms:created>
  <dcterms:modified xsi:type="dcterms:W3CDTF">2026-09-07T13:01:46Z</dcterms:modified>
  <cp:category/>
</cp:coreProperties>
</file>