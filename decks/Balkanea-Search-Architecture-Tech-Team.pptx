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2A"/>
        </a:solidFill>
        <a:effectLst/>
      </p:bgPr>
    </p:bg>
    <p:spTree>
      <p:nvGrpSpPr>
        <p:cNvPr id="1" name=""/>
        <p:cNvGrpSpPr/>
        <p:nvPr/>
      </p:nvGrpSpPr>
      <p:grpSpPr/>
      <p:sp>
        <p:nvSpPr>
          <p:cNvPr id="2" name="TextBox 1"/>
          <p:cNvSpPr txBox="1"/>
          <p:nvPr/>
        </p:nvSpPr>
        <p:spPr>
          <a:xfrm>
            <a:off x="502920" y="1699869"/>
            <a:ext cx="11185855" cy="299923"/>
          </a:xfrm>
          <a:prstGeom prst="rect">
            <a:avLst/>
          </a:prstGeom>
          <a:noFill/>
        </p:spPr>
        <p:txBody>
          <a:bodyPr wrap="square" lIns="0" rIns="0" tIns="0" bIns="0">
            <a:spAutoFit/>
          </a:bodyPr>
          <a:lstStyle/>
          <a:p>
            <a:pPr algn="l"/>
            <a:r>
              <a:rPr sz="1400" b="1">
                <a:solidFill>
                  <a:srgbClr val="ED8323"/>
                </a:solidFill>
                <a:latin typeface="Segoe UI Semibold"/>
              </a:rPr>
              <a:t>BALKANEA WEB  •  SEARCH ARCHITECTURE</a:t>
            </a:r>
          </a:p>
        </p:txBody>
      </p:sp>
      <p:sp>
        <p:nvSpPr>
          <p:cNvPr id="3" name="TextBox 2"/>
          <p:cNvSpPr txBox="1"/>
          <p:nvPr/>
        </p:nvSpPr>
        <p:spPr>
          <a:xfrm>
            <a:off x="502920" y="2050084"/>
            <a:ext cx="11185855" cy="1417320"/>
          </a:xfrm>
          <a:prstGeom prst="rect">
            <a:avLst/>
          </a:prstGeom>
          <a:noFill/>
        </p:spPr>
        <p:txBody>
          <a:bodyPr wrap="square" lIns="0" rIns="0" tIns="0" bIns="0">
            <a:spAutoFit/>
          </a:bodyPr>
          <a:lstStyle/>
          <a:p>
            <a:pPr algn="l"/>
            <a:r>
              <a:rPr sz="4000" b="1">
                <a:solidFill>
                  <a:srgbClr val="FBF6EE"/>
                </a:solidFill>
                <a:latin typeface="Segoe UI Semibold"/>
              </a:rPr>
              <a:t>Two Search Approaches,</a:t>
            </a:r>
          </a:p>
          <a:p>
            <a:pPr algn="l"/>
            <a:r>
              <a:rPr sz="4000" b="1">
                <a:solidFill>
                  <a:srgbClr val="FBF6EE"/>
                </a:solidFill>
                <a:latin typeface="Segoe UI Semibold"/>
              </a:rPr>
              <a:t>Timed and Compared</a:t>
            </a:r>
          </a:p>
        </p:txBody>
      </p:sp>
      <p:sp>
        <p:nvSpPr>
          <p:cNvPr id="4" name="TextBox 3"/>
          <p:cNvSpPr txBox="1"/>
          <p:nvPr/>
        </p:nvSpPr>
        <p:spPr>
          <a:xfrm>
            <a:off x="502920" y="3350361"/>
            <a:ext cx="9692640" cy="749808"/>
          </a:xfrm>
          <a:prstGeom prst="rect">
            <a:avLst/>
          </a:prstGeom>
          <a:noFill/>
        </p:spPr>
        <p:txBody>
          <a:bodyPr wrap="square" lIns="0" rIns="0" tIns="0" bIns="0">
            <a:spAutoFit/>
          </a:bodyPr>
          <a:lstStyle/>
          <a:p>
            <a:pPr algn="l"/>
            <a:r>
              <a:rPr sz="1450" b="0">
                <a:solidFill>
                  <a:srgbClr val="C9D9D3"/>
                </a:solidFill>
                <a:latin typeface="Segoe UI"/>
              </a:rPr>
              <a:t>Both are live on production RateHawk right now, side by side, so we can compare real load times and real results — plus four open questions we need your read on.</a:t>
            </a:r>
          </a:p>
        </p:txBody>
      </p:sp>
      <p:sp>
        <p:nvSpPr>
          <p:cNvPr id="5" name="TextBox 4"/>
          <p:cNvSpPr txBox="1"/>
          <p:nvPr/>
        </p:nvSpPr>
        <p:spPr>
          <a:xfrm>
            <a:off x="502920" y="4343400"/>
            <a:ext cx="10515600" cy="299923"/>
          </a:xfrm>
          <a:prstGeom prst="rect">
            <a:avLst/>
          </a:prstGeom>
          <a:noFill/>
        </p:spPr>
        <p:txBody>
          <a:bodyPr wrap="square" lIns="0" rIns="0" tIns="0" bIns="0">
            <a:spAutoFit/>
          </a:bodyPr>
          <a:lstStyle/>
          <a:p>
            <a:pPr algn="l"/>
            <a:r>
              <a:rPr sz="1150" b="0">
                <a:solidFill>
                  <a:srgbClr val="9FB8AE"/>
                </a:solidFill>
                <a:latin typeface="Segoe UI"/>
              </a:rPr>
              <a:t>Measured:  Athens, 2 adults, 3 nights      RateHawk call:  6,993ms (76% of total)      Content DB:  6,287 hotels on file, 275 live-available</a:t>
            </a:r>
          </a:p>
        </p:txBody>
      </p:sp>
      <p:sp>
        <p:nvSpPr>
          <p:cNvPr id="6" name="TextBox 5"/>
          <p:cNvSpPr txBox="1"/>
          <p:nvPr/>
        </p:nvSpPr>
        <p:spPr>
          <a:xfrm>
            <a:off x="502920" y="6357823"/>
            <a:ext cx="6000292" cy="299923"/>
          </a:xfrm>
          <a:prstGeom prst="rect">
            <a:avLst/>
          </a:prstGeom>
          <a:noFill/>
        </p:spPr>
        <p:txBody>
          <a:bodyPr wrap="square" lIns="0" rIns="0" tIns="0" bIns="0">
            <a:spAutoFit/>
          </a:bodyPr>
          <a:lstStyle/>
          <a:p>
            <a:pPr algn="l"/>
            <a:r>
              <a:rPr sz="1100" b="0">
                <a:solidFill>
                  <a:srgbClr val="9FB8AE"/>
                </a:solidFill>
                <a:latin typeface="Segoe UI"/>
              </a:rPr>
              <a:t>2026-09-08  —  for tomorrow’s tech sync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59612"/>
            <a:ext cx="11185855" cy="299923"/>
          </a:xfrm>
          <a:prstGeom prst="rect">
            <a:avLst/>
          </a:prstGeom>
          <a:noFill/>
        </p:spPr>
        <p:txBody>
          <a:bodyPr wrap="square" lIns="0" rIns="0" tIns="0" bIns="0">
            <a:spAutoFit/>
          </a:bodyPr>
          <a:lstStyle/>
          <a:p>
            <a:pPr algn="l"/>
            <a:r>
              <a:rPr sz="1300" b="1">
                <a:solidFill>
                  <a:srgbClr val="7A3E0F"/>
                </a:solidFill>
                <a:latin typeface="Segoe UI Semibold"/>
              </a:rPr>
              <a:t>01  —  TWO PROCESSES</a:t>
            </a:r>
          </a:p>
        </p:txBody>
      </p:sp>
      <p:sp>
        <p:nvSpPr>
          <p:cNvPr id="3" name="TextBox 2"/>
          <p:cNvSpPr txBox="1"/>
          <p:nvPr/>
        </p:nvSpPr>
        <p:spPr>
          <a:xfrm>
            <a:off x="502920" y="879652"/>
            <a:ext cx="11185855" cy="500176"/>
          </a:xfrm>
          <a:prstGeom prst="rect">
            <a:avLst/>
          </a:prstGeom>
          <a:noFill/>
        </p:spPr>
        <p:txBody>
          <a:bodyPr wrap="square" lIns="0" rIns="0" tIns="0" bIns="0">
            <a:spAutoFit/>
          </a:bodyPr>
          <a:lstStyle/>
          <a:p>
            <a:pPr algn="l"/>
            <a:r>
              <a:rPr sz="2400" b="1">
                <a:solidFill>
                  <a:srgbClr val="1A1A2E"/>
                </a:solidFill>
                <a:latin typeface="Segoe UI Semibold"/>
              </a:rPr>
              <a:t>Same data, two different loading strategies</a:t>
            </a:r>
          </a:p>
        </p:txBody>
      </p:sp>
      <p:sp>
        <p:nvSpPr>
          <p:cNvPr id="4" name="TextBox 3"/>
          <p:cNvSpPr txBox="1"/>
          <p:nvPr/>
        </p:nvSpPr>
        <p:spPr>
          <a:xfrm>
            <a:off x="502920" y="6517843"/>
            <a:ext cx="9000439" cy="239572"/>
          </a:xfrm>
          <a:prstGeom prst="rect">
            <a:avLst/>
          </a:prstGeom>
          <a:noFill/>
        </p:spPr>
        <p:txBody>
          <a:bodyPr wrap="square" lIns="0" rIns="0" tIns="0" bIns="0">
            <a:spAutoFit/>
          </a:bodyPr>
          <a:lstStyle/>
          <a:p>
            <a:pPr algn="l"/>
            <a:r>
              <a:rPr sz="900" b="0">
                <a:solidFill>
                  <a:srgbClr val="9B9384"/>
                </a:solidFill>
                <a:latin typeface="Segoe UI"/>
              </a:rPr>
              <a:t>BALKANEA WEB  •  SEARCH ARCHITECTURE</a:t>
            </a:r>
          </a:p>
        </p:txBody>
      </p:sp>
      <p:sp>
        <p:nvSpPr>
          <p:cNvPr id="5" name="TextBox 4"/>
          <p:cNvSpPr txBox="1"/>
          <p:nvPr/>
        </p:nvSpPr>
        <p:spPr>
          <a:xfrm>
            <a:off x="11492179" y="6517843"/>
            <a:ext cx="399592" cy="239572"/>
          </a:xfrm>
          <a:prstGeom prst="rect">
            <a:avLst/>
          </a:prstGeom>
          <a:noFill/>
        </p:spPr>
        <p:txBody>
          <a:bodyPr wrap="square" lIns="0" rIns="0" tIns="0" bIns="0">
            <a:spAutoFit/>
          </a:bodyPr>
          <a:lstStyle/>
          <a:p>
            <a:pPr algn="r"/>
            <a:r>
              <a:rPr sz="900" b="0">
                <a:solidFill>
                  <a:srgbClr val="9B9384"/>
                </a:solidFill>
                <a:latin typeface="Segoe UI"/>
              </a:rPr>
              <a:t>2</a:t>
            </a:r>
          </a:p>
        </p:txBody>
      </p:sp>
      <p:sp>
        <p:nvSpPr>
          <p:cNvPr id="6" name="Rounded Rectangle 5"/>
          <p:cNvSpPr/>
          <p:nvPr/>
        </p:nvSpPr>
        <p:spPr>
          <a:xfrm>
            <a:off x="502920" y="1508760"/>
            <a:ext cx="5440680" cy="4160520"/>
          </a:xfrm>
          <a:prstGeom prst="roundRect">
            <a:avLst>
              <a:gd name="adj" fmla="val 5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257800" y="1691640"/>
            <a:ext cx="566928" cy="27432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1F7A4D"/>
                </a:solidFill>
                <a:latin typeface="Segoe UI Semibold"/>
              </a:rPr>
              <a:t>LIVE</a:t>
            </a:r>
          </a:p>
        </p:txBody>
      </p:sp>
      <p:sp>
        <p:nvSpPr>
          <p:cNvPr id="8" name="TextBox 7"/>
          <p:cNvSpPr txBox="1"/>
          <p:nvPr/>
        </p:nvSpPr>
        <p:spPr>
          <a:xfrm>
            <a:off x="777240" y="1737360"/>
            <a:ext cx="4892040" cy="365760"/>
          </a:xfrm>
          <a:prstGeom prst="rect">
            <a:avLst/>
          </a:prstGeom>
          <a:noFill/>
        </p:spPr>
        <p:txBody>
          <a:bodyPr wrap="square" lIns="0" rIns="0" tIns="0" bIns="0">
            <a:spAutoFit/>
          </a:bodyPr>
          <a:lstStyle/>
          <a:p>
            <a:pPr algn="l"/>
            <a:r>
              <a:rPr sz="1500" b="1">
                <a:solidFill>
                  <a:srgbClr val="1A1A2E"/>
                </a:solidFill>
                <a:latin typeface="Segoe UI Semibold"/>
              </a:rPr>
              <a:t>Process A — Progressive Search</a:t>
            </a:r>
          </a:p>
        </p:txBody>
      </p:sp>
      <p:sp>
        <p:nvSpPr>
          <p:cNvPr id="9" name="TextBox 8"/>
          <p:cNvSpPr txBox="1"/>
          <p:nvPr/>
        </p:nvSpPr>
        <p:spPr>
          <a:xfrm>
            <a:off x="777240" y="2121408"/>
            <a:ext cx="4892040" cy="457200"/>
          </a:xfrm>
          <a:prstGeom prst="rect">
            <a:avLst/>
          </a:prstGeom>
          <a:noFill/>
        </p:spPr>
        <p:txBody>
          <a:bodyPr wrap="square" lIns="0" rIns="0" tIns="0" bIns="0">
            <a:spAutoFit/>
          </a:bodyPr>
          <a:lstStyle/>
          <a:p>
            <a:pPr algn="l"/>
            <a:r>
              <a:rPr sz="1050" b="0">
                <a:solidFill>
                  <a:srgbClr val="6B6558"/>
                </a:solidFill>
                <a:latin typeface="Segoe UI"/>
              </a:rPr>
              <a:t>/hotels  —  matches Hristijan’s reference implementation</a:t>
            </a:r>
          </a:p>
        </p:txBody>
      </p:sp>
      <p:sp>
        <p:nvSpPr>
          <p:cNvPr id="10" name="TextBox 9"/>
          <p:cNvSpPr txBox="1"/>
          <p:nvPr/>
        </p:nvSpPr>
        <p:spPr>
          <a:xfrm>
            <a:off x="777240" y="260604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Blank / spinner until the full result is ready</a:t>
            </a:r>
          </a:p>
        </p:txBody>
      </p:sp>
      <p:sp>
        <p:nvSpPr>
          <p:cNvPr id="11" name="TextBox 10"/>
          <p:cNvSpPr txBox="1"/>
          <p:nvPr/>
        </p:nvSpPr>
        <p:spPr>
          <a:xfrm>
            <a:off x="777240" y="297180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One live RateHawk call returns every hotel + price at once</a:t>
            </a:r>
          </a:p>
        </p:txBody>
      </p:sp>
      <p:sp>
        <p:nvSpPr>
          <p:cNvPr id="12" name="TextBox 11"/>
          <p:cNvSpPr txBox="1"/>
          <p:nvPr/>
        </p:nvSpPr>
        <p:spPr>
          <a:xfrm>
            <a:off x="777240" y="333756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First 20 shown immediately after that call resolves</a:t>
            </a:r>
          </a:p>
        </p:txBody>
      </p:sp>
      <p:sp>
        <p:nvSpPr>
          <p:cNvPr id="13" name="TextBox 12"/>
          <p:cNvSpPr txBox="1"/>
          <p:nvPr/>
        </p:nvSpPr>
        <p:spPr>
          <a:xfrm>
            <a:off x="777240" y="370332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Remaining pages slice the same in-memory result (free, instant)</a:t>
            </a:r>
          </a:p>
        </p:txBody>
      </p:sp>
      <p:sp>
        <p:nvSpPr>
          <p:cNvPr id="14" name="TextBox 13"/>
          <p:cNvSpPr txBox="1"/>
          <p:nvPr/>
        </p:nvSpPr>
        <p:spPr>
          <a:xfrm>
            <a:off x="777240" y="406908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Every hotel shown is confirmed available — by construction</a:t>
            </a:r>
          </a:p>
        </p:txBody>
      </p:sp>
      <p:sp>
        <p:nvSpPr>
          <p:cNvPr id="15" name="TextBox 14"/>
          <p:cNvSpPr txBox="1"/>
          <p:nvPr/>
        </p:nvSpPr>
        <p:spPr>
          <a:xfrm>
            <a:off x="777240" y="5120640"/>
            <a:ext cx="4892040" cy="457200"/>
          </a:xfrm>
          <a:prstGeom prst="rect">
            <a:avLst/>
          </a:prstGeom>
          <a:noFill/>
        </p:spPr>
        <p:txBody>
          <a:bodyPr wrap="square" lIns="0" rIns="0" tIns="0" bIns="0">
            <a:spAutoFit/>
          </a:bodyPr>
          <a:lstStyle/>
          <a:p>
            <a:pPr algn="l"/>
            <a:r>
              <a:rPr sz="1100" b="1">
                <a:solidFill>
                  <a:srgbClr val="1A1A2E"/>
                </a:solidFill>
                <a:latin typeface="Segoe UI Semibold"/>
              </a:rPr>
              <a:t>First real content on screen: </a:t>
            </a:r>
            <a:r>
              <a:rPr sz="1100" b="1">
                <a:solidFill>
                  <a:srgbClr val="B43B1F"/>
                </a:solidFill>
                <a:latin typeface="Segoe UI Semibold"/>
              </a:rPr>
              <a:t>~9.2 seconds</a:t>
            </a:r>
          </a:p>
        </p:txBody>
      </p:sp>
      <p:sp>
        <p:nvSpPr>
          <p:cNvPr id="16" name="Rounded Rectangle 15"/>
          <p:cNvSpPr/>
          <p:nvPr/>
        </p:nvSpPr>
        <p:spPr>
          <a:xfrm>
            <a:off x="6245352" y="1508760"/>
            <a:ext cx="5440680" cy="4160520"/>
          </a:xfrm>
          <a:prstGeom prst="roundRect">
            <a:avLst>
              <a:gd name="adj" fmla="val 5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000232" y="1691640"/>
            <a:ext cx="658368" cy="274320"/>
          </a:xfrm>
          <a:prstGeom prst="roundRect">
            <a:avLst>
              <a:gd name="adj" fmla="val 50000"/>
            </a:avLst>
          </a:prstGeom>
          <a:solidFill>
            <a:srgbClr val="E3EA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2C4E8F"/>
                </a:solidFill>
                <a:latin typeface="Segoe UI Semibold"/>
              </a:rPr>
              <a:t>NEW</a:t>
            </a:r>
          </a:p>
        </p:txBody>
      </p:sp>
      <p:sp>
        <p:nvSpPr>
          <p:cNvPr id="18" name="TextBox 17"/>
          <p:cNvSpPr txBox="1"/>
          <p:nvPr/>
        </p:nvSpPr>
        <p:spPr>
          <a:xfrm>
            <a:off x="6519672" y="1737360"/>
            <a:ext cx="4892040" cy="365760"/>
          </a:xfrm>
          <a:prstGeom prst="rect">
            <a:avLst/>
          </a:prstGeom>
          <a:noFill/>
        </p:spPr>
        <p:txBody>
          <a:bodyPr wrap="square" lIns="0" rIns="0" tIns="0" bIns="0">
            <a:spAutoFit/>
          </a:bodyPr>
          <a:lstStyle/>
          <a:p>
            <a:pPr algn="l"/>
            <a:r>
              <a:rPr sz="1500" b="1">
                <a:solidFill>
                  <a:srgbClr val="1A1A2E"/>
                </a:solidFill>
                <a:latin typeface="Segoe UI Semibold"/>
              </a:rPr>
              <a:t>Process B — Content-First</a:t>
            </a:r>
          </a:p>
        </p:txBody>
      </p:sp>
      <p:sp>
        <p:nvSpPr>
          <p:cNvPr id="19" name="TextBox 18"/>
          <p:cNvSpPr txBox="1"/>
          <p:nvPr/>
        </p:nvSpPr>
        <p:spPr>
          <a:xfrm>
            <a:off x="6519672" y="2121408"/>
            <a:ext cx="4892040" cy="457200"/>
          </a:xfrm>
          <a:prstGeom prst="rect">
            <a:avLst/>
          </a:prstGeom>
          <a:noFill/>
        </p:spPr>
        <p:txBody>
          <a:bodyPr wrap="square" lIns="0" rIns="0" tIns="0" bIns="0">
            <a:spAutoFit/>
          </a:bodyPr>
          <a:lstStyle/>
          <a:p>
            <a:pPr algn="l"/>
            <a:r>
              <a:rPr sz="1050" b="0">
                <a:solidFill>
                  <a:srgbClr val="6B6558"/>
                </a:solidFill>
                <a:latin typeface="Segoe UI"/>
              </a:rPr>
              <a:t>/hotels-instant  —  new prototype, built to compare</a:t>
            </a:r>
          </a:p>
        </p:txBody>
      </p:sp>
      <p:sp>
        <p:nvSpPr>
          <p:cNvPr id="20" name="TextBox 19"/>
          <p:cNvSpPr txBox="1"/>
          <p:nvPr/>
        </p:nvSpPr>
        <p:spPr>
          <a:xfrm>
            <a:off x="6519672" y="260604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Real hotel cards (photo/name/address) paint immediately</a:t>
            </a:r>
          </a:p>
        </p:txBody>
      </p:sp>
      <p:sp>
        <p:nvSpPr>
          <p:cNvPr id="21" name="TextBox 20"/>
          <p:cNvSpPr txBox="1"/>
          <p:nvPr/>
        </p:nvSpPr>
        <p:spPr>
          <a:xfrm>
            <a:off x="6519672" y="297180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Local DB query by region_id — no RateHawk call needed</a:t>
            </a:r>
          </a:p>
        </p:txBody>
      </p:sp>
      <p:sp>
        <p:nvSpPr>
          <p:cNvPr id="22" name="TextBox 21"/>
          <p:cNvSpPr txBox="1"/>
          <p:nvPr/>
        </p:nvSpPr>
        <p:spPr>
          <a:xfrm>
            <a:off x="6519672" y="333756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Same live RateHawk call runs in parallel, in the background</a:t>
            </a:r>
          </a:p>
        </p:txBody>
      </p:sp>
      <p:sp>
        <p:nvSpPr>
          <p:cNvPr id="23" name="TextBox 22"/>
          <p:cNvSpPr txBox="1"/>
          <p:nvPr/>
        </p:nvSpPr>
        <p:spPr>
          <a:xfrm>
            <a:off x="6519672" y="370332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Each card’s price fills in as it resolves; new real hotels append</a:t>
            </a:r>
          </a:p>
        </p:txBody>
      </p:sp>
      <p:sp>
        <p:nvSpPr>
          <p:cNvPr id="24" name="TextBox 23"/>
          <p:cNvSpPr txBox="1"/>
          <p:nvPr/>
        </p:nvSpPr>
        <p:spPr>
          <a:xfrm>
            <a:off x="6519672" y="4069080"/>
            <a:ext cx="4892040" cy="365760"/>
          </a:xfrm>
          <a:prstGeom prst="rect">
            <a:avLst/>
          </a:prstGeom>
          <a:noFill/>
        </p:spPr>
        <p:txBody>
          <a:bodyPr wrap="square" lIns="0" rIns="0" tIns="0" bIns="0">
            <a:spAutoFit/>
          </a:bodyPr>
          <a:lstStyle/>
          <a:p>
            <a:pPr algn="l"/>
            <a:r>
              <a:rPr sz="1100" b="0">
                <a:solidFill>
                  <a:srgbClr val="6B6558"/>
                </a:solidFill>
                <a:latin typeface="Segoe UI"/>
              </a:rPr>
              <a:t>•  </a:t>
            </a:r>
            <a:r>
              <a:rPr sz="1100" b="0">
                <a:solidFill>
                  <a:srgbClr val="6B6558"/>
                </a:solidFill>
                <a:latin typeface="Segoe UI"/>
              </a:rPr>
              <a:t>A hotel confirmed unavailable is removed, never shown as a guess</a:t>
            </a:r>
          </a:p>
        </p:txBody>
      </p:sp>
      <p:sp>
        <p:nvSpPr>
          <p:cNvPr id="25" name="TextBox 24"/>
          <p:cNvSpPr txBox="1"/>
          <p:nvPr/>
        </p:nvSpPr>
        <p:spPr>
          <a:xfrm>
            <a:off x="6519672" y="5120640"/>
            <a:ext cx="4892040" cy="457200"/>
          </a:xfrm>
          <a:prstGeom prst="rect">
            <a:avLst/>
          </a:prstGeom>
          <a:noFill/>
        </p:spPr>
        <p:txBody>
          <a:bodyPr wrap="square" lIns="0" rIns="0" tIns="0" bIns="0">
            <a:spAutoFit/>
          </a:bodyPr>
          <a:lstStyle/>
          <a:p>
            <a:pPr algn="l"/>
            <a:r>
              <a:rPr sz="1100" b="1">
                <a:solidFill>
                  <a:srgbClr val="1A1A2E"/>
                </a:solidFill>
                <a:latin typeface="Segoe UI Semibold"/>
              </a:rPr>
              <a:t>First real content on screen: </a:t>
            </a:r>
            <a:r>
              <a:rPr sz="1100" b="1">
                <a:solidFill>
                  <a:srgbClr val="1F7A4D"/>
                </a:solidFill>
                <a:latin typeface="Segoe UI Semibold"/>
              </a:rPr>
              <a:t>~1–2 seconds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59612"/>
            <a:ext cx="11185855" cy="299923"/>
          </a:xfrm>
          <a:prstGeom prst="rect">
            <a:avLst/>
          </a:prstGeom>
          <a:noFill/>
        </p:spPr>
        <p:txBody>
          <a:bodyPr wrap="square" lIns="0" rIns="0" tIns="0" bIns="0">
            <a:spAutoFit/>
          </a:bodyPr>
          <a:lstStyle/>
          <a:p>
            <a:pPr algn="l"/>
            <a:r>
              <a:rPr sz="1300" b="1">
                <a:solidFill>
                  <a:srgbClr val="7A3E0F"/>
                </a:solidFill>
                <a:latin typeface="Segoe UI Semibold"/>
              </a:rPr>
              <a:t>02  —  PROCESS A FLOW</a:t>
            </a:r>
          </a:p>
        </p:txBody>
      </p:sp>
      <p:sp>
        <p:nvSpPr>
          <p:cNvPr id="3" name="TextBox 2"/>
          <p:cNvSpPr txBox="1"/>
          <p:nvPr/>
        </p:nvSpPr>
        <p:spPr>
          <a:xfrm>
            <a:off x="502920" y="879652"/>
            <a:ext cx="11185855" cy="500176"/>
          </a:xfrm>
          <a:prstGeom prst="rect">
            <a:avLst/>
          </a:prstGeom>
          <a:noFill/>
        </p:spPr>
        <p:txBody>
          <a:bodyPr wrap="square" lIns="0" rIns="0" tIns="0" bIns="0">
            <a:spAutoFit/>
          </a:bodyPr>
          <a:lstStyle/>
          <a:p>
            <a:pPr algn="l"/>
            <a:r>
              <a:rPr sz="2400" b="1">
                <a:solidFill>
                  <a:srgbClr val="1A1A2E"/>
                </a:solidFill>
                <a:latin typeface="Segoe UI Semibold"/>
              </a:rPr>
              <a:t>Progressive Search — step by step</a:t>
            </a:r>
          </a:p>
        </p:txBody>
      </p:sp>
      <p:sp>
        <p:nvSpPr>
          <p:cNvPr id="4" name="TextBox 3"/>
          <p:cNvSpPr txBox="1"/>
          <p:nvPr/>
        </p:nvSpPr>
        <p:spPr>
          <a:xfrm>
            <a:off x="502920" y="6517843"/>
            <a:ext cx="9000439" cy="239572"/>
          </a:xfrm>
          <a:prstGeom prst="rect">
            <a:avLst/>
          </a:prstGeom>
          <a:noFill/>
        </p:spPr>
        <p:txBody>
          <a:bodyPr wrap="square" lIns="0" rIns="0" tIns="0" bIns="0">
            <a:spAutoFit/>
          </a:bodyPr>
          <a:lstStyle/>
          <a:p>
            <a:pPr algn="l"/>
            <a:r>
              <a:rPr sz="900" b="0">
                <a:solidFill>
                  <a:srgbClr val="9B9384"/>
                </a:solidFill>
                <a:latin typeface="Segoe UI"/>
              </a:rPr>
              <a:t>BALKANEA WEB  •  SEARCH ARCHITECTURE</a:t>
            </a:r>
          </a:p>
        </p:txBody>
      </p:sp>
      <p:sp>
        <p:nvSpPr>
          <p:cNvPr id="5" name="TextBox 4"/>
          <p:cNvSpPr txBox="1"/>
          <p:nvPr/>
        </p:nvSpPr>
        <p:spPr>
          <a:xfrm>
            <a:off x="11492179" y="6517843"/>
            <a:ext cx="399592" cy="239572"/>
          </a:xfrm>
          <a:prstGeom prst="rect">
            <a:avLst/>
          </a:prstGeom>
          <a:noFill/>
        </p:spPr>
        <p:txBody>
          <a:bodyPr wrap="square" lIns="0" rIns="0" tIns="0" bIns="0">
            <a:spAutoFit/>
          </a:bodyPr>
          <a:lstStyle/>
          <a:p>
            <a:pPr algn="r"/>
            <a:r>
              <a:rPr sz="900" b="0">
                <a:solidFill>
                  <a:srgbClr val="9B9384"/>
                </a:solidFill>
                <a:latin typeface="Segoe UI"/>
              </a:rPr>
              <a:t>3</a:t>
            </a:r>
          </a:p>
        </p:txBody>
      </p:sp>
      <p:sp>
        <p:nvSpPr>
          <p:cNvPr id="6" name="Rounded Rectangle 5"/>
          <p:cNvSpPr/>
          <p:nvPr/>
        </p:nvSpPr>
        <p:spPr>
          <a:xfrm>
            <a:off x="502920"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Resolve region</a:t>
            </a:r>
          </a:p>
          <a:p>
            <a:pPr algn="ctr"/>
            <a:r>
              <a:rPr sz="1150" b="1">
                <a:solidFill>
                  <a:srgbClr val="1A1A2E"/>
                </a:solidFill>
                <a:latin typeface="Segoe UI Semibold"/>
              </a:rPr>
              <a:t>(multicomplete)</a:t>
            </a:r>
          </a:p>
        </p:txBody>
      </p:sp>
      <p:sp>
        <p:nvSpPr>
          <p:cNvPr id="7" name="Right Arrow 6"/>
          <p:cNvSpPr/>
          <p:nvPr/>
        </p:nvSpPr>
        <p:spPr>
          <a:xfrm>
            <a:off x="2589580"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74289"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Live RateHawk</a:t>
            </a:r>
          </a:p>
          <a:p>
            <a:pPr algn="ctr"/>
            <a:r>
              <a:rPr sz="1150" b="1">
                <a:solidFill>
                  <a:srgbClr val="1A1A2E"/>
                </a:solidFill>
                <a:latin typeface="Segoe UI Semibold"/>
              </a:rPr>
              <a:t>region call</a:t>
            </a:r>
          </a:p>
        </p:txBody>
      </p:sp>
      <p:sp>
        <p:nvSpPr>
          <p:cNvPr id="9" name="Right Arrow 8"/>
          <p:cNvSpPr/>
          <p:nvPr/>
        </p:nvSpPr>
        <p:spPr>
          <a:xfrm>
            <a:off x="4860950"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45659"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Intersect with</a:t>
            </a:r>
          </a:p>
          <a:p>
            <a:pPr algn="ctr"/>
            <a:r>
              <a:rPr sz="1150" b="1">
                <a:solidFill>
                  <a:srgbClr val="1A1A2E"/>
                </a:solidFill>
                <a:latin typeface="Segoe UI Semibold"/>
              </a:rPr>
              <a:t>content DB</a:t>
            </a:r>
          </a:p>
        </p:txBody>
      </p:sp>
      <p:sp>
        <p:nvSpPr>
          <p:cNvPr id="11" name="Right Arrow 10"/>
          <p:cNvSpPr/>
          <p:nvPr/>
        </p:nvSpPr>
        <p:spPr>
          <a:xfrm>
            <a:off x="7132320"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7028"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Paint page 1</a:t>
            </a:r>
          </a:p>
          <a:p>
            <a:pPr algn="ctr"/>
            <a:r>
              <a:rPr sz="1150" b="1">
                <a:solidFill>
                  <a:srgbClr val="1A1A2E"/>
                </a:solidFill>
                <a:latin typeface="Segoe UI Semibold"/>
              </a:rPr>
              <a:t>(20 hotels)</a:t>
            </a:r>
          </a:p>
        </p:txBody>
      </p:sp>
      <p:sp>
        <p:nvSpPr>
          <p:cNvPr id="13" name="Right Arrow 12"/>
          <p:cNvSpPr/>
          <p:nvPr/>
        </p:nvSpPr>
        <p:spPr>
          <a:xfrm>
            <a:off x="9403689"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88398"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Slice remaining</a:t>
            </a:r>
          </a:p>
          <a:p>
            <a:pPr algn="ctr"/>
            <a:r>
              <a:rPr sz="1150" b="1">
                <a:solidFill>
                  <a:srgbClr val="1A1A2E"/>
                </a:solidFill>
                <a:latin typeface="Segoe UI Semibold"/>
              </a:rPr>
              <a:t>pages in memory</a:t>
            </a:r>
          </a:p>
        </p:txBody>
      </p:sp>
      <p:sp>
        <p:nvSpPr>
          <p:cNvPr id="15" name="Rounded Rectangle 14"/>
          <p:cNvSpPr/>
          <p:nvPr/>
        </p:nvSpPr>
        <p:spPr>
          <a:xfrm>
            <a:off x="502920" y="2971800"/>
            <a:ext cx="11185855" cy="105156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127248"/>
            <a:ext cx="10607040" cy="365760"/>
          </a:xfrm>
          <a:prstGeom prst="rect">
            <a:avLst/>
          </a:prstGeom>
          <a:noFill/>
        </p:spPr>
        <p:txBody>
          <a:bodyPr wrap="square" lIns="0" rIns="0" tIns="0" bIns="0">
            <a:spAutoFit/>
          </a:bodyPr>
          <a:lstStyle/>
          <a:p>
            <a:pPr algn="l"/>
            <a:r>
              <a:rPr sz="1400" b="1">
                <a:solidFill>
                  <a:srgbClr val="1A1A2E"/>
                </a:solidFill>
                <a:latin typeface="Segoe UI Semibold"/>
              </a:rPr>
              <a:t>Everything a guest sees comes from ONE synchronous call</a:t>
            </a:r>
          </a:p>
        </p:txBody>
      </p:sp>
      <p:sp>
        <p:nvSpPr>
          <p:cNvPr id="17" name="TextBox 16"/>
          <p:cNvSpPr txBox="1"/>
          <p:nvPr/>
        </p:nvSpPr>
        <p:spPr>
          <a:xfrm>
            <a:off x="786384" y="3520440"/>
            <a:ext cx="10607040" cy="411480"/>
          </a:xfrm>
          <a:prstGeom prst="rect">
            <a:avLst/>
          </a:prstGeom>
          <a:noFill/>
        </p:spPr>
        <p:txBody>
          <a:bodyPr wrap="square" lIns="0" rIns="0" tIns="0" bIns="0">
            <a:spAutoFit/>
          </a:bodyPr>
          <a:lstStyle/>
          <a:p>
            <a:pPr algn="l"/>
            <a:r>
              <a:rPr sz="1100" b="0">
                <a:solidFill>
                  <a:srgbClr val="6B6558"/>
                </a:solidFill>
                <a:latin typeface="Segoe UI"/>
              </a:rPr>
              <a:t>RateHawk’s search/serp/region/ returns every hotel with a real rate in a single response — there is no partial/streamed version of it. Nothing paints until that call is fully done.</a:t>
            </a:r>
          </a:p>
        </p:txBody>
      </p:sp>
      <p:sp>
        <p:nvSpPr>
          <p:cNvPr id="18" name="Rounded Rectangle 17"/>
          <p:cNvSpPr/>
          <p:nvPr/>
        </p:nvSpPr>
        <p:spPr>
          <a:xfrm>
            <a:off x="502920" y="4160520"/>
            <a:ext cx="11185855" cy="228600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4279392"/>
            <a:ext cx="10607040" cy="365760"/>
          </a:xfrm>
          <a:prstGeom prst="rect">
            <a:avLst/>
          </a:prstGeom>
          <a:noFill/>
        </p:spPr>
        <p:txBody>
          <a:bodyPr wrap="square" lIns="0" rIns="0" tIns="0" bIns="0">
            <a:spAutoFit/>
          </a:bodyPr>
          <a:lstStyle/>
          <a:p>
            <a:pPr algn="l"/>
            <a:r>
              <a:rPr sz="1400" b="1">
                <a:solidFill>
                  <a:srgbClr val="1A1A2E"/>
                </a:solidFill>
                <a:latin typeface="Segoe UI Semibold"/>
              </a:rPr>
              <a:t>Real measured breakdown — Athens, Oct 1–4, 2 adults</a:t>
            </a:r>
          </a:p>
        </p:txBody>
      </p:sp>
      <p:sp>
        <p:nvSpPr>
          <p:cNvPr id="20" name="TextBox 19"/>
          <p:cNvSpPr txBox="1"/>
          <p:nvPr/>
        </p:nvSpPr>
        <p:spPr>
          <a:xfrm>
            <a:off x="786384" y="4663440"/>
            <a:ext cx="4572000" cy="340156"/>
          </a:xfrm>
          <a:prstGeom prst="rect">
            <a:avLst/>
          </a:prstGeom>
          <a:noFill/>
        </p:spPr>
        <p:txBody>
          <a:bodyPr wrap="square" lIns="0" rIns="0" tIns="0" bIns="0">
            <a:spAutoFit/>
          </a:bodyPr>
          <a:lstStyle/>
          <a:p>
            <a:pPr algn="l"/>
            <a:r>
              <a:rPr sz="1200" b="0">
                <a:solidFill>
                  <a:srgbClr val="6B6558"/>
                </a:solidFill>
                <a:latin typeface="Segoe UI"/>
              </a:rPr>
              <a:t>Region resolve (multicomplete)</a:t>
            </a:r>
          </a:p>
        </p:txBody>
      </p:sp>
      <p:sp>
        <p:nvSpPr>
          <p:cNvPr id="21" name="TextBox 20"/>
          <p:cNvSpPr txBox="1"/>
          <p:nvPr/>
        </p:nvSpPr>
        <p:spPr>
          <a:xfrm>
            <a:off x="5495544" y="4663440"/>
            <a:ext cx="5623560" cy="340156"/>
          </a:xfrm>
          <a:prstGeom prst="rect">
            <a:avLst/>
          </a:prstGeom>
          <a:noFill/>
        </p:spPr>
        <p:txBody>
          <a:bodyPr wrap="square" lIns="0" rIns="0" tIns="0" bIns="0">
            <a:spAutoFit/>
          </a:bodyPr>
          <a:lstStyle/>
          <a:p>
            <a:pPr algn="l"/>
            <a:r>
              <a:rPr sz="1200" b="1">
                <a:solidFill>
                  <a:srgbClr val="1A1A2E"/>
                </a:solidFill>
                <a:latin typeface="Segoe UI Semibold"/>
              </a:rPr>
              <a:t>917ms cold  /  ~0ms cached (24h TTL)</a:t>
            </a:r>
          </a:p>
        </p:txBody>
      </p:sp>
      <p:sp>
        <p:nvSpPr>
          <p:cNvPr id="22" name="TextBox 21"/>
          <p:cNvSpPr txBox="1"/>
          <p:nvPr/>
        </p:nvSpPr>
        <p:spPr>
          <a:xfrm>
            <a:off x="786384" y="4974336"/>
            <a:ext cx="4572000" cy="340156"/>
          </a:xfrm>
          <a:prstGeom prst="rect">
            <a:avLst/>
          </a:prstGeom>
          <a:noFill/>
        </p:spPr>
        <p:txBody>
          <a:bodyPr wrap="square" lIns="0" rIns="0" tIns="0" bIns="0">
            <a:spAutoFit/>
          </a:bodyPr>
          <a:lstStyle/>
          <a:p>
            <a:pPr algn="l"/>
            <a:r>
              <a:rPr sz="1200" b="0">
                <a:solidFill>
                  <a:srgbClr val="6B6558"/>
                </a:solidFill>
                <a:latin typeface="Segoe UI"/>
              </a:rPr>
              <a:t>Live RateHawk region call</a:t>
            </a:r>
          </a:p>
        </p:txBody>
      </p:sp>
      <p:sp>
        <p:nvSpPr>
          <p:cNvPr id="23" name="TextBox 22"/>
          <p:cNvSpPr txBox="1"/>
          <p:nvPr/>
        </p:nvSpPr>
        <p:spPr>
          <a:xfrm>
            <a:off x="5495544" y="4974336"/>
            <a:ext cx="5623560" cy="340156"/>
          </a:xfrm>
          <a:prstGeom prst="rect">
            <a:avLst/>
          </a:prstGeom>
          <a:noFill/>
        </p:spPr>
        <p:txBody>
          <a:bodyPr wrap="square" lIns="0" rIns="0" tIns="0" bIns="0">
            <a:spAutoFit/>
          </a:bodyPr>
          <a:lstStyle/>
          <a:p>
            <a:pPr algn="l"/>
            <a:r>
              <a:rPr sz="1200" b="1">
                <a:solidFill>
                  <a:srgbClr val="1A1A2E"/>
                </a:solidFill>
                <a:latin typeface="Segoe UI Semibold"/>
              </a:rPr>
              <a:t>6,993ms  —  76% of total</a:t>
            </a:r>
          </a:p>
        </p:txBody>
      </p:sp>
      <p:sp>
        <p:nvSpPr>
          <p:cNvPr id="24" name="TextBox 23"/>
          <p:cNvSpPr txBox="1"/>
          <p:nvPr/>
        </p:nvSpPr>
        <p:spPr>
          <a:xfrm>
            <a:off x="786384" y="5285231"/>
            <a:ext cx="4572000" cy="340156"/>
          </a:xfrm>
          <a:prstGeom prst="rect">
            <a:avLst/>
          </a:prstGeom>
          <a:noFill/>
        </p:spPr>
        <p:txBody>
          <a:bodyPr wrap="square" lIns="0" rIns="0" tIns="0" bIns="0">
            <a:spAutoFit/>
          </a:bodyPr>
          <a:lstStyle/>
          <a:p>
            <a:pPr algn="l"/>
            <a:r>
              <a:rPr sz="1200" b="0">
                <a:solidFill>
                  <a:srgbClr val="6B6558"/>
                </a:solidFill>
                <a:latin typeface="Segoe UI"/>
              </a:rPr>
              <a:t>Local content-DB intersection</a:t>
            </a:r>
          </a:p>
        </p:txBody>
      </p:sp>
      <p:sp>
        <p:nvSpPr>
          <p:cNvPr id="25" name="TextBox 24"/>
          <p:cNvSpPr txBox="1"/>
          <p:nvPr/>
        </p:nvSpPr>
        <p:spPr>
          <a:xfrm>
            <a:off x="5495544" y="5285231"/>
            <a:ext cx="5623560" cy="340156"/>
          </a:xfrm>
          <a:prstGeom prst="rect">
            <a:avLst/>
          </a:prstGeom>
          <a:noFill/>
        </p:spPr>
        <p:txBody>
          <a:bodyPr wrap="square" lIns="0" rIns="0" tIns="0" bIns="0">
            <a:spAutoFit/>
          </a:bodyPr>
          <a:lstStyle/>
          <a:p>
            <a:pPr algn="l"/>
            <a:r>
              <a:rPr sz="1200" b="1">
                <a:solidFill>
                  <a:srgbClr val="1A1A2E"/>
                </a:solidFill>
                <a:latin typeface="Segoe UI Semibold"/>
              </a:rPr>
              <a:t>1,238ms</a:t>
            </a:r>
          </a:p>
        </p:txBody>
      </p:sp>
      <p:sp>
        <p:nvSpPr>
          <p:cNvPr id="26" name="TextBox 25"/>
          <p:cNvSpPr txBox="1"/>
          <p:nvPr/>
        </p:nvSpPr>
        <p:spPr>
          <a:xfrm>
            <a:off x="786384" y="5596127"/>
            <a:ext cx="4572000" cy="340156"/>
          </a:xfrm>
          <a:prstGeom prst="rect">
            <a:avLst/>
          </a:prstGeom>
          <a:noFill/>
        </p:spPr>
        <p:txBody>
          <a:bodyPr wrap="square" lIns="0" rIns="0" tIns="0" bIns="0">
            <a:spAutoFit/>
          </a:bodyPr>
          <a:lstStyle/>
          <a:p>
            <a:pPr algn="l"/>
            <a:r>
              <a:rPr sz="1200" b="0">
                <a:solidFill>
                  <a:srgbClr val="6B6558"/>
                </a:solidFill>
                <a:latin typeface="Segoe UI"/>
              </a:rPr>
              <a:t>JS mapping (cheapest rate/hotel)</a:t>
            </a:r>
          </a:p>
        </p:txBody>
      </p:sp>
      <p:sp>
        <p:nvSpPr>
          <p:cNvPr id="27" name="TextBox 26"/>
          <p:cNvSpPr txBox="1"/>
          <p:nvPr/>
        </p:nvSpPr>
        <p:spPr>
          <a:xfrm>
            <a:off x="5495544" y="5596127"/>
            <a:ext cx="5623560" cy="340156"/>
          </a:xfrm>
          <a:prstGeom prst="rect">
            <a:avLst/>
          </a:prstGeom>
          <a:noFill/>
        </p:spPr>
        <p:txBody>
          <a:bodyPr wrap="square" lIns="0" rIns="0" tIns="0" bIns="0">
            <a:spAutoFit/>
          </a:bodyPr>
          <a:lstStyle/>
          <a:p>
            <a:pPr algn="l"/>
            <a:r>
              <a:rPr sz="1200" b="1">
                <a:solidFill>
                  <a:srgbClr val="1A1A2E"/>
                </a:solidFill>
                <a:latin typeface="Segoe UI Semibold"/>
              </a:rPr>
              <a:t>3ms  —  negligible</a:t>
            </a:r>
          </a:p>
        </p:txBody>
      </p:sp>
      <p:sp>
        <p:nvSpPr>
          <p:cNvPr id="28" name="TextBox 27"/>
          <p:cNvSpPr txBox="1"/>
          <p:nvPr/>
        </p:nvSpPr>
        <p:spPr>
          <a:xfrm>
            <a:off x="786384" y="5961887"/>
            <a:ext cx="10332720" cy="320040"/>
          </a:xfrm>
          <a:prstGeom prst="rect">
            <a:avLst/>
          </a:prstGeom>
          <a:noFill/>
        </p:spPr>
        <p:txBody>
          <a:bodyPr wrap="square" lIns="0" rIns="0" tIns="0" bIns="0">
            <a:spAutoFit/>
          </a:bodyPr>
          <a:lstStyle/>
          <a:p>
            <a:pPr algn="l"/>
            <a:r>
              <a:rPr sz="1200" b="1">
                <a:solidFill>
                  <a:srgbClr val="1A1A2E"/>
                </a:solidFill>
                <a:latin typeface="Segoe UI Semibold"/>
              </a:rPr>
              <a:t>TOTAL (cold cache)</a:t>
            </a:r>
            <a:r>
              <a:rPr sz="1200" b="1">
                <a:solidFill>
                  <a:srgbClr val="B43B1F"/>
                </a:solidFill>
                <a:latin typeface="Segoe UI Semibold"/>
              </a:rPr>
              <a:t>   9,151ms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59612"/>
            <a:ext cx="11185855" cy="299923"/>
          </a:xfrm>
          <a:prstGeom prst="rect">
            <a:avLst/>
          </a:prstGeom>
          <a:noFill/>
        </p:spPr>
        <p:txBody>
          <a:bodyPr wrap="square" lIns="0" rIns="0" tIns="0" bIns="0">
            <a:spAutoFit/>
          </a:bodyPr>
          <a:lstStyle/>
          <a:p>
            <a:pPr algn="l"/>
            <a:r>
              <a:rPr sz="1300" b="1">
                <a:solidFill>
                  <a:srgbClr val="7A3E0F"/>
                </a:solidFill>
                <a:latin typeface="Segoe UI Semibold"/>
              </a:rPr>
              <a:t>03  —  PROCESS B FLOW</a:t>
            </a:r>
          </a:p>
        </p:txBody>
      </p:sp>
      <p:sp>
        <p:nvSpPr>
          <p:cNvPr id="3" name="TextBox 2"/>
          <p:cNvSpPr txBox="1"/>
          <p:nvPr/>
        </p:nvSpPr>
        <p:spPr>
          <a:xfrm>
            <a:off x="502920" y="879652"/>
            <a:ext cx="11185855" cy="500176"/>
          </a:xfrm>
          <a:prstGeom prst="rect">
            <a:avLst/>
          </a:prstGeom>
          <a:noFill/>
        </p:spPr>
        <p:txBody>
          <a:bodyPr wrap="square" lIns="0" rIns="0" tIns="0" bIns="0">
            <a:spAutoFit/>
          </a:bodyPr>
          <a:lstStyle/>
          <a:p>
            <a:pPr algn="l"/>
            <a:r>
              <a:rPr sz="2400" b="1">
                <a:solidFill>
                  <a:srgbClr val="1A1A2E"/>
                </a:solidFill>
                <a:latin typeface="Segoe UI Semibold"/>
              </a:rPr>
              <a:t>Content-First / Price-Paint-After — step by step</a:t>
            </a:r>
          </a:p>
        </p:txBody>
      </p:sp>
      <p:sp>
        <p:nvSpPr>
          <p:cNvPr id="4" name="TextBox 3"/>
          <p:cNvSpPr txBox="1"/>
          <p:nvPr/>
        </p:nvSpPr>
        <p:spPr>
          <a:xfrm>
            <a:off x="502920" y="6517843"/>
            <a:ext cx="9000439" cy="239572"/>
          </a:xfrm>
          <a:prstGeom prst="rect">
            <a:avLst/>
          </a:prstGeom>
          <a:noFill/>
        </p:spPr>
        <p:txBody>
          <a:bodyPr wrap="square" lIns="0" rIns="0" tIns="0" bIns="0">
            <a:spAutoFit/>
          </a:bodyPr>
          <a:lstStyle/>
          <a:p>
            <a:pPr algn="l"/>
            <a:r>
              <a:rPr sz="900" b="0">
                <a:solidFill>
                  <a:srgbClr val="9B9384"/>
                </a:solidFill>
                <a:latin typeface="Segoe UI"/>
              </a:rPr>
              <a:t>BALKANEA WEB  •  SEARCH ARCHITECTURE</a:t>
            </a:r>
          </a:p>
        </p:txBody>
      </p:sp>
      <p:sp>
        <p:nvSpPr>
          <p:cNvPr id="5" name="TextBox 4"/>
          <p:cNvSpPr txBox="1"/>
          <p:nvPr/>
        </p:nvSpPr>
        <p:spPr>
          <a:xfrm>
            <a:off x="11492179" y="6517843"/>
            <a:ext cx="399592" cy="239572"/>
          </a:xfrm>
          <a:prstGeom prst="rect">
            <a:avLst/>
          </a:prstGeom>
          <a:noFill/>
        </p:spPr>
        <p:txBody>
          <a:bodyPr wrap="square" lIns="0" rIns="0" tIns="0" bIns="0">
            <a:spAutoFit/>
          </a:bodyPr>
          <a:lstStyle/>
          <a:p>
            <a:pPr algn="r"/>
            <a:r>
              <a:rPr sz="900" b="0">
                <a:solidFill>
                  <a:srgbClr val="9B9384"/>
                </a:solidFill>
                <a:latin typeface="Segoe UI"/>
              </a:rPr>
              <a:t>4</a:t>
            </a:r>
          </a:p>
        </p:txBody>
      </p:sp>
      <p:sp>
        <p:nvSpPr>
          <p:cNvPr id="6" name="Rounded Rectangle 5"/>
          <p:cNvSpPr/>
          <p:nvPr/>
        </p:nvSpPr>
        <p:spPr>
          <a:xfrm>
            <a:off x="502920"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Resolve region</a:t>
            </a:r>
          </a:p>
          <a:p>
            <a:pPr algn="ctr"/>
            <a:r>
              <a:rPr sz="1150" b="1">
                <a:solidFill>
                  <a:srgbClr val="1A1A2E"/>
                </a:solidFill>
                <a:latin typeface="Segoe UI Semibold"/>
              </a:rPr>
              <a:t>(cached)</a:t>
            </a:r>
          </a:p>
        </p:txBody>
      </p:sp>
      <p:sp>
        <p:nvSpPr>
          <p:cNvPr id="7" name="Right Arrow 6"/>
          <p:cNvSpPr/>
          <p:nvPr/>
        </p:nvSpPr>
        <p:spPr>
          <a:xfrm>
            <a:off x="2589580"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74289"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Query content DB</a:t>
            </a:r>
          </a:p>
          <a:p>
            <a:pPr algn="ctr"/>
            <a:r>
              <a:rPr sz="1150" b="1">
                <a:solidFill>
                  <a:srgbClr val="1A1A2E"/>
                </a:solidFill>
                <a:latin typeface="Segoe UI Semibold"/>
              </a:rPr>
              <a:t>by region_id</a:t>
            </a:r>
          </a:p>
        </p:txBody>
      </p:sp>
      <p:sp>
        <p:nvSpPr>
          <p:cNvPr id="9" name="Right Arrow 8"/>
          <p:cNvSpPr/>
          <p:nvPr/>
        </p:nvSpPr>
        <p:spPr>
          <a:xfrm>
            <a:off x="4860950"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45659"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Paint real cards</a:t>
            </a:r>
          </a:p>
          <a:p>
            <a:pPr algn="ctr"/>
            <a:r>
              <a:rPr sz="1150" b="1">
                <a:solidFill>
                  <a:srgbClr val="1A1A2E"/>
                </a:solidFill>
                <a:latin typeface="Segoe UI Semibold"/>
              </a:rPr>
              <a:t>(no price yet)</a:t>
            </a:r>
          </a:p>
        </p:txBody>
      </p:sp>
      <p:sp>
        <p:nvSpPr>
          <p:cNvPr id="11" name="Right Arrow 10"/>
          <p:cNvSpPr/>
          <p:nvPr/>
        </p:nvSpPr>
        <p:spPr>
          <a:xfrm>
            <a:off x="7132320"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7028"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Live RateHawk call</a:t>
            </a:r>
          </a:p>
          <a:p>
            <a:pPr algn="ctr"/>
            <a:r>
              <a:rPr sz="1150" b="1">
                <a:solidFill>
                  <a:srgbClr val="1A1A2E"/>
                </a:solidFill>
                <a:latin typeface="Segoe UI Semibold"/>
              </a:rPr>
              <a:t>(parallel)</a:t>
            </a:r>
          </a:p>
        </p:txBody>
      </p:sp>
      <p:sp>
        <p:nvSpPr>
          <p:cNvPr id="13" name="Right Arrow 12"/>
          <p:cNvSpPr/>
          <p:nvPr/>
        </p:nvSpPr>
        <p:spPr>
          <a:xfrm>
            <a:off x="9403689" y="2152497"/>
            <a:ext cx="146304" cy="119786"/>
          </a:xfrm>
          <a:prstGeom prst="rightArrow">
            <a:avLst/>
          </a:prstGeom>
          <a:solidFill>
            <a:srgbClr val="7A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88398" y="1737360"/>
            <a:ext cx="2050084" cy="950061"/>
          </a:xfrm>
          <a:prstGeom prst="roundRect">
            <a:avLst>
              <a:gd name="adj" fmla="val 8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r>
              <a:rPr sz="1150" b="1">
                <a:solidFill>
                  <a:srgbClr val="1A1A2E"/>
                </a:solidFill>
                <a:latin typeface="Segoe UI Semibold"/>
              </a:rPr>
              <a:t>Merge price per</a:t>
            </a:r>
          </a:p>
          <a:p>
            <a:pPr algn="ctr"/>
            <a:r>
              <a:rPr sz="1150" b="1">
                <a:solidFill>
                  <a:srgbClr val="1A1A2E"/>
                </a:solidFill>
                <a:latin typeface="Segoe UI Semibold"/>
              </a:rPr>
              <a:t>card as it resolves</a:t>
            </a:r>
          </a:p>
        </p:txBody>
      </p:sp>
      <p:sp>
        <p:nvSpPr>
          <p:cNvPr id="15" name="Rounded Rectangle 14"/>
          <p:cNvSpPr/>
          <p:nvPr/>
        </p:nvSpPr>
        <p:spPr>
          <a:xfrm>
            <a:off x="502920" y="2971800"/>
            <a:ext cx="11185855" cy="105156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127248"/>
            <a:ext cx="10607040" cy="365760"/>
          </a:xfrm>
          <a:prstGeom prst="rect">
            <a:avLst/>
          </a:prstGeom>
          <a:noFill/>
        </p:spPr>
        <p:txBody>
          <a:bodyPr wrap="square" lIns="0" rIns="0" tIns="0" bIns="0">
            <a:spAutoFit/>
          </a:bodyPr>
          <a:lstStyle/>
          <a:p>
            <a:pPr algn="l"/>
            <a:r>
              <a:rPr sz="1400" b="1">
                <a:solidFill>
                  <a:srgbClr val="1A1A2E"/>
                </a:solidFill>
                <a:latin typeface="Segoe UI Semibold"/>
              </a:rPr>
              <a:t>Content and pricing are two independent fetches, not one</a:t>
            </a:r>
          </a:p>
        </p:txBody>
      </p:sp>
      <p:sp>
        <p:nvSpPr>
          <p:cNvPr id="17" name="TextBox 16"/>
          <p:cNvSpPr txBox="1"/>
          <p:nvPr/>
        </p:nvSpPr>
        <p:spPr>
          <a:xfrm>
            <a:off x="786384" y="3520440"/>
            <a:ext cx="10607040" cy="411480"/>
          </a:xfrm>
          <a:prstGeom prst="rect">
            <a:avLst/>
          </a:prstGeom>
          <a:noFill/>
        </p:spPr>
        <p:txBody>
          <a:bodyPr wrap="square" lIns="0" rIns="0" tIns="0" bIns="0">
            <a:spAutoFit/>
          </a:bodyPr>
          <a:lstStyle/>
          <a:p>
            <a:pPr algn="l"/>
            <a:r>
              <a:rPr sz="1100" b="0">
                <a:solidFill>
                  <a:srgbClr val="6B6558"/>
                </a:solidFill>
                <a:latin typeface="Segoe UI"/>
              </a:rPr>
              <a:t>The local content-DB query never waits on RateHawk. A hotel RateHawk confirms that wasn’t in the initial preview batch is added using its own real data — nothing is ever guessed or invented.</a:t>
            </a:r>
          </a:p>
        </p:txBody>
      </p:sp>
      <p:sp>
        <p:nvSpPr>
          <p:cNvPr id="18" name="Rounded Rectangle 17"/>
          <p:cNvSpPr/>
          <p:nvPr/>
        </p:nvSpPr>
        <p:spPr>
          <a:xfrm>
            <a:off x="502920" y="4206240"/>
            <a:ext cx="11185855" cy="210312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4361688"/>
            <a:ext cx="10607040" cy="365760"/>
          </a:xfrm>
          <a:prstGeom prst="rect">
            <a:avLst/>
          </a:prstGeom>
          <a:noFill/>
        </p:spPr>
        <p:txBody>
          <a:bodyPr wrap="square" lIns="0" rIns="0" tIns="0" bIns="0">
            <a:spAutoFit/>
          </a:bodyPr>
          <a:lstStyle/>
          <a:p>
            <a:pPr algn="l"/>
            <a:r>
              <a:rPr sz="1400" b="1">
                <a:solidFill>
                  <a:srgbClr val="1A1A2E"/>
                </a:solidFill>
                <a:latin typeface="Segoe UI Semibold"/>
              </a:rPr>
              <a:t>Real measured numbers</a:t>
            </a:r>
          </a:p>
        </p:txBody>
      </p:sp>
      <p:sp>
        <p:nvSpPr>
          <p:cNvPr id="20" name="TextBox 19"/>
          <p:cNvSpPr txBox="1"/>
          <p:nvPr/>
        </p:nvSpPr>
        <p:spPr>
          <a:xfrm>
            <a:off x="786384" y="4800600"/>
            <a:ext cx="4572000" cy="340156"/>
          </a:xfrm>
          <a:prstGeom prst="rect">
            <a:avLst/>
          </a:prstGeom>
          <a:noFill/>
        </p:spPr>
        <p:txBody>
          <a:bodyPr wrap="square" lIns="0" rIns="0" tIns="0" bIns="0">
            <a:spAutoFit/>
          </a:bodyPr>
          <a:lstStyle/>
          <a:p>
            <a:pPr algn="l"/>
            <a:r>
              <a:rPr sz="1200" b="0">
                <a:solidFill>
                  <a:srgbClr val="6B6558"/>
                </a:solidFill>
                <a:latin typeface="Segoe UI"/>
              </a:rPr>
              <a:t>Content DB count query (region_id)</a:t>
            </a:r>
          </a:p>
        </p:txBody>
      </p:sp>
      <p:sp>
        <p:nvSpPr>
          <p:cNvPr id="21" name="TextBox 20"/>
          <p:cNvSpPr txBox="1"/>
          <p:nvPr/>
        </p:nvSpPr>
        <p:spPr>
          <a:xfrm>
            <a:off x="5495544" y="4800600"/>
            <a:ext cx="5623560" cy="340156"/>
          </a:xfrm>
          <a:prstGeom prst="rect">
            <a:avLst/>
          </a:prstGeom>
          <a:noFill/>
        </p:spPr>
        <p:txBody>
          <a:bodyPr wrap="square" lIns="0" rIns="0" tIns="0" bIns="0">
            <a:spAutoFit/>
          </a:bodyPr>
          <a:lstStyle/>
          <a:p>
            <a:pPr algn="l"/>
            <a:r>
              <a:rPr sz="1200" b="1">
                <a:solidFill>
                  <a:srgbClr val="1A1A2E"/>
                </a:solidFill>
                <a:latin typeface="Segoe UI Semibold"/>
              </a:rPr>
              <a:t>232ms</a:t>
            </a:r>
          </a:p>
        </p:txBody>
      </p:sp>
      <p:sp>
        <p:nvSpPr>
          <p:cNvPr id="22" name="TextBox 21"/>
          <p:cNvSpPr txBox="1"/>
          <p:nvPr/>
        </p:nvSpPr>
        <p:spPr>
          <a:xfrm>
            <a:off x="786384" y="5138928"/>
            <a:ext cx="4572000" cy="340156"/>
          </a:xfrm>
          <a:prstGeom prst="rect">
            <a:avLst/>
          </a:prstGeom>
          <a:noFill/>
        </p:spPr>
        <p:txBody>
          <a:bodyPr wrap="square" lIns="0" rIns="0" tIns="0" bIns="0">
            <a:spAutoFit/>
          </a:bodyPr>
          <a:lstStyle/>
          <a:p>
            <a:pPr algn="l"/>
            <a:r>
              <a:rPr sz="1200" b="0">
                <a:solidFill>
                  <a:srgbClr val="6B6558"/>
                </a:solidFill>
                <a:latin typeface="Segoe UI"/>
              </a:rPr>
              <a:t>Content DB first-20 fetch</a:t>
            </a:r>
          </a:p>
        </p:txBody>
      </p:sp>
      <p:sp>
        <p:nvSpPr>
          <p:cNvPr id="23" name="TextBox 22"/>
          <p:cNvSpPr txBox="1"/>
          <p:nvPr/>
        </p:nvSpPr>
        <p:spPr>
          <a:xfrm>
            <a:off x="5495544" y="5138928"/>
            <a:ext cx="5623560" cy="340156"/>
          </a:xfrm>
          <a:prstGeom prst="rect">
            <a:avLst/>
          </a:prstGeom>
          <a:noFill/>
        </p:spPr>
        <p:txBody>
          <a:bodyPr wrap="square" lIns="0" rIns="0" tIns="0" bIns="0">
            <a:spAutoFit/>
          </a:bodyPr>
          <a:lstStyle/>
          <a:p>
            <a:pPr algn="l"/>
            <a:r>
              <a:rPr sz="1200" b="1">
                <a:solidFill>
                  <a:srgbClr val="1A1A2E"/>
                </a:solidFill>
                <a:latin typeface="Segoe UI Semibold"/>
              </a:rPr>
              <a:t>337ms</a:t>
            </a:r>
          </a:p>
        </p:txBody>
      </p:sp>
      <p:sp>
        <p:nvSpPr>
          <p:cNvPr id="24" name="TextBox 23"/>
          <p:cNvSpPr txBox="1"/>
          <p:nvPr/>
        </p:nvSpPr>
        <p:spPr>
          <a:xfrm>
            <a:off x="786384" y="5477256"/>
            <a:ext cx="4572000" cy="340156"/>
          </a:xfrm>
          <a:prstGeom prst="rect">
            <a:avLst/>
          </a:prstGeom>
          <a:noFill/>
        </p:spPr>
        <p:txBody>
          <a:bodyPr wrap="square" lIns="0" rIns="0" tIns="0" bIns="0">
            <a:spAutoFit/>
          </a:bodyPr>
          <a:lstStyle/>
          <a:p>
            <a:pPr algn="l"/>
            <a:r>
              <a:rPr sz="1200" b="0">
                <a:solidFill>
                  <a:srgbClr val="6B6558"/>
                </a:solidFill>
                <a:latin typeface="Segoe UI"/>
              </a:rPr>
              <a:t>First real hotel cards on screen</a:t>
            </a:r>
          </a:p>
        </p:txBody>
      </p:sp>
      <p:sp>
        <p:nvSpPr>
          <p:cNvPr id="25" name="TextBox 24"/>
          <p:cNvSpPr txBox="1"/>
          <p:nvPr/>
        </p:nvSpPr>
        <p:spPr>
          <a:xfrm>
            <a:off x="5495544" y="5477256"/>
            <a:ext cx="5623560" cy="340156"/>
          </a:xfrm>
          <a:prstGeom prst="rect">
            <a:avLst/>
          </a:prstGeom>
          <a:noFill/>
        </p:spPr>
        <p:txBody>
          <a:bodyPr wrap="square" lIns="0" rIns="0" tIns="0" bIns="0">
            <a:spAutoFit/>
          </a:bodyPr>
          <a:lstStyle/>
          <a:p>
            <a:pPr algn="l"/>
            <a:r>
              <a:rPr sz="1200" b="1">
                <a:solidFill>
                  <a:srgbClr val="1A1A2E"/>
                </a:solidFill>
                <a:latin typeface="Segoe UI Semibold"/>
              </a:rPr>
              <a:t>~1–2 seconds (region resolve + content query)</a:t>
            </a:r>
          </a:p>
        </p:txBody>
      </p:sp>
      <p:sp>
        <p:nvSpPr>
          <p:cNvPr id="26" name="TextBox 25"/>
          <p:cNvSpPr txBox="1"/>
          <p:nvPr/>
        </p:nvSpPr>
        <p:spPr>
          <a:xfrm>
            <a:off x="786384" y="5815584"/>
            <a:ext cx="4572000" cy="340156"/>
          </a:xfrm>
          <a:prstGeom prst="rect">
            <a:avLst/>
          </a:prstGeom>
          <a:noFill/>
        </p:spPr>
        <p:txBody>
          <a:bodyPr wrap="square" lIns="0" rIns="0" tIns="0" bIns="0">
            <a:spAutoFit/>
          </a:bodyPr>
          <a:lstStyle/>
          <a:p>
            <a:pPr algn="l"/>
            <a:r>
              <a:rPr sz="1200" b="0">
                <a:solidFill>
                  <a:srgbClr val="6B6558"/>
                </a:solidFill>
                <a:latin typeface="Segoe UI"/>
              </a:rPr>
              <a:t>Full live pricing (same call as Process A)</a:t>
            </a:r>
          </a:p>
        </p:txBody>
      </p:sp>
      <p:sp>
        <p:nvSpPr>
          <p:cNvPr id="27" name="TextBox 26"/>
          <p:cNvSpPr txBox="1"/>
          <p:nvPr/>
        </p:nvSpPr>
        <p:spPr>
          <a:xfrm>
            <a:off x="5495544" y="5815584"/>
            <a:ext cx="5623560" cy="340156"/>
          </a:xfrm>
          <a:prstGeom prst="rect">
            <a:avLst/>
          </a:prstGeom>
          <a:noFill/>
        </p:spPr>
        <p:txBody>
          <a:bodyPr wrap="square" lIns="0" rIns="0" tIns="0" bIns="0">
            <a:spAutoFit/>
          </a:bodyPr>
          <a:lstStyle/>
          <a:p>
            <a:pPr algn="l"/>
            <a:r>
              <a:rPr sz="1200" b="1">
                <a:solidFill>
                  <a:srgbClr val="1A1A2E"/>
                </a:solidFill>
                <a:latin typeface="Segoe UI Semibold"/>
              </a:rPr>
              <a:t>~9.2 seconds, unchanged — runs in background</a:t>
            </a:r>
          </a:p>
        </p:txBody>
      </p:sp>
      <p:sp>
        <p:nvSpPr>
          <p:cNvPr id="28" name="TextBox 27"/>
          <p:cNvSpPr txBox="1"/>
          <p:nvPr/>
        </p:nvSpPr>
        <p:spPr>
          <a:xfrm>
            <a:off x="786384" y="6199632"/>
            <a:ext cx="10332720" cy="365760"/>
          </a:xfrm>
          <a:prstGeom prst="rect">
            <a:avLst/>
          </a:prstGeom>
          <a:noFill/>
        </p:spPr>
        <p:txBody>
          <a:bodyPr wrap="square" lIns="0" rIns="0" tIns="0" bIns="0">
            <a:spAutoFit/>
          </a:bodyPr>
          <a:lstStyle/>
          <a:p>
            <a:pPr algn="l"/>
            <a:r>
              <a:rPr sz="1100" b="1">
                <a:solidFill>
                  <a:srgbClr val="1A1A2E"/>
                </a:solidFill>
                <a:latin typeface="Segoe UI Semibold"/>
              </a:rPr>
              <a:t>Trade-off: </a:t>
            </a:r>
            <a:r>
              <a:rPr sz="1100" b="0">
                <a:solidFill>
                  <a:srgbClr val="6B6558"/>
                </a:solidFill>
                <a:latin typeface="Segoe UI"/>
              </a:rPr>
              <a:t>first screen looks great instantly, but can shrink as unavailable hotels are removed once pricing completes.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59612"/>
            <a:ext cx="11185855" cy="299923"/>
          </a:xfrm>
          <a:prstGeom prst="rect">
            <a:avLst/>
          </a:prstGeom>
          <a:noFill/>
        </p:spPr>
        <p:txBody>
          <a:bodyPr wrap="square" lIns="0" rIns="0" tIns="0" bIns="0">
            <a:spAutoFit/>
          </a:bodyPr>
          <a:lstStyle/>
          <a:p>
            <a:pPr algn="l"/>
            <a:r>
              <a:rPr sz="1300" b="1">
                <a:solidFill>
                  <a:srgbClr val="7A3E0F"/>
                </a:solidFill>
                <a:latin typeface="Segoe UI Semibold"/>
              </a:rPr>
              <a:t>04  —  WHAT WE RULED OUT</a:t>
            </a:r>
          </a:p>
        </p:txBody>
      </p:sp>
      <p:sp>
        <p:nvSpPr>
          <p:cNvPr id="3" name="TextBox 2"/>
          <p:cNvSpPr txBox="1"/>
          <p:nvPr/>
        </p:nvSpPr>
        <p:spPr>
          <a:xfrm>
            <a:off x="502920" y="879652"/>
            <a:ext cx="11185855" cy="500176"/>
          </a:xfrm>
          <a:prstGeom prst="rect">
            <a:avLst/>
          </a:prstGeom>
          <a:noFill/>
        </p:spPr>
        <p:txBody>
          <a:bodyPr wrap="square" lIns="0" rIns="0" tIns="0" bIns="0">
            <a:spAutoFit/>
          </a:bodyPr>
          <a:lstStyle/>
          <a:p>
            <a:pPr algn="l"/>
            <a:r>
              <a:rPr sz="2400" b="1">
                <a:solidFill>
                  <a:srgbClr val="1A1A2E"/>
                </a:solidFill>
                <a:latin typeface="Segoe UI Semibold"/>
              </a:rPr>
              <a:t>A 3rd option was tested and doesn’t work</a:t>
            </a:r>
          </a:p>
        </p:txBody>
      </p:sp>
      <p:sp>
        <p:nvSpPr>
          <p:cNvPr id="4" name="TextBox 3"/>
          <p:cNvSpPr txBox="1"/>
          <p:nvPr/>
        </p:nvSpPr>
        <p:spPr>
          <a:xfrm>
            <a:off x="502920" y="6517843"/>
            <a:ext cx="9000439" cy="239572"/>
          </a:xfrm>
          <a:prstGeom prst="rect">
            <a:avLst/>
          </a:prstGeom>
          <a:noFill/>
        </p:spPr>
        <p:txBody>
          <a:bodyPr wrap="square" lIns="0" rIns="0" tIns="0" bIns="0">
            <a:spAutoFit/>
          </a:bodyPr>
          <a:lstStyle/>
          <a:p>
            <a:pPr algn="l"/>
            <a:r>
              <a:rPr sz="900" b="0">
                <a:solidFill>
                  <a:srgbClr val="9B9384"/>
                </a:solidFill>
                <a:latin typeface="Segoe UI"/>
              </a:rPr>
              <a:t>BALKANEA WEB  •  SEARCH ARCHITECTURE</a:t>
            </a:r>
          </a:p>
        </p:txBody>
      </p:sp>
      <p:sp>
        <p:nvSpPr>
          <p:cNvPr id="5" name="TextBox 4"/>
          <p:cNvSpPr txBox="1"/>
          <p:nvPr/>
        </p:nvSpPr>
        <p:spPr>
          <a:xfrm>
            <a:off x="11492179" y="6517843"/>
            <a:ext cx="399592" cy="239572"/>
          </a:xfrm>
          <a:prstGeom prst="rect">
            <a:avLst/>
          </a:prstGeom>
          <a:noFill/>
        </p:spPr>
        <p:txBody>
          <a:bodyPr wrap="square" lIns="0" rIns="0" tIns="0" bIns="0">
            <a:spAutoFit/>
          </a:bodyPr>
          <a:lstStyle/>
          <a:p>
            <a:pPr algn="r"/>
            <a:r>
              <a:rPr sz="900" b="0">
                <a:solidFill>
                  <a:srgbClr val="9B9384"/>
                </a:solidFill>
                <a:latin typeface="Segoe UI"/>
              </a:rPr>
              <a:t>5</a:t>
            </a:r>
          </a:p>
        </p:txBody>
      </p:sp>
      <p:sp>
        <p:nvSpPr>
          <p:cNvPr id="6" name="Rounded Rectangle 5"/>
          <p:cNvSpPr/>
          <p:nvPr/>
        </p:nvSpPr>
        <p:spPr>
          <a:xfrm>
            <a:off x="502920" y="1554480"/>
            <a:ext cx="11185855" cy="205740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195560" y="1737360"/>
            <a:ext cx="1207008" cy="292608"/>
          </a:xfrm>
          <a:prstGeom prst="roundRect">
            <a:avLst>
              <a:gd name="adj" fmla="val 50000"/>
            </a:avLst>
          </a:prstGeom>
          <a:solidFill>
            <a:srgbClr val="FBE8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9A5B0C"/>
                </a:solidFill>
                <a:latin typeface="Segoe UI Semibold"/>
              </a:rPr>
              <a:t>RULED OUT</a:t>
            </a:r>
          </a:p>
        </p:txBody>
      </p:sp>
      <p:sp>
        <p:nvSpPr>
          <p:cNvPr id="8" name="TextBox 7"/>
          <p:cNvSpPr txBox="1"/>
          <p:nvPr/>
        </p:nvSpPr>
        <p:spPr>
          <a:xfrm>
            <a:off x="786384" y="1737360"/>
            <a:ext cx="9144000" cy="365760"/>
          </a:xfrm>
          <a:prstGeom prst="rect">
            <a:avLst/>
          </a:prstGeom>
          <a:noFill/>
        </p:spPr>
        <p:txBody>
          <a:bodyPr wrap="square" lIns="0" rIns="0" tIns="0" bIns="0">
            <a:spAutoFit/>
          </a:bodyPr>
          <a:lstStyle/>
          <a:p>
            <a:pPr algn="l"/>
            <a:r>
              <a:rPr sz="1400" b="1">
                <a:solidFill>
                  <a:srgbClr val="1A1A2E"/>
                </a:solidFill>
                <a:latin typeface="Segoe UI Semibold"/>
              </a:rPr>
              <a:t>Idea: price the first 20 hotels fast via parallel per-hotel calls</a:t>
            </a:r>
          </a:p>
        </p:txBody>
      </p:sp>
      <p:sp>
        <p:nvSpPr>
          <p:cNvPr id="9" name="TextBox 8"/>
          <p:cNvSpPr txBox="1"/>
          <p:nvPr/>
        </p:nvSpPr>
        <p:spPr>
          <a:xfrm>
            <a:off x="786384" y="2148840"/>
            <a:ext cx="10424160" cy="822960"/>
          </a:xfrm>
          <a:prstGeom prst="rect">
            <a:avLst/>
          </a:prstGeom>
          <a:noFill/>
        </p:spPr>
        <p:txBody>
          <a:bodyPr wrap="square" lIns="0" rIns="0" tIns="0" bIns="0">
            <a:spAutoFit/>
          </a:bodyPr>
          <a:lstStyle/>
          <a:p>
            <a:pPr algn="l"/>
            <a:r>
              <a:rPr sz="1150" b="0">
                <a:solidFill>
                  <a:srgbClr val="6B6558"/>
                </a:solidFill>
                <a:latin typeface="Segoe UI"/>
              </a:rPr>
              <a:t>Tested directly: fired RateHawk’s search/hp/ (per-hotel) endpoint for 20 real Athens hotels simultaneously. </a:t>
            </a:r>
          </a:p>
        </p:txBody>
      </p:sp>
      <p:sp>
        <p:nvSpPr>
          <p:cNvPr id="10" name="TextBox 9"/>
          <p:cNvSpPr txBox="1"/>
          <p:nvPr/>
        </p:nvSpPr>
        <p:spPr>
          <a:xfrm>
            <a:off x="786384" y="2578608"/>
            <a:ext cx="10424160" cy="822960"/>
          </a:xfrm>
          <a:prstGeom prst="rect">
            <a:avLst/>
          </a:prstGeom>
          <a:noFill/>
        </p:spPr>
        <p:txBody>
          <a:bodyPr wrap="square" lIns="0" rIns="0" tIns="0" bIns="0">
            <a:spAutoFit/>
          </a:bodyPr>
          <a:lstStyle/>
          <a:p>
            <a:pPr algn="l"/>
            <a:r>
              <a:rPr sz="1150" b="1">
                <a:solidFill>
                  <a:srgbClr val="1A1A2E"/>
                </a:solidFill>
                <a:latin typeface="Segoe UI Semibold"/>
              </a:rPr>
              <a:t>Result: </a:t>
            </a:r>
            <a:r>
              <a:rPr sz="1150" b="1">
                <a:solidFill>
                  <a:srgbClr val="B43B1F"/>
                </a:solidFill>
                <a:latin typeface="Segoe UI Semibold"/>
              </a:rPr>
              <a:t>all 20 failed within ~1.1 seconds</a:t>
            </a:r>
            <a:r>
              <a:rPr sz="1150" b="0">
                <a:solidFill>
                  <a:srgbClr val="6B6558"/>
                </a:solidFill>
                <a:latin typeface="Segoe UI"/>
              </a:rPr>
              <a:t>  —  12× endpoint_exceeded_limit, 8× invalid_json_format (same root cause). RateHawk rate-limits this endpoint; it isn’t built for bulk use.</a:t>
            </a:r>
          </a:p>
        </p:txBody>
      </p:sp>
      <p:sp>
        <p:nvSpPr>
          <p:cNvPr id="11" name="Rounded Rectangle 10"/>
          <p:cNvSpPr/>
          <p:nvPr/>
        </p:nvSpPr>
        <p:spPr>
          <a:xfrm>
            <a:off x="502920" y="3794760"/>
            <a:ext cx="11185855" cy="251460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3950208"/>
            <a:ext cx="10607040" cy="365760"/>
          </a:xfrm>
          <a:prstGeom prst="rect">
            <a:avLst/>
          </a:prstGeom>
          <a:noFill/>
        </p:spPr>
        <p:txBody>
          <a:bodyPr wrap="square" lIns="0" rIns="0" tIns="0" bIns="0">
            <a:spAutoFit/>
          </a:bodyPr>
          <a:lstStyle/>
          <a:p>
            <a:pPr algn="l"/>
            <a:r>
              <a:rPr sz="1400" b="1">
                <a:solidFill>
                  <a:srgbClr val="1A1A2E"/>
                </a:solidFill>
                <a:latin typeface="Segoe UI Semibold"/>
              </a:rPr>
              <a:t>Confirmed from RateHawk’s own SDK source (not a guess)</a:t>
            </a:r>
          </a:p>
        </p:txBody>
      </p:sp>
      <p:sp>
        <p:nvSpPr>
          <p:cNvPr id="13" name="TextBox 12"/>
          <p:cNvSpPr txBox="1"/>
          <p:nvPr/>
        </p:nvSpPr>
        <p:spPr>
          <a:xfrm>
            <a:off x="786384" y="4370832"/>
            <a:ext cx="10607040" cy="1737360"/>
          </a:xfrm>
          <a:prstGeom prst="rect">
            <a:avLst/>
          </a:prstGeom>
          <a:noFill/>
        </p:spPr>
        <p:txBody>
          <a:bodyPr wrap="square" lIns="0" rIns="0" tIns="0" bIns="0">
            <a:spAutoFit/>
          </a:bodyPr>
          <a:lstStyle/>
          <a:p>
            <a:pPr algn="l">
              <a:lnSpc>
                <a:spcPct val="130000"/>
              </a:lnSpc>
            </a:pPr>
            <a:r>
              <a:rPr sz="1150" b="1">
                <a:solidFill>
                  <a:srgbClr val="1A1A2E"/>
                </a:solidFill>
                <a:latin typeface="Consolas"/>
              </a:rPr>
              <a:t>B2BRegionRequest </a:t>
            </a:r>
            <a:r>
              <a:rPr sz="1150" b="0">
                <a:solidFill>
                  <a:srgbClr val="6B6558"/>
                </a:solidFill>
                <a:latin typeface="Segoe UI"/>
              </a:rPr>
              <a:t>has no search_id / page / async fields.  </a:t>
            </a:r>
          </a:p>
        </p:txBody>
      </p:sp>
      <p:sp>
        <p:nvSpPr>
          <p:cNvPr id="14" name="TextBox 13"/>
          <p:cNvSpPr txBox="1"/>
          <p:nvPr/>
        </p:nvSpPr>
        <p:spPr>
          <a:xfrm>
            <a:off x="786384" y="4709160"/>
            <a:ext cx="10607040" cy="365760"/>
          </a:xfrm>
          <a:prstGeom prst="rect">
            <a:avLst/>
          </a:prstGeom>
          <a:noFill/>
        </p:spPr>
        <p:txBody>
          <a:bodyPr wrap="square" lIns="0" rIns="0" tIns="0" bIns="0">
            <a:spAutoFit/>
          </a:bodyPr>
          <a:lstStyle/>
          <a:p>
            <a:pPr algn="l"/>
            <a:r>
              <a:rPr sz="1150" b="1">
                <a:solidFill>
                  <a:srgbClr val="1A1A2E"/>
                </a:solidFill>
                <a:latin typeface="Consolas"/>
              </a:rPr>
              <a:t>RegionB2BSearchData</a:t>
            </a:r>
            <a:r>
              <a:rPr sz="1150" b="0">
                <a:solidFill>
                  <a:srgbClr val="6B6558"/>
                </a:solidFill>
                <a:latin typeface="Segoe UI"/>
              </a:rPr>
              <a:t> carries </a:t>
            </a:r>
            <a:r>
              <a:rPr sz="1150" b="1">
                <a:solidFill>
                  <a:srgbClr val="1A1A2E"/>
                </a:solidFill>
                <a:latin typeface="Consolas"/>
              </a:rPr>
              <a:t>total_hotels</a:t>
            </a:r>
            <a:r>
              <a:rPr sz="1150" b="0">
                <a:solidFill>
                  <a:srgbClr val="6B6558"/>
                </a:solidFill>
                <a:latin typeface="Segoe UI"/>
              </a:rPr>
              <a:t> AND the full priced </a:t>
            </a:r>
            <a:r>
              <a:rPr sz="1150" b="1">
                <a:solidFill>
                  <a:srgbClr val="1A1A2E"/>
                </a:solidFill>
                <a:latin typeface="Consolas"/>
              </a:rPr>
              <a:t>hotels[]</a:t>
            </a:r>
            <a:r>
              <a:rPr sz="1150" b="0">
                <a:solidFill>
                  <a:srgbClr val="6B6558"/>
                </a:solidFill>
                <a:latin typeface="Segoe UI"/>
              </a:rPr>
              <a:t> list — same response, same call.</a:t>
            </a:r>
          </a:p>
        </p:txBody>
      </p:sp>
      <p:sp>
        <p:nvSpPr>
          <p:cNvPr id="15" name="TextBox 14"/>
          <p:cNvSpPr txBox="1"/>
          <p:nvPr/>
        </p:nvSpPr>
        <p:spPr>
          <a:xfrm>
            <a:off x="786384" y="5166360"/>
            <a:ext cx="10607040" cy="457200"/>
          </a:xfrm>
          <a:prstGeom prst="rect">
            <a:avLst/>
          </a:prstGeom>
          <a:noFill/>
        </p:spPr>
        <p:txBody>
          <a:bodyPr wrap="square" lIns="0" rIns="0" tIns="0" bIns="0">
            <a:spAutoFit/>
          </a:bodyPr>
          <a:lstStyle/>
          <a:p>
            <a:pPr algn="l"/>
            <a:r>
              <a:rPr sz="1100" b="0">
                <a:solidFill>
                  <a:srgbClr val="6B6558"/>
                </a:solidFill>
                <a:latin typeface="Segoe UI"/>
              </a:rPr>
              <a:t>There is no lightweight “count first, price later” endpoint. The only fast count available is the local content-DB total (6,287 for Athens) — real, but not the same thing as live availability (275).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59612"/>
            <a:ext cx="11185855" cy="299923"/>
          </a:xfrm>
          <a:prstGeom prst="rect">
            <a:avLst/>
          </a:prstGeom>
          <a:noFill/>
        </p:spPr>
        <p:txBody>
          <a:bodyPr wrap="square" lIns="0" rIns="0" tIns="0" bIns="0">
            <a:spAutoFit/>
          </a:bodyPr>
          <a:lstStyle/>
          <a:p>
            <a:pPr algn="l"/>
            <a:r>
              <a:rPr sz="1300" b="1">
                <a:solidFill>
                  <a:srgbClr val="7A3E0F"/>
                </a:solidFill>
                <a:latin typeface="Segoe UI Semibold"/>
              </a:rPr>
              <a:t>05  —  OPEN QUESTIONS</a:t>
            </a:r>
          </a:p>
        </p:txBody>
      </p:sp>
      <p:sp>
        <p:nvSpPr>
          <p:cNvPr id="3" name="TextBox 2"/>
          <p:cNvSpPr txBox="1"/>
          <p:nvPr/>
        </p:nvSpPr>
        <p:spPr>
          <a:xfrm>
            <a:off x="502920" y="879652"/>
            <a:ext cx="11185855" cy="500176"/>
          </a:xfrm>
          <a:prstGeom prst="rect">
            <a:avLst/>
          </a:prstGeom>
          <a:noFill/>
        </p:spPr>
        <p:txBody>
          <a:bodyPr wrap="square" lIns="0" rIns="0" tIns="0" bIns="0">
            <a:spAutoFit/>
          </a:bodyPr>
          <a:lstStyle/>
          <a:p>
            <a:pPr algn="l"/>
            <a:r>
              <a:rPr sz="2400" b="1">
                <a:solidFill>
                  <a:srgbClr val="1A1A2E"/>
                </a:solidFill>
                <a:latin typeface="Segoe UI Semibold"/>
              </a:rPr>
              <a:t>Four things we need your read on</a:t>
            </a:r>
          </a:p>
        </p:txBody>
      </p:sp>
      <p:sp>
        <p:nvSpPr>
          <p:cNvPr id="4" name="TextBox 3"/>
          <p:cNvSpPr txBox="1"/>
          <p:nvPr/>
        </p:nvSpPr>
        <p:spPr>
          <a:xfrm>
            <a:off x="502920" y="6517843"/>
            <a:ext cx="9000439" cy="239572"/>
          </a:xfrm>
          <a:prstGeom prst="rect">
            <a:avLst/>
          </a:prstGeom>
          <a:noFill/>
        </p:spPr>
        <p:txBody>
          <a:bodyPr wrap="square" lIns="0" rIns="0" tIns="0" bIns="0">
            <a:spAutoFit/>
          </a:bodyPr>
          <a:lstStyle/>
          <a:p>
            <a:pPr algn="l"/>
            <a:r>
              <a:rPr sz="900" b="0">
                <a:solidFill>
                  <a:srgbClr val="9B9384"/>
                </a:solidFill>
                <a:latin typeface="Segoe UI"/>
              </a:rPr>
              <a:t>BALKANEA WEB  •  SEARCH ARCHITECTURE</a:t>
            </a:r>
          </a:p>
        </p:txBody>
      </p:sp>
      <p:sp>
        <p:nvSpPr>
          <p:cNvPr id="5" name="TextBox 4"/>
          <p:cNvSpPr txBox="1"/>
          <p:nvPr/>
        </p:nvSpPr>
        <p:spPr>
          <a:xfrm>
            <a:off x="11492179" y="6517843"/>
            <a:ext cx="399592" cy="239572"/>
          </a:xfrm>
          <a:prstGeom prst="rect">
            <a:avLst/>
          </a:prstGeom>
          <a:noFill/>
        </p:spPr>
        <p:txBody>
          <a:bodyPr wrap="square" lIns="0" rIns="0" tIns="0" bIns="0">
            <a:spAutoFit/>
          </a:bodyPr>
          <a:lstStyle/>
          <a:p>
            <a:pPr algn="r"/>
            <a:r>
              <a:rPr sz="900" b="0">
                <a:solidFill>
                  <a:srgbClr val="9B9384"/>
                </a:solidFill>
                <a:latin typeface="Segoe UI"/>
              </a:rPr>
              <a:t>6</a:t>
            </a:r>
          </a:p>
        </p:txBody>
      </p:sp>
      <p:sp>
        <p:nvSpPr>
          <p:cNvPr id="6" name="Rounded Rectangle 5"/>
          <p:cNvSpPr/>
          <p:nvPr/>
        </p:nvSpPr>
        <p:spPr>
          <a:xfrm>
            <a:off x="502920" y="1554480"/>
            <a:ext cx="11185855" cy="105156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51660"/>
            <a:ext cx="457200" cy="457200"/>
          </a:xfrm>
          <a:prstGeom prst="roundRect">
            <a:avLst>
              <a:gd name="adj" fmla="val 50000"/>
            </a:avLst>
          </a:prstGeom>
          <a:solidFill>
            <a:srgbClr val="E3EA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C4E8F"/>
                </a:solidFill>
                <a:latin typeface="Segoe UI Semibold"/>
              </a:rPr>
              <a:t>1</a:t>
            </a:r>
          </a:p>
        </p:txBody>
      </p:sp>
      <p:sp>
        <p:nvSpPr>
          <p:cNvPr id="8" name="TextBox 7"/>
          <p:cNvSpPr txBox="1"/>
          <p:nvPr/>
        </p:nvSpPr>
        <p:spPr>
          <a:xfrm>
            <a:off x="1325880" y="1673352"/>
            <a:ext cx="9966960" cy="320040"/>
          </a:xfrm>
          <a:prstGeom prst="rect">
            <a:avLst/>
          </a:prstGeom>
          <a:noFill/>
        </p:spPr>
        <p:txBody>
          <a:bodyPr wrap="square" lIns="0" rIns="0" tIns="0" bIns="0">
            <a:spAutoFit/>
          </a:bodyPr>
          <a:lstStyle/>
          <a:p>
            <a:pPr algn="l"/>
            <a:r>
              <a:rPr sz="1350" b="1">
                <a:solidFill>
                  <a:srgbClr val="1A1A2E"/>
                </a:solidFill>
                <a:latin typeface="Segoe UI Semibold"/>
              </a:rPr>
              <a:t>Real ratings/reviews source?</a:t>
            </a:r>
          </a:p>
        </p:txBody>
      </p:sp>
      <p:sp>
        <p:nvSpPr>
          <p:cNvPr id="9" name="TextBox 8"/>
          <p:cNvSpPr txBox="1"/>
          <p:nvPr/>
        </p:nvSpPr>
        <p:spPr>
          <a:xfrm>
            <a:off x="1325880" y="2011680"/>
            <a:ext cx="9966960" cy="548640"/>
          </a:xfrm>
          <a:prstGeom prst="rect">
            <a:avLst/>
          </a:prstGeom>
          <a:noFill/>
        </p:spPr>
        <p:txBody>
          <a:bodyPr wrap="square" lIns="0" rIns="0" tIns="0" bIns="0">
            <a:spAutoFit/>
          </a:bodyPr>
          <a:lstStyle/>
          <a:p>
            <a:pPr algn="l">
              <a:lnSpc>
                <a:spcPct val="105000"/>
              </a:lnSpc>
            </a:pPr>
            <a:r>
              <a:rPr sz="1000" b="0">
                <a:solidFill>
                  <a:srgbClr val="6B6558"/>
                </a:solidFill>
                <a:latin typeface="Segoe UI"/>
              </a:rPr>
              <a:t>Removed the fake seeded-random guest_rating entirely (no-fabrication rule). RateHawk’s own public SDK has no ratings/reviews endpoint at all — confirmed against its complete Endpoint enum. Does RateHawk expose real ratings anywhere outside the public B2B API?</a:t>
            </a:r>
          </a:p>
        </p:txBody>
      </p:sp>
      <p:sp>
        <p:nvSpPr>
          <p:cNvPr id="10" name="Rounded Rectangle 9"/>
          <p:cNvSpPr/>
          <p:nvPr/>
        </p:nvSpPr>
        <p:spPr>
          <a:xfrm>
            <a:off x="502920" y="2743200"/>
            <a:ext cx="11185855" cy="105156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3040380"/>
            <a:ext cx="457200" cy="457200"/>
          </a:xfrm>
          <a:prstGeom prst="roundRect">
            <a:avLst>
              <a:gd name="adj" fmla="val 50000"/>
            </a:avLst>
          </a:prstGeom>
          <a:solidFill>
            <a:srgbClr val="E3EA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C4E8F"/>
                </a:solidFill>
                <a:latin typeface="Segoe UI Semibold"/>
              </a:rPr>
              <a:t>2</a:t>
            </a:r>
          </a:p>
        </p:txBody>
      </p:sp>
      <p:sp>
        <p:nvSpPr>
          <p:cNvPr id="12" name="TextBox 11"/>
          <p:cNvSpPr txBox="1"/>
          <p:nvPr/>
        </p:nvSpPr>
        <p:spPr>
          <a:xfrm>
            <a:off x="1325880" y="2862072"/>
            <a:ext cx="9966960" cy="320040"/>
          </a:xfrm>
          <a:prstGeom prst="rect">
            <a:avLst/>
          </a:prstGeom>
          <a:noFill/>
        </p:spPr>
        <p:txBody>
          <a:bodyPr wrap="square" lIns="0" rIns="0" tIns="0" bIns="0">
            <a:spAutoFit/>
          </a:bodyPr>
          <a:lstStyle/>
          <a:p>
            <a:pPr algn="l"/>
            <a:r>
              <a:rPr sz="1350" b="1">
                <a:solidFill>
                  <a:srgbClr val="1A1A2E"/>
                </a:solidFill>
                <a:latin typeface="Segoe UI Semibold"/>
              </a:rPr>
              <a:t>Residency ‘gb’ vs. your ‘de’?</a:t>
            </a:r>
          </a:p>
        </p:txBody>
      </p:sp>
      <p:sp>
        <p:nvSpPr>
          <p:cNvPr id="13" name="TextBox 12"/>
          <p:cNvSpPr txBox="1"/>
          <p:nvPr/>
        </p:nvSpPr>
        <p:spPr>
          <a:xfrm>
            <a:off x="1325880" y="3200400"/>
            <a:ext cx="9966960" cy="548640"/>
          </a:xfrm>
          <a:prstGeom prst="rect">
            <a:avLst/>
          </a:prstGeom>
          <a:noFill/>
        </p:spPr>
        <p:txBody>
          <a:bodyPr wrap="square" lIns="0" rIns="0" tIns="0" bIns="0">
            <a:spAutoFit/>
          </a:bodyPr>
          <a:lstStyle/>
          <a:p>
            <a:pPr algn="l">
              <a:lnSpc>
                <a:spcPct val="105000"/>
              </a:lnSpc>
            </a:pPr>
            <a:r>
              <a:rPr sz="1000" b="0">
                <a:solidFill>
                  <a:srgbClr val="6B6558"/>
                </a:solidFill>
                <a:latin typeface="Segoe UI"/>
              </a:rPr>
              <a:t>Our room-detail call (search/hp/) sends residency: ‘gb’; your reference doc uses ‘de’. Both return real rates, so it isn’t broken — but residency can affect which rates a partner is shown, so the mismatch is unexplained rather than fixed by a guess.</a:t>
            </a:r>
          </a:p>
        </p:txBody>
      </p:sp>
      <p:sp>
        <p:nvSpPr>
          <p:cNvPr id="14" name="Rounded Rectangle 13"/>
          <p:cNvSpPr/>
          <p:nvPr/>
        </p:nvSpPr>
        <p:spPr>
          <a:xfrm>
            <a:off x="502920" y="3931920"/>
            <a:ext cx="11185855" cy="105156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5800" y="4229100"/>
            <a:ext cx="457200" cy="457200"/>
          </a:xfrm>
          <a:prstGeom prst="roundRect">
            <a:avLst>
              <a:gd name="adj" fmla="val 50000"/>
            </a:avLst>
          </a:prstGeom>
          <a:solidFill>
            <a:srgbClr val="E3EA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C4E8F"/>
                </a:solidFill>
                <a:latin typeface="Segoe UI Semibold"/>
              </a:rPr>
              <a:t>3</a:t>
            </a:r>
          </a:p>
        </p:txBody>
      </p:sp>
      <p:sp>
        <p:nvSpPr>
          <p:cNvPr id="16" name="TextBox 15"/>
          <p:cNvSpPr txBox="1"/>
          <p:nvPr/>
        </p:nvSpPr>
        <p:spPr>
          <a:xfrm>
            <a:off x="1325880" y="4050791"/>
            <a:ext cx="9966960" cy="320040"/>
          </a:xfrm>
          <a:prstGeom prst="rect">
            <a:avLst/>
          </a:prstGeom>
          <a:noFill/>
        </p:spPr>
        <p:txBody>
          <a:bodyPr wrap="square" lIns="0" rIns="0" tIns="0" bIns="0">
            <a:spAutoFit/>
          </a:bodyPr>
          <a:lstStyle/>
          <a:p>
            <a:pPr algn="l"/>
            <a:r>
              <a:rPr sz="1350" b="1">
                <a:solidFill>
                  <a:srgbClr val="1A1A2E"/>
                </a:solidFill>
                <a:latin typeface="Segoe UI Semibold"/>
              </a:rPr>
              <a:t>Why does staging show 129 vs our 275?</a:t>
            </a:r>
          </a:p>
        </p:txBody>
      </p:sp>
      <p:sp>
        <p:nvSpPr>
          <p:cNvPr id="17" name="TextBox 16"/>
          <p:cNvSpPr txBox="1"/>
          <p:nvPr/>
        </p:nvSpPr>
        <p:spPr>
          <a:xfrm>
            <a:off x="1325880" y="4389120"/>
            <a:ext cx="9966960" cy="548640"/>
          </a:xfrm>
          <a:prstGeom prst="rect">
            <a:avLst/>
          </a:prstGeom>
          <a:noFill/>
        </p:spPr>
        <p:txBody>
          <a:bodyPr wrap="square" lIns="0" rIns="0" tIns="0" bIns="0">
            <a:spAutoFit/>
          </a:bodyPr>
          <a:lstStyle/>
          <a:p>
            <a:pPr algn="l">
              <a:lnSpc>
                <a:spcPct val="105000"/>
              </a:lnSpc>
            </a:pPr>
            <a:r>
              <a:rPr sz="1000" b="0">
                <a:solidFill>
                  <a:srgbClr val="6B6558"/>
                </a:solidFill>
                <a:latin typeface="Segoe UI"/>
              </a:rPr>
              <a:t>Same live query, same day: your popup-map page said 129 Athens hotels; ours said 275–277. We diffed the lists — all 11 hotels visible on your first page are also in ours (3 just have different display names). Does the popup-map view cap or narrow results beyond live availability?</a:t>
            </a:r>
          </a:p>
        </p:txBody>
      </p:sp>
      <p:sp>
        <p:nvSpPr>
          <p:cNvPr id="18" name="Rounded Rectangle 17"/>
          <p:cNvSpPr/>
          <p:nvPr/>
        </p:nvSpPr>
        <p:spPr>
          <a:xfrm>
            <a:off x="502920" y="5120640"/>
            <a:ext cx="11185855" cy="105156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 y="5417820"/>
            <a:ext cx="457200" cy="457200"/>
          </a:xfrm>
          <a:prstGeom prst="roundRect">
            <a:avLst>
              <a:gd name="adj" fmla="val 50000"/>
            </a:avLst>
          </a:prstGeom>
          <a:solidFill>
            <a:srgbClr val="E3EA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C4E8F"/>
                </a:solidFill>
                <a:latin typeface="Segoe UI Semibold"/>
              </a:rPr>
              <a:t>4</a:t>
            </a:r>
          </a:p>
        </p:txBody>
      </p:sp>
      <p:sp>
        <p:nvSpPr>
          <p:cNvPr id="20" name="TextBox 19"/>
          <p:cNvSpPr txBox="1"/>
          <p:nvPr/>
        </p:nvSpPr>
        <p:spPr>
          <a:xfrm>
            <a:off x="1325880" y="5239512"/>
            <a:ext cx="9966960" cy="320040"/>
          </a:xfrm>
          <a:prstGeom prst="rect">
            <a:avLst/>
          </a:prstGeom>
          <a:noFill/>
        </p:spPr>
        <p:txBody>
          <a:bodyPr wrap="square" lIns="0" rIns="0" tIns="0" bIns="0">
            <a:spAutoFit/>
          </a:bodyPr>
          <a:lstStyle/>
          <a:p>
            <a:pPr algn="l"/>
            <a:r>
              <a:rPr sz="1350" b="1">
                <a:solidFill>
                  <a:srgbClr val="1A1A2E"/>
                </a:solidFill>
                <a:latin typeface="Segoe UI Semibold"/>
              </a:rPr>
              <a:t>Hotel-name drift: DB dump vs live search?</a:t>
            </a:r>
          </a:p>
        </p:txBody>
      </p:sp>
      <p:sp>
        <p:nvSpPr>
          <p:cNvPr id="21" name="TextBox 20"/>
          <p:cNvSpPr txBox="1"/>
          <p:nvPr/>
        </p:nvSpPr>
        <p:spPr>
          <a:xfrm>
            <a:off x="1325880" y="5577840"/>
            <a:ext cx="9966960" cy="548640"/>
          </a:xfrm>
          <a:prstGeom prst="rect">
            <a:avLst/>
          </a:prstGeom>
          <a:noFill/>
        </p:spPr>
        <p:txBody>
          <a:bodyPr wrap="square" lIns="0" rIns="0" tIns="0" bIns="0">
            <a:spAutoFit/>
          </a:bodyPr>
          <a:lstStyle/>
          <a:p>
            <a:pPr algn="l">
              <a:lnSpc>
                <a:spcPct val="105000"/>
              </a:lnSpc>
            </a:pPr>
            <a:r>
              <a:rPr sz="1000" b="0">
                <a:solidFill>
                  <a:srgbClr val="6B6558"/>
                </a:solidFill>
                <a:latin typeface="Segoe UI"/>
              </a:rPr>
              <a:t>Same hid, two different names — e.g. hid 11346236 is “ERMASS Athens” in our content DB but “Ermass Modern Living Apartments” in RateHawk’s live response. Likely the bulk dump vs. live search carry different name fields. Should we prefer the live name for display?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59612"/>
            <a:ext cx="11185855" cy="299923"/>
          </a:xfrm>
          <a:prstGeom prst="rect">
            <a:avLst/>
          </a:prstGeom>
          <a:noFill/>
        </p:spPr>
        <p:txBody>
          <a:bodyPr wrap="square" lIns="0" rIns="0" tIns="0" bIns="0">
            <a:spAutoFit/>
          </a:bodyPr>
          <a:lstStyle/>
          <a:p>
            <a:pPr algn="l"/>
            <a:r>
              <a:rPr sz="1300" b="1">
                <a:solidFill>
                  <a:srgbClr val="7A3E0F"/>
                </a:solidFill>
                <a:latin typeface="Segoe UI Semibold"/>
              </a:rPr>
              <a:t>06  —  FOR TOMORROW</a:t>
            </a:r>
          </a:p>
        </p:txBody>
      </p:sp>
      <p:sp>
        <p:nvSpPr>
          <p:cNvPr id="3" name="TextBox 2"/>
          <p:cNvSpPr txBox="1"/>
          <p:nvPr/>
        </p:nvSpPr>
        <p:spPr>
          <a:xfrm>
            <a:off x="502920" y="879652"/>
            <a:ext cx="11185855" cy="500176"/>
          </a:xfrm>
          <a:prstGeom prst="rect">
            <a:avLst/>
          </a:prstGeom>
          <a:noFill/>
        </p:spPr>
        <p:txBody>
          <a:bodyPr wrap="square" lIns="0" rIns="0" tIns="0" bIns="0">
            <a:spAutoFit/>
          </a:bodyPr>
          <a:lstStyle/>
          <a:p>
            <a:pPr algn="l"/>
            <a:r>
              <a:rPr sz="2400" b="1">
                <a:solidFill>
                  <a:srgbClr val="1A1A2E"/>
                </a:solidFill>
                <a:latin typeface="Segoe UI Semibold"/>
              </a:rPr>
              <a:t>Try both live, and what we’d build next</a:t>
            </a:r>
          </a:p>
        </p:txBody>
      </p:sp>
      <p:sp>
        <p:nvSpPr>
          <p:cNvPr id="4" name="TextBox 3"/>
          <p:cNvSpPr txBox="1"/>
          <p:nvPr/>
        </p:nvSpPr>
        <p:spPr>
          <a:xfrm>
            <a:off x="502920" y="6517843"/>
            <a:ext cx="9000439" cy="239572"/>
          </a:xfrm>
          <a:prstGeom prst="rect">
            <a:avLst/>
          </a:prstGeom>
          <a:noFill/>
        </p:spPr>
        <p:txBody>
          <a:bodyPr wrap="square" lIns="0" rIns="0" tIns="0" bIns="0">
            <a:spAutoFit/>
          </a:bodyPr>
          <a:lstStyle/>
          <a:p>
            <a:pPr algn="l"/>
            <a:r>
              <a:rPr sz="900" b="0">
                <a:solidFill>
                  <a:srgbClr val="9B9384"/>
                </a:solidFill>
                <a:latin typeface="Segoe UI"/>
              </a:rPr>
              <a:t>BALKANEA WEB  •  SEARCH ARCHITECTURE</a:t>
            </a:r>
          </a:p>
        </p:txBody>
      </p:sp>
      <p:sp>
        <p:nvSpPr>
          <p:cNvPr id="5" name="TextBox 4"/>
          <p:cNvSpPr txBox="1"/>
          <p:nvPr/>
        </p:nvSpPr>
        <p:spPr>
          <a:xfrm>
            <a:off x="11492179" y="6517843"/>
            <a:ext cx="399592" cy="239572"/>
          </a:xfrm>
          <a:prstGeom prst="rect">
            <a:avLst/>
          </a:prstGeom>
          <a:noFill/>
        </p:spPr>
        <p:txBody>
          <a:bodyPr wrap="square" lIns="0" rIns="0" tIns="0" bIns="0">
            <a:spAutoFit/>
          </a:bodyPr>
          <a:lstStyle/>
          <a:p>
            <a:pPr algn="r"/>
            <a:r>
              <a:rPr sz="900" b="0">
                <a:solidFill>
                  <a:srgbClr val="9B9384"/>
                </a:solidFill>
                <a:latin typeface="Segoe UI"/>
              </a:rPr>
              <a:t>7</a:t>
            </a:r>
          </a:p>
        </p:txBody>
      </p:sp>
      <p:sp>
        <p:nvSpPr>
          <p:cNvPr id="6" name="Rounded Rectangle 5"/>
          <p:cNvSpPr/>
          <p:nvPr/>
        </p:nvSpPr>
        <p:spPr>
          <a:xfrm>
            <a:off x="502920" y="1554480"/>
            <a:ext cx="11185855" cy="137160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709928"/>
            <a:ext cx="10607040" cy="365760"/>
          </a:xfrm>
          <a:prstGeom prst="rect">
            <a:avLst/>
          </a:prstGeom>
          <a:noFill/>
        </p:spPr>
        <p:txBody>
          <a:bodyPr wrap="square" lIns="0" rIns="0" tIns="0" bIns="0">
            <a:spAutoFit/>
          </a:bodyPr>
          <a:lstStyle/>
          <a:p>
            <a:pPr algn="l"/>
            <a:r>
              <a:rPr sz="1400" b="1">
                <a:solidFill>
                  <a:srgbClr val="1A1A2E"/>
                </a:solidFill>
                <a:latin typeface="Segoe UI Semibold"/>
              </a:rPr>
              <a:t>Try them yourselves</a:t>
            </a:r>
          </a:p>
        </p:txBody>
      </p:sp>
      <p:sp>
        <p:nvSpPr>
          <p:cNvPr id="8" name="TextBox 7"/>
          <p:cNvSpPr txBox="1"/>
          <p:nvPr/>
        </p:nvSpPr>
        <p:spPr>
          <a:xfrm>
            <a:off x="786384" y="2103120"/>
            <a:ext cx="10607040" cy="365760"/>
          </a:xfrm>
          <a:prstGeom prst="rect">
            <a:avLst/>
          </a:prstGeom>
          <a:noFill/>
        </p:spPr>
        <p:txBody>
          <a:bodyPr wrap="square" lIns="0" rIns="0" tIns="0" bIns="0">
            <a:spAutoFit/>
          </a:bodyPr>
          <a:lstStyle/>
          <a:p>
            <a:pPr algn="l"/>
            <a:r>
              <a:rPr sz="1150" b="1">
                <a:solidFill>
                  <a:srgbClr val="1A1A2E"/>
                </a:solidFill>
                <a:latin typeface="Segoe UI Semibold"/>
              </a:rPr>
              <a:t>Process A:  </a:t>
            </a:r>
            <a:r>
              <a:rPr sz="1150" b="0">
                <a:solidFill>
                  <a:srgbClr val="6B6558"/>
                </a:solidFill>
                <a:latin typeface="Consolas"/>
              </a:rPr>
              <a:t>balkanea-web.vercel.app/hotels</a:t>
            </a:r>
          </a:p>
        </p:txBody>
      </p:sp>
      <p:sp>
        <p:nvSpPr>
          <p:cNvPr id="9" name="TextBox 8"/>
          <p:cNvSpPr txBox="1"/>
          <p:nvPr/>
        </p:nvSpPr>
        <p:spPr>
          <a:xfrm>
            <a:off x="786384" y="2450592"/>
            <a:ext cx="10607040" cy="365760"/>
          </a:xfrm>
          <a:prstGeom prst="rect">
            <a:avLst/>
          </a:prstGeom>
          <a:noFill/>
        </p:spPr>
        <p:txBody>
          <a:bodyPr wrap="square" lIns="0" rIns="0" tIns="0" bIns="0">
            <a:spAutoFit/>
          </a:bodyPr>
          <a:lstStyle/>
          <a:p>
            <a:pPr algn="l"/>
            <a:r>
              <a:rPr sz="1150" b="1">
                <a:solidFill>
                  <a:srgbClr val="1A1A2E"/>
                </a:solidFill>
                <a:latin typeface="Segoe UI Semibold"/>
              </a:rPr>
              <a:t>Process B:  </a:t>
            </a:r>
            <a:r>
              <a:rPr sz="1150" b="0">
                <a:solidFill>
                  <a:srgbClr val="6B6558"/>
                </a:solidFill>
                <a:latin typeface="Consolas"/>
              </a:rPr>
              <a:t>balkanea-web.vercel.app/hotels-instant</a:t>
            </a:r>
          </a:p>
        </p:txBody>
      </p:sp>
      <p:sp>
        <p:nvSpPr>
          <p:cNvPr id="10" name="Rounded Rectangle 9"/>
          <p:cNvSpPr/>
          <p:nvPr/>
        </p:nvSpPr>
        <p:spPr>
          <a:xfrm>
            <a:off x="502920" y="3108960"/>
            <a:ext cx="11185855" cy="2834640"/>
          </a:xfrm>
          <a:prstGeom prst="roundRect">
            <a:avLst>
              <a:gd name="adj" fmla="val 6000"/>
            </a:avLst>
          </a:prstGeom>
          <a:solidFill>
            <a:srgbClr val="FFFFFF"/>
          </a:solidFill>
          <a:ln w="12700">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3264408"/>
            <a:ext cx="10607040" cy="365760"/>
          </a:xfrm>
          <a:prstGeom prst="rect">
            <a:avLst/>
          </a:prstGeom>
          <a:noFill/>
        </p:spPr>
        <p:txBody>
          <a:bodyPr wrap="square" lIns="0" rIns="0" tIns="0" bIns="0">
            <a:spAutoFit/>
          </a:bodyPr>
          <a:lstStyle/>
          <a:p>
            <a:pPr algn="l"/>
            <a:r>
              <a:rPr sz="1400" b="1">
                <a:solidFill>
                  <a:srgbClr val="1A1A2E"/>
                </a:solidFill>
                <a:latin typeface="Segoe UI Semibold"/>
              </a:rPr>
              <a:t>Recommendation — build in this order</a:t>
            </a:r>
          </a:p>
        </p:txBody>
      </p:sp>
      <p:sp>
        <p:nvSpPr>
          <p:cNvPr id="12" name="TextBox 11"/>
          <p:cNvSpPr txBox="1"/>
          <p:nvPr/>
        </p:nvSpPr>
        <p:spPr>
          <a:xfrm>
            <a:off x="786384" y="3703320"/>
            <a:ext cx="10424160" cy="685800"/>
          </a:xfrm>
          <a:prstGeom prst="rect">
            <a:avLst/>
          </a:prstGeom>
          <a:noFill/>
        </p:spPr>
        <p:txBody>
          <a:bodyPr wrap="square" lIns="0" rIns="0" tIns="0" bIns="0">
            <a:spAutoFit/>
          </a:bodyPr>
          <a:lstStyle/>
          <a:p>
            <a:pPr algn="l"/>
            <a:r>
              <a:rPr sz="1150" b="0">
                <a:solidFill>
                  <a:srgbClr val="6B6558"/>
                </a:solidFill>
                <a:latin typeface="Segoe UI"/>
              </a:rPr>
              <a:t>•  </a:t>
            </a:r>
            <a:r>
              <a:rPr sz="1150" b="0">
                <a:solidFill>
                  <a:srgbClr val="6B6558"/>
                </a:solidFill>
                <a:latin typeface="Segoe UI"/>
              </a:rPr>
              <a:t>Cache the live RateHawk region response (1hr, keyed by region+dates+guests) — matches your own reference spec, which we turned off earlier for an honest count comparison and never re-enabled. Low risk, ~7x faster on any repeat search.</a:t>
            </a:r>
          </a:p>
        </p:txBody>
      </p:sp>
      <p:sp>
        <p:nvSpPr>
          <p:cNvPr id="13" name="TextBox 12"/>
          <p:cNvSpPr txBox="1"/>
          <p:nvPr/>
        </p:nvSpPr>
        <p:spPr>
          <a:xfrm>
            <a:off x="786384" y="4389120"/>
            <a:ext cx="10424160" cy="685800"/>
          </a:xfrm>
          <a:prstGeom prst="rect">
            <a:avLst/>
          </a:prstGeom>
          <a:noFill/>
        </p:spPr>
        <p:txBody>
          <a:bodyPr wrap="square" lIns="0" rIns="0" tIns="0" bIns="0">
            <a:spAutoFit/>
          </a:bodyPr>
          <a:lstStyle/>
          <a:p>
            <a:pPr algn="l"/>
            <a:r>
              <a:rPr sz="1150" b="0">
                <a:solidFill>
                  <a:srgbClr val="6B6558"/>
                </a:solidFill>
                <a:latin typeface="Segoe UI"/>
              </a:rPr>
              <a:t>•  </a:t>
            </a:r>
            <a:r>
              <a:rPr sz="1150" b="0">
                <a:solidFill>
                  <a:srgbClr val="6B6558"/>
                </a:solidFill>
                <a:latin typeface="Segoe UI"/>
              </a:rPr>
              <a:t>Then treat content-first (Process B) as the real fix — caching only helps repeat searches; content-first is what actually helps a brand-new, never-searched itinerary, which is most real traffic.</a:t>
            </a:r>
          </a:p>
        </p:txBody>
      </p:sp>
      <p:sp>
        <p:nvSpPr>
          <p:cNvPr id="14" name="TextBox 13"/>
          <p:cNvSpPr txBox="1"/>
          <p:nvPr/>
        </p:nvSpPr>
        <p:spPr>
          <a:xfrm>
            <a:off x="786384" y="5074920"/>
            <a:ext cx="10424160" cy="685800"/>
          </a:xfrm>
          <a:prstGeom prst="rect">
            <a:avLst/>
          </a:prstGeom>
          <a:noFill/>
        </p:spPr>
        <p:txBody>
          <a:bodyPr wrap="square" lIns="0" rIns="0" tIns="0" bIns="0">
            <a:spAutoFit/>
          </a:bodyPr>
          <a:lstStyle/>
          <a:p>
            <a:pPr algn="l"/>
            <a:r>
              <a:rPr sz="1150" b="0">
                <a:solidFill>
                  <a:srgbClr val="6B6558"/>
                </a:solidFill>
                <a:latin typeface="Segoe UI"/>
              </a:rPr>
              <a:t>•  </a:t>
            </a:r>
            <a:r>
              <a:rPr sz="1150" b="0">
                <a:solidFill>
                  <a:srgbClr val="6B6558"/>
                </a:solidFill>
                <a:latin typeface="Segoe UI"/>
              </a:rPr>
              <a:t>Not pursuing: fast per-hotel pricing shortcuts — ruled out directly against your live API (slide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