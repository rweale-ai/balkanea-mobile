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Real production (MySQL)</c:v>
                </c:pt>
              </c:strCache>
            </c:strRef>
          </c:tx>
          <c:spPr>
            <a:solidFill>
              <a:srgbClr val="1F7A4D"/>
            </a:solidFill>
          </c:spPr>
          <c:cat>
            <c:strRef>
              <c:f>Sheet1!$A$2:$A$4</c:f>
              <c:strCache>
                <c:ptCount val="3"/>
                <c:pt idx="0">
                  <c:v>Run 1 (cold)</c:v>
                </c:pt>
                <c:pt idx="1">
                  <c:v>Run 2 (warm)</c:v>
                </c:pt>
                <c:pt idx="2">
                  <c:v>Run 3 (warm)</c:v>
                </c:pt>
              </c:strCache>
            </c:strRef>
          </c:cat>
          <c:val>
            <c:numRef>
              <c:f>Sheet1!$B$2:$B$4</c:f>
              <c:numCache>
                <c:formatCode>General</c:formatCode>
                <c:ptCount val="3"/>
                <c:pt idx="0">
                  <c:v>14.1</c:v>
                </c:pt>
                <c:pt idx="1">
                  <c:v>10.4</c:v>
                </c:pt>
                <c:pt idx="2">
                  <c:v>9.9</c:v>
                </c:pt>
              </c:numCache>
            </c:numRef>
          </c:val>
        </c:ser>
        <c:ser>
          <c:idx val="1"/>
          <c:order val="1"/>
          <c:tx>
            <c:strRef>
              <c:f>Sheet1!$C$1</c:f>
              <c:strCache>
                <c:ptCount val="1"/>
                <c:pt idx="0">
                  <c:v>Supabase (fork)</c:v>
                </c:pt>
              </c:strCache>
            </c:strRef>
          </c:tx>
          <c:spPr>
            <a:solidFill>
              <a:srgbClr val="E08E1D"/>
            </a:solidFill>
          </c:spPr>
          <c:cat>
            <c:strRef>
              <c:f>Sheet1!$A$2:$A$4</c:f>
              <c:strCache>
                <c:ptCount val="3"/>
                <c:pt idx="0">
                  <c:v>Run 1 (cold)</c:v>
                </c:pt>
                <c:pt idx="1">
                  <c:v>Run 2 (warm)</c:v>
                </c:pt>
                <c:pt idx="2">
                  <c:v>Run 3 (warm)</c:v>
                </c:pt>
              </c:strCache>
            </c:strRef>
          </c:cat>
          <c:val>
            <c:numRef>
              <c:f>Sheet1!$C$2:$C$4</c:f>
              <c:numCache>
                <c:formatCode>General</c:formatCode>
                <c:ptCount val="3"/>
                <c:pt idx="0">
                  <c:v>17.7</c:v>
                </c:pt>
                <c:pt idx="1">
                  <c:v>12.1</c:v>
                </c:pt>
                <c:pt idx="2">
                  <c:v>12.4</c:v>
                </c:pt>
              </c:numCache>
            </c:numRef>
          </c:val>
        </c:ser>
        <c:dLbls>
          <c:numFmt formatCode="0.0&quot;s&quot;" sourceLinked="0"/>
          <c:txPr>
            <a:bodyPr/>
            <a:lstStyle/>
            <a:p>
              <a:pPr>
                <a:defRPr sz="1000">
                  <a:latin typeface="Segoe UI"/>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000"/>
            </a:pPr>
          </a:p>
        </c:txPr>
        <c:crossAx val="-2113994440"/>
        <c:crosses val="autoZero"/>
        <c:auto val="1"/>
        <c:lblAlgn val="ctr"/>
        <c:lblOffset val="100"/>
        <c:noMultiLvlLbl val="0"/>
      </c:catAx>
      <c:valAx>
        <c:axId val="-2113994440"/>
        <c:scaling/>
        <c:delete val="0"/>
        <c:axPos val="l"/>
        <c:majorGridlines/>
        <c:title>
          <c:tx>
            <c:rich>
              <a:bodyPr/>
              <a:lstStyle/>
              <a:p>
                <a:r>
                  <a:rPr sz="900"/>
                  <a:t>Total seconds, full search → last chunk</a:t>
                </a:r>
              </a:p>
            </c:rich>
          </c:tx>
          <c:layout/>
          <c:overlay val="0"/>
        </c:title>
        <c:majorTickMark val="out"/>
        <c:minorTickMark val="none"/>
        <c:tickLblPos val="nextTo"/>
        <c:txPr>
          <a:bodyPr/>
          <a:lstStyle/>
          <a:p>
            <a:pPr>
              <a:defRPr sz="900"/>
            </a:pPr>
          </a:p>
        </c:txPr>
        <c:crossAx val="-2068027336"/>
        <c:crosses val="autoZero"/>
      </c:valAx>
    </c:plotArea>
    <c:legend>
      <c:legendPos val="b"/>
      <c:overlay val="0"/>
    </c:legend>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332A"/>
        </a:solidFill>
        <a:effectLst/>
      </p:bgPr>
    </p:bg>
    <p:spTree>
      <p:nvGrpSpPr>
        <p:cNvPr id="1" name=""/>
        <p:cNvGrpSpPr/>
        <p:nvPr/>
      </p:nvGrpSpPr>
      <p:grpSpPr/>
      <p:sp>
        <p:nvSpPr>
          <p:cNvPr id="2" name="TextBox 1"/>
          <p:cNvSpPr txBox="1"/>
          <p:nvPr/>
        </p:nvSpPr>
        <p:spPr>
          <a:xfrm>
            <a:off x="502920" y="1500000"/>
            <a:ext cx="11185855" cy="300000"/>
          </a:xfrm>
          <a:prstGeom prst="rect">
            <a:avLst/>
          </a:prstGeom>
          <a:noFill/>
        </p:spPr>
        <p:txBody>
          <a:bodyPr wrap="square" anchor="t" lIns="0" rIns="0" tIns="0" bIns="0">
            <a:spAutoFit/>
          </a:bodyPr>
          <a:lstStyle/>
          <a:p>
            <a:pPr algn="l"/>
            <a:r>
              <a:rPr sz="1400" b="1">
                <a:solidFill>
                  <a:srgbClr val="ED8323"/>
                </a:solidFill>
                <a:latin typeface="Segoe UI Semibold"/>
              </a:rPr>
              <a:t>BALKANEA WEB  •  HOTEL SEARCH DATA SOURCE</a:t>
            </a:r>
          </a:p>
        </p:txBody>
      </p:sp>
      <p:sp>
        <p:nvSpPr>
          <p:cNvPr id="3" name="TextBox 2"/>
          <p:cNvSpPr txBox="1"/>
          <p:nvPr/>
        </p:nvSpPr>
        <p:spPr>
          <a:xfrm>
            <a:off x="502920" y="1850000"/>
            <a:ext cx="11185855" cy="1400000"/>
          </a:xfrm>
          <a:prstGeom prst="rect">
            <a:avLst/>
          </a:prstGeom>
          <a:noFill/>
        </p:spPr>
        <p:txBody>
          <a:bodyPr wrap="square" anchor="t" lIns="0" rIns="0" tIns="0" bIns="0">
            <a:spAutoFit/>
          </a:bodyPr>
          <a:lstStyle/>
          <a:p>
            <a:pPr algn="l">
              <a:lnSpc>
                <a:spcPct val="105000"/>
              </a:lnSpc>
            </a:pPr>
            <a:r>
              <a:rPr sz="3800" b="1">
                <a:solidFill>
                  <a:srgbClr val="FBF6EE"/>
                </a:solidFill>
                <a:latin typeface="Segoe UI Semibold"/>
              </a:rPr>
              <a:t>Supabase vs MySQL</a:t>
            </a:r>
          </a:p>
          <a:p>
            <a:pPr algn="l">
              <a:lnSpc>
                <a:spcPct val="105000"/>
              </a:lnSpc>
            </a:pPr>
            <a:r>
              <a:rPr sz="3800" b="1">
                <a:solidFill>
                  <a:srgbClr val="FBF6EE"/>
                </a:solidFill>
                <a:latin typeface="Segoe UI Semibold"/>
              </a:rPr>
              <a:t>Apples-to-Apples Comparison</a:t>
            </a:r>
          </a:p>
        </p:txBody>
      </p:sp>
      <p:sp>
        <p:nvSpPr>
          <p:cNvPr id="4" name="TextBox 3"/>
          <p:cNvSpPr txBox="1"/>
          <p:nvPr/>
        </p:nvSpPr>
        <p:spPr>
          <a:xfrm>
            <a:off x="502920" y="3350000"/>
            <a:ext cx="9800000" cy="700000"/>
          </a:xfrm>
          <a:prstGeom prst="rect">
            <a:avLst/>
          </a:prstGeom>
          <a:noFill/>
        </p:spPr>
        <p:txBody>
          <a:bodyPr wrap="square" anchor="t" lIns="0" rIns="0" tIns="0" bIns="0">
            <a:spAutoFit/>
          </a:bodyPr>
          <a:lstStyle/>
          <a:p>
            <a:pPr algn="l">
              <a:lnSpc>
                <a:spcPct val="125000"/>
              </a:lnSpc>
            </a:pPr>
            <a:r>
              <a:rPr sz="1450" b="0">
                <a:solidFill>
                  <a:srgbClr val="C9D9D3"/>
                </a:solidFill>
                <a:latin typeface="Segoe UI"/>
              </a:rPr>
              <a:t>A byte-identical fork of the real search page, with the ONLY difference being where static hotel content (name, photos, address, stars) comes from. Live RateHawk pricing is untouched on both. This deck covers what was built, today's performance work, and the real measured results.</a:t>
            </a:r>
          </a:p>
        </p:txBody>
      </p:sp>
      <p:sp>
        <p:nvSpPr>
          <p:cNvPr id="5" name="TextBox 4"/>
          <p:cNvSpPr txBox="1"/>
          <p:nvPr/>
        </p:nvSpPr>
        <p:spPr>
          <a:xfrm>
            <a:off x="502920" y="4350000"/>
            <a:ext cx="9800000" cy="300000"/>
          </a:xfrm>
          <a:prstGeom prst="rect">
            <a:avLst/>
          </a:prstGeom>
          <a:noFill/>
        </p:spPr>
        <p:txBody>
          <a:bodyPr wrap="square" anchor="t" lIns="0" rIns="0" tIns="0" bIns="0">
            <a:spAutoFit/>
          </a:bodyPr>
          <a:lstStyle/>
          <a:p>
            <a:pPr algn="l"/>
            <a:r>
              <a:rPr sz="1200" b="0">
                <a:solidFill>
                  <a:srgbClr val="9FB8AE"/>
                </a:solidFill>
                <a:latin typeface="Segoe UI"/>
              </a:rPr>
              <a:t>No production files modified  •  Fully isolated fork plugin  •  Live RateHawk pricing on both sides</a:t>
            </a:r>
          </a:p>
        </p:txBody>
      </p:sp>
      <p:sp>
        <p:nvSpPr>
          <p:cNvPr id="6" name="TextBox 5"/>
          <p:cNvSpPr txBox="1"/>
          <p:nvPr/>
        </p:nvSpPr>
        <p:spPr>
          <a:xfrm>
            <a:off x="502920" y="6358000"/>
            <a:ext cx="6000000" cy="300000"/>
          </a:xfrm>
          <a:prstGeom prst="rect">
            <a:avLst/>
          </a:prstGeom>
          <a:noFill/>
        </p:spPr>
        <p:txBody>
          <a:bodyPr wrap="square" anchor="t" lIns="0" rIns="0" tIns="0" bIns="0">
            <a:spAutoFit/>
          </a:bodyPr>
          <a:lstStyle/>
          <a:p>
            <a:pPr algn="l"/>
            <a:r>
              <a:rPr sz="1100" b="0">
                <a:solidFill>
                  <a:srgbClr val="9FB8AE"/>
                </a:solidFill>
                <a:latin typeface="Segoe UI"/>
              </a:rPr>
              <a:t>2026-09-14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502920" y="560000"/>
            <a:ext cx="11185855" cy="300000"/>
          </a:xfrm>
          <a:prstGeom prst="rect">
            <a:avLst/>
          </a:prstGeom>
          <a:noFill/>
        </p:spPr>
        <p:txBody>
          <a:bodyPr wrap="square" anchor="t" lIns="0" rIns="0" tIns="0" bIns="0">
            <a:spAutoFit/>
          </a:bodyPr>
          <a:lstStyle/>
          <a:p>
            <a:pPr algn="l"/>
            <a:r>
              <a:rPr sz="1300" b="1">
                <a:solidFill>
                  <a:srgbClr val="7A3E0F"/>
                </a:solidFill>
                <a:latin typeface="Segoe UI Semibold"/>
              </a:rPr>
              <a:t>01  —  WHAT WAS BUILT</a:t>
            </a:r>
          </a:p>
        </p:txBody>
      </p:sp>
      <p:sp>
        <p:nvSpPr>
          <p:cNvPr id="3" name="TextBox 2"/>
          <p:cNvSpPr txBox="1"/>
          <p:nvPr/>
        </p:nvSpPr>
        <p:spPr>
          <a:xfrm>
            <a:off x="502920" y="880000"/>
            <a:ext cx="11185855" cy="500000"/>
          </a:xfrm>
          <a:prstGeom prst="rect">
            <a:avLst/>
          </a:prstGeom>
          <a:noFill/>
        </p:spPr>
        <p:txBody>
          <a:bodyPr wrap="square" anchor="t" lIns="0" rIns="0" tIns="0" bIns="0">
            <a:spAutoFit/>
          </a:bodyPr>
          <a:lstStyle/>
          <a:p>
            <a:pPr algn="l"/>
            <a:r>
              <a:rPr sz="2400" b="1">
                <a:solidFill>
                  <a:srgbClr val="1A1A2E"/>
                </a:solidFill>
                <a:latin typeface="Segoe UI Semibold"/>
              </a:rPr>
              <a:t>A fully isolated fork, not a code change</a:t>
            </a:r>
          </a:p>
        </p:txBody>
      </p:sp>
      <p:sp>
        <p:nvSpPr>
          <p:cNvPr id="4" name="Rounded Rectangle 3"/>
          <p:cNvSpPr/>
          <p:nvPr/>
        </p:nvSpPr>
        <p:spPr>
          <a:xfrm>
            <a:off x="502920" y="1560000"/>
            <a:ext cx="11185855" cy="1150000"/>
          </a:xfrm>
          <a:prstGeom prst="roundRect">
            <a:avLst>
              <a:gd name="adj" fmla="val 3500"/>
            </a:avLst>
          </a:prstGeom>
          <a:solidFill>
            <a:srgbClr val="FFFFFF"/>
          </a:solidFill>
          <a:ln w="9525">
            <a:solidFill>
              <a:srgbClr val="ECE6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2920" y="1720000"/>
            <a:ext cx="9625855" cy="360000"/>
          </a:xfrm>
          <a:prstGeom prst="rect">
            <a:avLst/>
          </a:prstGeom>
          <a:noFill/>
        </p:spPr>
        <p:txBody>
          <a:bodyPr wrap="square" anchor="t" lIns="0" rIns="0" tIns="0" bIns="0">
            <a:spAutoFit/>
          </a:bodyPr>
          <a:lstStyle/>
          <a:p>
            <a:pPr algn="l"/>
            <a:r>
              <a:rPr sz="1500" b="1">
                <a:solidFill>
                  <a:srgbClr val="1A1A2E"/>
                </a:solidFill>
                <a:latin typeface="Segoe UI Semibold"/>
              </a:rPr>
              <a:t>The constraint: zero production code changes</a:t>
            </a:r>
          </a:p>
        </p:txBody>
      </p:sp>
      <p:sp>
        <p:nvSpPr>
          <p:cNvPr id="6" name="TextBox 5"/>
          <p:cNvSpPr txBox="1"/>
          <p:nvPr/>
        </p:nvSpPr>
        <p:spPr>
          <a:xfrm>
            <a:off x="782920" y="2120000"/>
            <a:ext cx="9625855" cy="450000"/>
          </a:xfrm>
          <a:prstGeom prst="rect">
            <a:avLst/>
          </a:prstGeom>
          <a:noFill/>
        </p:spPr>
        <p:txBody>
          <a:bodyPr wrap="square" anchor="t" lIns="0" rIns="0" tIns="0" bIns="0">
            <a:spAutoFit/>
          </a:bodyPr>
          <a:lstStyle/>
          <a:p>
            <a:pPr algn="l">
              <a:lnSpc>
                <a:spcPct val="115000"/>
              </a:lnSpc>
            </a:pPr>
            <a:r>
              <a:rPr sz="1100" b="0">
                <a:solidFill>
                  <a:srgbClr val="6B6558"/>
                </a:solidFill>
                <a:latin typeface="Segoe UI"/>
              </a:rPr>
              <a:t>Hristijan required no edits to real files (Hotel.php, HotelBatchRenderer.php, HotelSearch.batch.js, Frontend.php). Since HotelBatchRenderer hardcodes “new Hotel()” internally with no injection point, subclassing wasn't viable — the only option that satisfies the constraint is a full fork.</a:t>
            </a:r>
          </a:p>
        </p:txBody>
      </p:sp>
      <p:sp>
        <p:nvSpPr>
          <p:cNvPr id="7" name="Rounded Rectangle 6"/>
          <p:cNvSpPr/>
          <p:nvPr/>
        </p:nvSpPr>
        <p:spPr>
          <a:xfrm>
            <a:off x="10408775" y="1760000"/>
            <a:ext cx="1000000" cy="280000"/>
          </a:xfrm>
          <a:prstGeom prst="roundRect">
            <a:avLst>
              <a:gd name="adj" fmla="val 50000"/>
            </a:avLst>
          </a:prstGeom>
          <a:solidFill>
            <a:srgbClr val="E1EFE6"/>
          </a:solidFill>
          <a:ln>
            <a:noFill/>
          </a:ln>
          <a:effectLst/>
        </p:spPr>
        <p:style>
          <a:lnRef idx="1">
            <a:schemeClr val="accent1"/>
          </a:lnRef>
          <a:fillRef idx="3">
            <a:schemeClr val="accent1"/>
          </a:fillRef>
          <a:effectRef idx="2">
            <a:schemeClr val="accent1"/>
          </a:effectRef>
          <a:fontRef idx="minor">
            <a:schemeClr val="lt1"/>
          </a:fontRef>
        </p:style>
        <p:txBody>
          <a:bodyPr rtlCol="0" anchor="ctr" lIns="60000" rIns="60000" tIns="0" bIns="0"/>
          <a:lstStyle/>
          <a:p>
            <a:pPr algn="ctr"/>
            <a:r>
              <a:rPr sz="1000" b="1">
                <a:solidFill>
                  <a:srgbClr val="1F7A4D"/>
                </a:solidFill>
                <a:latin typeface="Segoe UI Semibold"/>
              </a:rPr>
              <a:t>Live</a:t>
            </a:r>
          </a:p>
        </p:txBody>
      </p:sp>
      <p:sp>
        <p:nvSpPr>
          <p:cNvPr id="8" name="Rounded Rectangle 7"/>
          <p:cNvSpPr/>
          <p:nvPr/>
        </p:nvSpPr>
        <p:spPr>
          <a:xfrm>
            <a:off x="502920" y="2810000"/>
            <a:ext cx="11185855" cy="1150000"/>
          </a:xfrm>
          <a:prstGeom prst="roundRect">
            <a:avLst>
              <a:gd name="adj" fmla="val 3500"/>
            </a:avLst>
          </a:prstGeom>
          <a:solidFill>
            <a:srgbClr val="FFFFFF"/>
          </a:solidFill>
          <a:ln w="9525">
            <a:solidFill>
              <a:srgbClr val="ECE6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2920" y="2970000"/>
            <a:ext cx="9625855" cy="360000"/>
          </a:xfrm>
          <a:prstGeom prst="rect">
            <a:avLst/>
          </a:prstGeom>
          <a:noFill/>
        </p:spPr>
        <p:txBody>
          <a:bodyPr wrap="square" anchor="t" lIns="0" rIns="0" tIns="0" bIns="0">
            <a:spAutoFit/>
          </a:bodyPr>
          <a:lstStyle/>
          <a:p>
            <a:pPr algn="l"/>
            <a:r>
              <a:rPr sz="1500" b="1">
                <a:solidFill>
                  <a:srgbClr val="1A1A2E"/>
                </a:solidFill>
                <a:latin typeface="Segoe UI Semibold"/>
              </a:rPr>
              <a:t>One separate plugin, own AJAX actions, own cache</a:t>
            </a:r>
          </a:p>
        </p:txBody>
      </p:sp>
      <p:sp>
        <p:nvSpPr>
          <p:cNvPr id="10" name="TextBox 9"/>
          <p:cNvSpPr txBox="1"/>
          <p:nvPr/>
        </p:nvSpPr>
        <p:spPr>
          <a:xfrm>
            <a:off x="782920" y="3370000"/>
            <a:ext cx="9625855" cy="450000"/>
          </a:xfrm>
          <a:prstGeom prst="rect">
            <a:avLst/>
          </a:prstGeom>
          <a:noFill/>
        </p:spPr>
        <p:txBody>
          <a:bodyPr wrap="square" anchor="t" lIns="0" rIns="0" tIns="0" bIns="0">
            <a:spAutoFit/>
          </a:bodyPr>
          <a:lstStyle/>
          <a:p>
            <a:pPr algn="l">
              <a:lnSpc>
                <a:spcPct val="115000"/>
              </a:lnSpc>
            </a:pPr>
            <a:r>
              <a:rPr sz="1100" b="0">
                <a:solidFill>
                  <a:srgbClr val="6B6558"/>
                </a:solidFill>
                <a:latin typeface="Segoe UI"/>
              </a:rPr>
              <a:t>balkanea-supabase-search-compare/ — its own PHP classes (SupabaseHotel, SupabaseHotelBatchRenderer), its own JS fork, and its own transient cache prefix (bkea_cmp_*) so a warm real-page cache can never give the comparison page a free hit. Active only on one comparison page URL.</a:t>
            </a:r>
          </a:p>
        </p:txBody>
      </p:sp>
      <p:sp>
        <p:nvSpPr>
          <p:cNvPr id="11" name="Rounded Rectangle 10"/>
          <p:cNvSpPr/>
          <p:nvPr/>
        </p:nvSpPr>
        <p:spPr>
          <a:xfrm>
            <a:off x="10408775" y="3010000"/>
            <a:ext cx="1000000" cy="280000"/>
          </a:xfrm>
          <a:prstGeom prst="roundRect">
            <a:avLst>
              <a:gd name="adj" fmla="val 50000"/>
            </a:avLst>
          </a:prstGeom>
          <a:solidFill>
            <a:srgbClr val="E1EFE6"/>
          </a:solidFill>
          <a:ln>
            <a:noFill/>
          </a:ln>
          <a:effectLst/>
        </p:spPr>
        <p:style>
          <a:lnRef idx="1">
            <a:schemeClr val="accent1"/>
          </a:lnRef>
          <a:fillRef idx="3">
            <a:schemeClr val="accent1"/>
          </a:fillRef>
          <a:effectRef idx="2">
            <a:schemeClr val="accent1"/>
          </a:effectRef>
          <a:fontRef idx="minor">
            <a:schemeClr val="lt1"/>
          </a:fontRef>
        </p:style>
        <p:txBody>
          <a:bodyPr rtlCol="0" anchor="ctr" lIns="60000" rIns="60000" tIns="0" bIns="0"/>
          <a:lstStyle/>
          <a:p>
            <a:pPr algn="ctr"/>
            <a:r>
              <a:rPr sz="1000" b="1">
                <a:solidFill>
                  <a:srgbClr val="1F7A4D"/>
                </a:solidFill>
                <a:latin typeface="Segoe UI Semibold"/>
              </a:rPr>
              <a:t>Live</a:t>
            </a:r>
          </a:p>
        </p:txBody>
      </p:sp>
      <p:sp>
        <p:nvSpPr>
          <p:cNvPr id="12" name="Rounded Rectangle 11"/>
          <p:cNvSpPr/>
          <p:nvPr/>
        </p:nvSpPr>
        <p:spPr>
          <a:xfrm>
            <a:off x="502920" y="4060000"/>
            <a:ext cx="11185855" cy="1150000"/>
          </a:xfrm>
          <a:prstGeom prst="roundRect">
            <a:avLst>
              <a:gd name="adj" fmla="val 3500"/>
            </a:avLst>
          </a:prstGeom>
          <a:solidFill>
            <a:srgbClr val="FFFFFF"/>
          </a:solidFill>
          <a:ln w="9525">
            <a:solidFill>
              <a:srgbClr val="ECE6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2920" y="4220000"/>
            <a:ext cx="9625855" cy="360000"/>
          </a:xfrm>
          <a:prstGeom prst="rect">
            <a:avLst/>
          </a:prstGeom>
          <a:noFill/>
        </p:spPr>
        <p:txBody>
          <a:bodyPr wrap="square" anchor="t" lIns="0" rIns="0" tIns="0" bIns="0">
            <a:spAutoFit/>
          </a:bodyPr>
          <a:lstStyle/>
          <a:p>
            <a:pPr algn="l"/>
            <a:r>
              <a:rPr sz="1500" b="1">
                <a:solidFill>
                  <a:srgbClr val="1A1A2E"/>
                </a:solidFill>
                <a:latin typeface="Segoe UI Semibold"/>
              </a:rPr>
              <a:t>Same live pricing, same template, same UI — different content source only</a:t>
            </a:r>
          </a:p>
        </p:txBody>
      </p:sp>
      <p:sp>
        <p:nvSpPr>
          <p:cNvPr id="14" name="TextBox 13"/>
          <p:cNvSpPr txBox="1"/>
          <p:nvPr/>
        </p:nvSpPr>
        <p:spPr>
          <a:xfrm>
            <a:off x="782920" y="4620000"/>
            <a:ext cx="9625855" cy="450000"/>
          </a:xfrm>
          <a:prstGeom prst="rect">
            <a:avLst/>
          </a:prstGeom>
          <a:noFill/>
        </p:spPr>
        <p:txBody>
          <a:bodyPr wrap="square" anchor="t" lIns="0" rIns="0" tIns="0" bIns="0">
            <a:spAutoFit/>
          </a:bodyPr>
          <a:lstStyle/>
          <a:p>
            <a:pPr algn="l">
              <a:lnSpc>
                <a:spcPct val="115000"/>
              </a:lnSpc>
            </a:pPr>
            <a:r>
              <a:rPr sz="1100" b="0">
                <a:solidFill>
                  <a:srgbClr val="6B6558"/>
                </a:solidFill>
                <a:latin typeface="Segoe UI"/>
              </a:rPr>
              <a:t>hotels-list-v2.php template, filters, sort, map, and the live RateHawk pricing call (HotelProvideFactory) are all inherited unchanged. Only the static hotel content lookup swaps MySQL (st_hotel) for Supabase (hotels table, partitioned by country_code).</a:t>
            </a:r>
          </a:p>
        </p:txBody>
      </p:sp>
      <p:sp>
        <p:nvSpPr>
          <p:cNvPr id="15" name="Rounded Rectangle 14"/>
          <p:cNvSpPr/>
          <p:nvPr/>
        </p:nvSpPr>
        <p:spPr>
          <a:xfrm>
            <a:off x="10408775" y="4260000"/>
            <a:ext cx="1000000" cy="280000"/>
          </a:xfrm>
          <a:prstGeom prst="roundRect">
            <a:avLst>
              <a:gd name="adj" fmla="val 50000"/>
            </a:avLst>
          </a:prstGeom>
          <a:solidFill>
            <a:srgbClr val="E1EFE6"/>
          </a:solidFill>
          <a:ln>
            <a:noFill/>
          </a:ln>
          <a:effectLst/>
        </p:spPr>
        <p:style>
          <a:lnRef idx="1">
            <a:schemeClr val="accent1"/>
          </a:lnRef>
          <a:fillRef idx="3">
            <a:schemeClr val="accent1"/>
          </a:fillRef>
          <a:effectRef idx="2">
            <a:schemeClr val="accent1"/>
          </a:effectRef>
          <a:fontRef idx="minor">
            <a:schemeClr val="lt1"/>
          </a:fontRef>
        </p:style>
        <p:txBody>
          <a:bodyPr rtlCol="0" anchor="ctr" lIns="60000" rIns="60000" tIns="0" bIns="0"/>
          <a:lstStyle/>
          <a:p>
            <a:pPr algn="ctr"/>
            <a:r>
              <a:rPr sz="1000" b="1">
                <a:solidFill>
                  <a:srgbClr val="1F7A4D"/>
                </a:solidFill>
                <a:latin typeface="Segoe UI Semibold"/>
              </a:rPr>
              <a:t>Live</a:t>
            </a:r>
          </a:p>
        </p:txBody>
      </p:sp>
      <p:sp>
        <p:nvSpPr>
          <p:cNvPr id="16" name="TextBox 15"/>
          <p:cNvSpPr txBox="1"/>
          <p:nvPr/>
        </p:nvSpPr>
        <p:spPr>
          <a:xfrm>
            <a:off x="502920" y="6518000"/>
            <a:ext cx="9000000" cy="240000"/>
          </a:xfrm>
          <a:prstGeom prst="rect">
            <a:avLst/>
          </a:prstGeom>
          <a:noFill/>
        </p:spPr>
        <p:txBody>
          <a:bodyPr wrap="square" anchor="t" lIns="0" rIns="0" tIns="0" bIns="0">
            <a:spAutoFit/>
          </a:bodyPr>
          <a:lstStyle/>
          <a:p>
            <a:pPr algn="l"/>
            <a:r>
              <a:rPr sz="900" b="0">
                <a:solidFill>
                  <a:srgbClr val="9B9384"/>
                </a:solidFill>
                <a:latin typeface="Segoe UI"/>
              </a:rPr>
              <a:t>BALKANEA WEB  •  SUPABASE VS MYSQL COMPARISON</a:t>
            </a:r>
          </a:p>
        </p:txBody>
      </p:sp>
      <p:sp>
        <p:nvSpPr>
          <p:cNvPr id="17" name="TextBox 16"/>
          <p:cNvSpPr txBox="1"/>
          <p:nvPr/>
        </p:nvSpPr>
        <p:spPr>
          <a:xfrm>
            <a:off x="11492000" y="6518000"/>
            <a:ext cx="400000" cy="240000"/>
          </a:xfrm>
          <a:prstGeom prst="rect">
            <a:avLst/>
          </a:prstGeom>
          <a:noFill/>
        </p:spPr>
        <p:txBody>
          <a:bodyPr wrap="square" anchor="t" lIns="0" rIns="0" tIns="0" bIns="0">
            <a:spAutoFit/>
          </a:bodyPr>
          <a:lstStyle/>
          <a:p>
            <a:pPr algn="r"/>
            <a:r>
              <a:rPr sz="900" b="0">
                <a:solidFill>
                  <a:srgbClr val="9B9384"/>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502920" y="560000"/>
            <a:ext cx="11185855" cy="300000"/>
          </a:xfrm>
          <a:prstGeom prst="rect">
            <a:avLst/>
          </a:prstGeom>
          <a:noFill/>
        </p:spPr>
        <p:txBody>
          <a:bodyPr wrap="square" anchor="t" lIns="0" rIns="0" tIns="0" bIns="0">
            <a:spAutoFit/>
          </a:bodyPr>
          <a:lstStyle/>
          <a:p>
            <a:pPr algn="l"/>
            <a:r>
              <a:rPr sz="1300" b="1">
                <a:solidFill>
                  <a:srgbClr val="7A3E0F"/>
                </a:solidFill>
                <a:latin typeface="Segoe UI Semibold"/>
              </a:rPr>
              <a:t>02  —  METHODOLOGY</a:t>
            </a:r>
          </a:p>
        </p:txBody>
      </p:sp>
      <p:sp>
        <p:nvSpPr>
          <p:cNvPr id="3" name="TextBox 2"/>
          <p:cNvSpPr txBox="1"/>
          <p:nvPr/>
        </p:nvSpPr>
        <p:spPr>
          <a:xfrm>
            <a:off x="502920" y="880000"/>
            <a:ext cx="11185855" cy="500000"/>
          </a:xfrm>
          <a:prstGeom prst="rect">
            <a:avLst/>
          </a:prstGeom>
          <a:noFill/>
        </p:spPr>
        <p:txBody>
          <a:bodyPr wrap="square" anchor="t" lIns="0" rIns="0" tIns="0" bIns="0">
            <a:spAutoFit/>
          </a:bodyPr>
          <a:lstStyle/>
          <a:p>
            <a:pPr algn="l"/>
            <a:r>
              <a:rPr sz="2400" b="1">
                <a:solidFill>
                  <a:srgbClr val="1A1A2E"/>
                </a:solidFill>
                <a:latin typeface="Segoe UI Semibold"/>
              </a:rPr>
              <a:t>What's identical vs. what's deliberately different</a:t>
            </a:r>
          </a:p>
        </p:txBody>
      </p:sp>
      <p:sp>
        <p:nvSpPr>
          <p:cNvPr id="4" name="Rounded Rectangle 3"/>
          <p:cNvSpPr/>
          <p:nvPr/>
        </p:nvSpPr>
        <p:spPr>
          <a:xfrm>
            <a:off x="502920" y="1560000"/>
            <a:ext cx="11185855" cy="2140000"/>
          </a:xfrm>
          <a:prstGeom prst="roundRect">
            <a:avLst>
              <a:gd name="adj" fmla="val 3500"/>
            </a:avLst>
          </a:prstGeom>
          <a:solidFill>
            <a:srgbClr val="FFFFFF"/>
          </a:solidFill>
          <a:ln w="9525">
            <a:solidFill>
              <a:srgbClr val="ECE6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2920" y="1720000"/>
            <a:ext cx="9625855" cy="360000"/>
          </a:xfrm>
          <a:prstGeom prst="rect">
            <a:avLst/>
          </a:prstGeom>
          <a:noFill/>
        </p:spPr>
        <p:txBody>
          <a:bodyPr wrap="square" anchor="t" lIns="0" rIns="0" tIns="0" bIns="0">
            <a:spAutoFit/>
          </a:bodyPr>
          <a:lstStyle/>
          <a:p>
            <a:pPr algn="l"/>
            <a:r>
              <a:rPr sz="1500" b="1">
                <a:solidFill>
                  <a:srgbClr val="1A1A2E"/>
                </a:solidFill>
                <a:latin typeface="Segoe UI Semibold"/>
              </a:rPr>
              <a:t>Held constant on both sides</a:t>
            </a:r>
          </a:p>
        </p:txBody>
      </p:sp>
      <p:sp>
        <p:nvSpPr>
          <p:cNvPr id="6" name="TextBox 5"/>
          <p:cNvSpPr txBox="1"/>
          <p:nvPr/>
        </p:nvSpPr>
        <p:spPr>
          <a:xfrm>
            <a:off x="782920" y="2120000"/>
            <a:ext cx="9625855" cy="1440000"/>
          </a:xfrm>
          <a:prstGeom prst="rect">
            <a:avLst/>
          </a:prstGeom>
          <a:noFill/>
        </p:spPr>
        <p:txBody>
          <a:bodyPr wrap="square" anchor="t" lIns="0" rIns="0" tIns="0" bIns="0">
            <a:spAutoFit/>
          </a:bodyPr>
          <a:lstStyle/>
          <a:p>
            <a:pPr algn="l">
              <a:lnSpc>
                <a:spcPct val="115000"/>
              </a:lnSpc>
            </a:pPr>
            <a:r>
              <a:rPr sz="1100" b="0">
                <a:solidFill>
                  <a:srgbClr val="6B6558"/>
                </a:solidFill>
                <a:latin typeface="Segoe UI"/>
              </a:rPr>
              <a:t/>
            </a:r>
          </a:p>
        </p:txBody>
      </p:sp>
      <p:sp>
        <p:nvSpPr>
          <p:cNvPr id="7" name="Rounded Rectangle 6"/>
          <p:cNvSpPr/>
          <p:nvPr/>
        </p:nvSpPr>
        <p:spPr>
          <a:xfrm>
            <a:off x="10408775" y="1760000"/>
            <a:ext cx="1000000" cy="280000"/>
          </a:xfrm>
          <a:prstGeom prst="roundRect">
            <a:avLst>
              <a:gd name="adj" fmla="val 50000"/>
            </a:avLst>
          </a:prstGeom>
          <a:solidFill>
            <a:srgbClr val="E1EFE6"/>
          </a:solidFill>
          <a:ln>
            <a:noFill/>
          </a:ln>
          <a:effectLst/>
        </p:spPr>
        <p:style>
          <a:lnRef idx="1">
            <a:schemeClr val="accent1"/>
          </a:lnRef>
          <a:fillRef idx="3">
            <a:schemeClr val="accent1"/>
          </a:fillRef>
          <a:effectRef idx="2">
            <a:schemeClr val="accent1"/>
          </a:effectRef>
          <a:fontRef idx="minor">
            <a:schemeClr val="lt1"/>
          </a:fontRef>
        </p:style>
        <p:txBody>
          <a:bodyPr rtlCol="0" anchor="ctr" lIns="60000" rIns="60000" tIns="0" bIns="0"/>
          <a:lstStyle/>
          <a:p>
            <a:pPr algn="ctr"/>
            <a:r>
              <a:rPr sz="1000" b="1">
                <a:solidFill>
                  <a:srgbClr val="1F7A4D"/>
                </a:solidFill>
                <a:latin typeface="Segoe UI Semibold"/>
              </a:rPr>
              <a:t>Controlled</a:t>
            </a:r>
          </a:p>
        </p:txBody>
      </p:sp>
      <p:sp>
        <p:nvSpPr>
          <p:cNvPr id="8" name="TextBox 7"/>
          <p:cNvSpPr txBox="1"/>
          <p:nvPr/>
        </p:nvSpPr>
        <p:spPr>
          <a:xfrm>
            <a:off x="782920" y="2160000"/>
            <a:ext cx="4200000" cy="340000"/>
          </a:xfrm>
          <a:prstGeom prst="rect">
            <a:avLst/>
          </a:prstGeom>
          <a:noFill/>
        </p:spPr>
        <p:txBody>
          <a:bodyPr wrap="square" anchor="t" lIns="0" rIns="0" tIns="0" bIns="0">
            <a:spAutoFit/>
          </a:bodyPr>
          <a:lstStyle/>
          <a:p>
            <a:pPr algn="l">
              <a:lnSpc>
                <a:spcPct val="110000"/>
              </a:lnSpc>
            </a:pPr>
            <a:r>
              <a:rPr sz="1100" b="0">
                <a:solidFill>
                  <a:srgbClr val="6B6558"/>
                </a:solidFill>
                <a:latin typeface="Segoe UI"/>
              </a:rPr>
              <a:t>Live RateHawk pricing call</a:t>
            </a:r>
          </a:p>
        </p:txBody>
      </p:sp>
      <p:sp>
        <p:nvSpPr>
          <p:cNvPr id="9" name="TextBox 8"/>
          <p:cNvSpPr txBox="1"/>
          <p:nvPr/>
        </p:nvSpPr>
        <p:spPr>
          <a:xfrm>
            <a:off x="5102920" y="2160000"/>
            <a:ext cx="6100000" cy="340000"/>
          </a:xfrm>
          <a:prstGeom prst="rect">
            <a:avLst/>
          </a:prstGeom>
          <a:noFill/>
        </p:spPr>
        <p:txBody>
          <a:bodyPr wrap="square" anchor="t" lIns="0" rIns="0" tIns="0" bIns="0">
            <a:spAutoFit/>
          </a:bodyPr>
          <a:lstStyle/>
          <a:p>
            <a:pPr algn="l">
              <a:lnSpc>
                <a:spcPct val="110000"/>
              </a:lnSpc>
            </a:pPr>
            <a:r>
              <a:rPr sz="1100" b="1">
                <a:solidFill>
                  <a:srgbClr val="1A1A2E"/>
                </a:solidFill>
                <a:latin typeface="Segoe UI Semibold"/>
              </a:rPr>
              <a:t>Identical — same HotelProvideFactory, same production API key</a:t>
            </a:r>
          </a:p>
        </p:txBody>
      </p:sp>
      <p:sp>
        <p:nvSpPr>
          <p:cNvPr id="10" name="TextBox 9"/>
          <p:cNvSpPr txBox="1"/>
          <p:nvPr/>
        </p:nvSpPr>
        <p:spPr>
          <a:xfrm>
            <a:off x="782920" y="2500000"/>
            <a:ext cx="4200000" cy="340000"/>
          </a:xfrm>
          <a:prstGeom prst="rect">
            <a:avLst/>
          </a:prstGeom>
          <a:noFill/>
        </p:spPr>
        <p:txBody>
          <a:bodyPr wrap="square" anchor="t" lIns="0" rIns="0" tIns="0" bIns="0">
            <a:spAutoFit/>
          </a:bodyPr>
          <a:lstStyle/>
          <a:p>
            <a:pPr algn="l">
              <a:lnSpc>
                <a:spcPct val="110000"/>
              </a:lnSpc>
            </a:pPr>
            <a:r>
              <a:rPr sz="1100" b="0">
                <a:solidFill>
                  <a:srgbClr val="6B6558"/>
                </a:solidFill>
                <a:latin typeface="Segoe UI"/>
              </a:rPr>
              <a:t>Search template &amp; UI</a:t>
            </a:r>
          </a:p>
        </p:txBody>
      </p:sp>
      <p:sp>
        <p:nvSpPr>
          <p:cNvPr id="11" name="TextBox 10"/>
          <p:cNvSpPr txBox="1"/>
          <p:nvPr/>
        </p:nvSpPr>
        <p:spPr>
          <a:xfrm>
            <a:off x="5102920" y="2500000"/>
            <a:ext cx="6100000" cy="340000"/>
          </a:xfrm>
          <a:prstGeom prst="rect">
            <a:avLst/>
          </a:prstGeom>
          <a:noFill/>
        </p:spPr>
        <p:txBody>
          <a:bodyPr wrap="square" anchor="t" lIns="0" rIns="0" tIns="0" bIns="0">
            <a:spAutoFit/>
          </a:bodyPr>
          <a:lstStyle/>
          <a:p>
            <a:pPr algn="l">
              <a:lnSpc>
                <a:spcPct val="110000"/>
              </a:lnSpc>
            </a:pPr>
            <a:r>
              <a:rPr sz="1100" b="1">
                <a:solidFill>
                  <a:srgbClr val="1A1A2E"/>
                </a:solidFill>
                <a:latin typeface="Segoe UI Semibold"/>
              </a:rPr>
              <a:t>Identical — hotels-list-v2.php, filters, sort, pagination</a:t>
            </a:r>
          </a:p>
        </p:txBody>
      </p:sp>
      <p:sp>
        <p:nvSpPr>
          <p:cNvPr id="12" name="TextBox 11"/>
          <p:cNvSpPr txBox="1"/>
          <p:nvPr/>
        </p:nvSpPr>
        <p:spPr>
          <a:xfrm>
            <a:off x="782920" y="2840000"/>
            <a:ext cx="4200000" cy="340000"/>
          </a:xfrm>
          <a:prstGeom prst="rect">
            <a:avLst/>
          </a:prstGeom>
          <a:noFill/>
        </p:spPr>
        <p:txBody>
          <a:bodyPr wrap="square" anchor="t" lIns="0" rIns="0" tIns="0" bIns="0">
            <a:spAutoFit/>
          </a:bodyPr>
          <a:lstStyle/>
          <a:p>
            <a:pPr algn="l">
              <a:lnSpc>
                <a:spcPct val="110000"/>
              </a:lnSpc>
            </a:pPr>
            <a:r>
              <a:rPr sz="1100" b="0">
                <a:solidFill>
                  <a:srgbClr val="6B6558"/>
                </a:solidFill>
                <a:latin typeface="Segoe UI"/>
              </a:rPr>
              <a:t>Chunked loading architecture</a:t>
            </a:r>
          </a:p>
        </p:txBody>
      </p:sp>
      <p:sp>
        <p:nvSpPr>
          <p:cNvPr id="13" name="TextBox 12"/>
          <p:cNvSpPr txBox="1"/>
          <p:nvPr/>
        </p:nvSpPr>
        <p:spPr>
          <a:xfrm>
            <a:off x="5102920" y="2840000"/>
            <a:ext cx="6100000" cy="340000"/>
          </a:xfrm>
          <a:prstGeom prst="rect">
            <a:avLst/>
          </a:prstGeom>
          <a:noFill/>
        </p:spPr>
        <p:txBody>
          <a:bodyPr wrap="square" anchor="t" lIns="0" rIns="0" tIns="0" bIns="0">
            <a:spAutoFit/>
          </a:bodyPr>
          <a:lstStyle/>
          <a:p>
            <a:pPr algn="l">
              <a:lnSpc>
                <a:spcPct val="110000"/>
              </a:lnSpc>
            </a:pPr>
            <a:r>
              <a:rPr sz="1100" b="1">
                <a:solidFill>
                  <a:srgbClr val="1A1A2E"/>
                </a:solidFill>
                <a:latin typeface="Segoe UI Semibold"/>
              </a:rPr>
              <a:t>Identical — 14 → 100 → 250 hotel chunk sizing, same 3-layer cache design</a:t>
            </a:r>
          </a:p>
        </p:txBody>
      </p:sp>
      <p:sp>
        <p:nvSpPr>
          <p:cNvPr id="14" name="TextBox 13"/>
          <p:cNvSpPr txBox="1"/>
          <p:nvPr/>
        </p:nvSpPr>
        <p:spPr>
          <a:xfrm>
            <a:off x="782920" y="3180000"/>
            <a:ext cx="4200000" cy="340000"/>
          </a:xfrm>
          <a:prstGeom prst="rect">
            <a:avLst/>
          </a:prstGeom>
          <a:noFill/>
        </p:spPr>
        <p:txBody>
          <a:bodyPr wrap="square" anchor="t" lIns="0" rIns="0" tIns="0" bIns="0">
            <a:spAutoFit/>
          </a:bodyPr>
          <a:lstStyle/>
          <a:p>
            <a:pPr algn="l">
              <a:lnSpc>
                <a:spcPct val="110000"/>
              </a:lnSpc>
            </a:pPr>
            <a:r>
              <a:rPr sz="1100" b="0">
                <a:solidFill>
                  <a:srgbClr val="6B6558"/>
                </a:solidFill>
                <a:latin typeface="Segoe UI"/>
              </a:rPr>
              <a:t>Map (Mapbox GL)</a:t>
            </a:r>
          </a:p>
        </p:txBody>
      </p:sp>
      <p:sp>
        <p:nvSpPr>
          <p:cNvPr id="15" name="TextBox 14"/>
          <p:cNvSpPr txBox="1"/>
          <p:nvPr/>
        </p:nvSpPr>
        <p:spPr>
          <a:xfrm>
            <a:off x="5102920" y="3180000"/>
            <a:ext cx="6100000" cy="340000"/>
          </a:xfrm>
          <a:prstGeom prst="rect">
            <a:avLst/>
          </a:prstGeom>
          <a:noFill/>
        </p:spPr>
        <p:txBody>
          <a:bodyPr wrap="square" anchor="t" lIns="0" rIns="0" tIns="0" bIns="0">
            <a:spAutoFit/>
          </a:bodyPr>
          <a:lstStyle/>
          <a:p>
            <a:pPr algn="l">
              <a:lnSpc>
                <a:spcPct val="110000"/>
              </a:lnSpc>
            </a:pPr>
            <a:r>
              <a:rPr sz="1100" b="1">
                <a:solidFill>
                  <a:srgbClr val="1A1A2E"/>
                </a:solidFill>
                <a:latin typeface="Segoe UI Semibold"/>
              </a:rPr>
              <a:t>Identical once fixed today — same map-search.js, same styling</a:t>
            </a:r>
          </a:p>
        </p:txBody>
      </p:sp>
      <p:sp>
        <p:nvSpPr>
          <p:cNvPr id="16" name="Rounded Rectangle 15"/>
          <p:cNvSpPr/>
          <p:nvPr/>
        </p:nvSpPr>
        <p:spPr>
          <a:xfrm>
            <a:off x="502920" y="3850000"/>
            <a:ext cx="11185855" cy="2040000"/>
          </a:xfrm>
          <a:prstGeom prst="roundRect">
            <a:avLst>
              <a:gd name="adj" fmla="val 3500"/>
            </a:avLst>
          </a:prstGeom>
          <a:solidFill>
            <a:srgbClr val="FFFFFF"/>
          </a:solidFill>
          <a:ln w="9525">
            <a:solidFill>
              <a:srgbClr val="ECE6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2920" y="4010000"/>
            <a:ext cx="9625855" cy="360000"/>
          </a:xfrm>
          <a:prstGeom prst="rect">
            <a:avLst/>
          </a:prstGeom>
          <a:noFill/>
        </p:spPr>
        <p:txBody>
          <a:bodyPr wrap="square" anchor="t" lIns="0" rIns="0" tIns="0" bIns="0">
            <a:spAutoFit/>
          </a:bodyPr>
          <a:lstStyle/>
          <a:p>
            <a:pPr algn="l"/>
            <a:r>
              <a:rPr sz="1500" b="1">
                <a:solidFill>
                  <a:srgbClr val="1A1A2E"/>
                </a:solidFill>
                <a:latin typeface="Segoe UI Semibold"/>
              </a:rPr>
              <a:t>The one deliberate variable</a:t>
            </a:r>
          </a:p>
        </p:txBody>
      </p:sp>
      <p:sp>
        <p:nvSpPr>
          <p:cNvPr id="18" name="TextBox 17"/>
          <p:cNvSpPr txBox="1"/>
          <p:nvPr/>
        </p:nvSpPr>
        <p:spPr>
          <a:xfrm>
            <a:off x="782920" y="4410000"/>
            <a:ext cx="9625855" cy="1340000"/>
          </a:xfrm>
          <a:prstGeom prst="rect">
            <a:avLst/>
          </a:prstGeom>
          <a:noFill/>
        </p:spPr>
        <p:txBody>
          <a:bodyPr wrap="square" anchor="t" lIns="0" rIns="0" tIns="0" bIns="0">
            <a:spAutoFit/>
          </a:bodyPr>
          <a:lstStyle/>
          <a:p>
            <a:pPr algn="l">
              <a:lnSpc>
                <a:spcPct val="115000"/>
              </a:lnSpc>
            </a:pPr>
            <a:r>
              <a:rPr sz="1100" b="0">
                <a:solidFill>
                  <a:srgbClr val="6B6558"/>
                </a:solidFill>
                <a:latin typeface="Segoe UI"/>
              </a:rPr>
              <a:t/>
            </a:r>
          </a:p>
        </p:txBody>
      </p:sp>
      <p:sp>
        <p:nvSpPr>
          <p:cNvPr id="19" name="Rounded Rectangle 18"/>
          <p:cNvSpPr/>
          <p:nvPr/>
        </p:nvSpPr>
        <p:spPr>
          <a:xfrm>
            <a:off x="10408775" y="4050000"/>
            <a:ext cx="1000000" cy="280000"/>
          </a:xfrm>
          <a:prstGeom prst="roundRect">
            <a:avLst>
              <a:gd name="adj" fmla="val 50000"/>
            </a:avLst>
          </a:prstGeom>
          <a:solidFill>
            <a:srgbClr val="DDE9F7"/>
          </a:solidFill>
          <a:ln>
            <a:noFill/>
          </a:ln>
          <a:effectLst/>
        </p:spPr>
        <p:style>
          <a:lnRef idx="1">
            <a:schemeClr val="accent1"/>
          </a:lnRef>
          <a:fillRef idx="3">
            <a:schemeClr val="accent1"/>
          </a:fillRef>
          <a:effectRef idx="2">
            <a:schemeClr val="accent1"/>
          </a:effectRef>
          <a:fontRef idx="minor">
            <a:schemeClr val="lt1"/>
          </a:fontRef>
        </p:style>
        <p:txBody>
          <a:bodyPr rtlCol="0" anchor="ctr" lIns="60000" rIns="60000" tIns="0" bIns="0"/>
          <a:lstStyle/>
          <a:p>
            <a:pPr algn="ctr"/>
            <a:r>
              <a:rPr sz="1000" b="1">
                <a:solidFill>
                  <a:srgbClr val="1C4E80"/>
                </a:solidFill>
                <a:latin typeface="Segoe UI Semibold"/>
              </a:rPr>
              <a:t>By design</a:t>
            </a:r>
          </a:p>
        </p:txBody>
      </p:sp>
      <p:sp>
        <p:nvSpPr>
          <p:cNvPr id="20" name="TextBox 19"/>
          <p:cNvSpPr txBox="1"/>
          <p:nvPr/>
        </p:nvSpPr>
        <p:spPr>
          <a:xfrm>
            <a:off x="782920" y="4450000"/>
            <a:ext cx="4200000" cy="340000"/>
          </a:xfrm>
          <a:prstGeom prst="rect">
            <a:avLst/>
          </a:prstGeom>
          <a:noFill/>
        </p:spPr>
        <p:txBody>
          <a:bodyPr wrap="square" anchor="t" lIns="0" rIns="0" tIns="0" bIns="0">
            <a:spAutoFit/>
          </a:bodyPr>
          <a:lstStyle/>
          <a:p>
            <a:pPr algn="l">
              <a:lnSpc>
                <a:spcPct val="110000"/>
              </a:lnSpc>
            </a:pPr>
            <a:r>
              <a:rPr sz="1100" b="0">
                <a:solidFill>
                  <a:srgbClr val="6B6558"/>
                </a:solidFill>
                <a:latin typeface="Segoe UI"/>
              </a:rPr>
              <a:t>Static hotel content source</a:t>
            </a:r>
          </a:p>
        </p:txBody>
      </p:sp>
      <p:sp>
        <p:nvSpPr>
          <p:cNvPr id="21" name="TextBox 20"/>
          <p:cNvSpPr txBox="1"/>
          <p:nvPr/>
        </p:nvSpPr>
        <p:spPr>
          <a:xfrm>
            <a:off x="5102920" y="4450000"/>
            <a:ext cx="6100000" cy="340000"/>
          </a:xfrm>
          <a:prstGeom prst="rect">
            <a:avLst/>
          </a:prstGeom>
          <a:noFill/>
        </p:spPr>
        <p:txBody>
          <a:bodyPr wrap="square" anchor="t" lIns="0" rIns="0" tIns="0" bIns="0">
            <a:spAutoFit/>
          </a:bodyPr>
          <a:lstStyle/>
          <a:p>
            <a:pPr algn="l">
              <a:lnSpc>
                <a:spcPct val="110000"/>
              </a:lnSpc>
            </a:pPr>
            <a:r>
              <a:rPr sz="1100" b="1">
                <a:solidFill>
                  <a:srgbClr val="1A1A2E"/>
                </a:solidFill>
                <a:latin typeface="Segoe UI Semibold"/>
              </a:rPr>
              <a:t>MySQL st_hotel  vs.  Supabase hotels (partitioned by country_code)</a:t>
            </a:r>
          </a:p>
        </p:txBody>
      </p:sp>
      <p:sp>
        <p:nvSpPr>
          <p:cNvPr id="22" name="TextBox 21"/>
          <p:cNvSpPr txBox="1"/>
          <p:nvPr/>
        </p:nvSpPr>
        <p:spPr>
          <a:xfrm>
            <a:off x="782920" y="4790000"/>
            <a:ext cx="4200000" cy="460000"/>
          </a:xfrm>
          <a:prstGeom prst="rect">
            <a:avLst/>
          </a:prstGeom>
          <a:noFill/>
        </p:spPr>
        <p:txBody>
          <a:bodyPr wrap="square" anchor="t" lIns="0" rIns="0" tIns="0" bIns="0">
            <a:spAutoFit/>
          </a:bodyPr>
          <a:lstStyle/>
          <a:p>
            <a:pPr algn="l">
              <a:lnSpc>
                <a:spcPct val="110000"/>
              </a:lnSpc>
            </a:pPr>
            <a:r>
              <a:rPr sz="1100" b="0">
                <a:solidFill>
                  <a:srgbClr val="6B6558"/>
                </a:solidFill>
                <a:latin typeface="Segoe UI"/>
              </a:rPr>
              <a:t>Hotel name / first photo</a:t>
            </a:r>
          </a:p>
        </p:txBody>
      </p:sp>
      <p:sp>
        <p:nvSpPr>
          <p:cNvPr id="23" name="TextBox 22"/>
          <p:cNvSpPr txBox="1"/>
          <p:nvPr/>
        </p:nvSpPr>
        <p:spPr>
          <a:xfrm>
            <a:off x="5102920" y="4790000"/>
            <a:ext cx="6100000" cy="460000"/>
          </a:xfrm>
          <a:prstGeom prst="rect">
            <a:avLst/>
          </a:prstGeom>
          <a:noFill/>
        </p:spPr>
        <p:txBody>
          <a:bodyPr wrap="square" anchor="t" lIns="0" rIns="0" tIns="0" bIns="0">
            <a:spAutoFit/>
          </a:bodyPr>
          <a:lstStyle/>
          <a:p>
            <a:pPr algn="l">
              <a:lnSpc>
                <a:spcPct val="110000"/>
              </a:lnSpc>
            </a:pPr>
            <a:r>
              <a:rPr sz="1100" b="1">
                <a:solidFill>
                  <a:srgbClr val="1A1A2E"/>
                </a:solidFill>
                <a:latin typeface="Segoe UI Semibold"/>
              </a:rPr>
              <a:t>Independently imported into each DB — can legitimately differ per hotel</a:t>
            </a:r>
          </a:p>
        </p:txBody>
      </p:sp>
      <p:sp>
        <p:nvSpPr>
          <p:cNvPr id="24" name="TextBox 23"/>
          <p:cNvSpPr txBox="1"/>
          <p:nvPr/>
        </p:nvSpPr>
        <p:spPr>
          <a:xfrm>
            <a:off x="782920" y="5250000"/>
            <a:ext cx="4200000" cy="460000"/>
          </a:xfrm>
          <a:prstGeom prst="rect">
            <a:avLst/>
          </a:prstGeom>
          <a:noFill/>
        </p:spPr>
        <p:txBody>
          <a:bodyPr wrap="square" anchor="t" lIns="0" rIns="0" tIns="0" bIns="0">
            <a:spAutoFit/>
          </a:bodyPr>
          <a:lstStyle/>
          <a:p>
            <a:pPr algn="l">
              <a:lnSpc>
                <a:spcPct val="110000"/>
              </a:lnSpc>
            </a:pPr>
            <a:r>
              <a:rPr sz="1100" b="0">
                <a:solidFill>
                  <a:srgbClr val="6B6558"/>
                </a:solidFill>
                <a:latin typeface="Segoe UI"/>
              </a:rPr>
              <a:t>Amenities / review-count filters</a:t>
            </a:r>
          </a:p>
        </p:txBody>
      </p:sp>
      <p:sp>
        <p:nvSpPr>
          <p:cNvPr id="25" name="TextBox 24"/>
          <p:cNvSpPr txBox="1"/>
          <p:nvPr/>
        </p:nvSpPr>
        <p:spPr>
          <a:xfrm>
            <a:off x="5102920" y="5250000"/>
            <a:ext cx="6100000" cy="460000"/>
          </a:xfrm>
          <a:prstGeom prst="rect">
            <a:avLst/>
          </a:prstGeom>
          <a:noFill/>
        </p:spPr>
        <p:txBody>
          <a:bodyPr wrap="square" anchor="t" lIns="0" rIns="0" tIns="0" bIns="0">
            <a:spAutoFit/>
          </a:bodyPr>
          <a:lstStyle/>
          <a:p>
            <a:pPr algn="l">
              <a:lnSpc>
                <a:spcPct val="110000"/>
              </a:lnSpc>
            </a:pPr>
            <a:r>
              <a:rPr sz="1100" b="1">
                <a:solidFill>
                  <a:srgbClr val="1A1A2E"/>
                </a:solidFill>
                <a:latin typeface="Segoe UI Semibold"/>
              </a:rPr>
              <a:t>Still MySQL-sourced on both sides — not yet ported (documented limitation)</a:t>
            </a:r>
          </a:p>
        </p:txBody>
      </p:sp>
      <p:sp>
        <p:nvSpPr>
          <p:cNvPr id="26" name="TextBox 25"/>
          <p:cNvSpPr txBox="1"/>
          <p:nvPr/>
        </p:nvSpPr>
        <p:spPr>
          <a:xfrm>
            <a:off x="502920" y="6518000"/>
            <a:ext cx="9000000" cy="240000"/>
          </a:xfrm>
          <a:prstGeom prst="rect">
            <a:avLst/>
          </a:prstGeom>
          <a:noFill/>
        </p:spPr>
        <p:txBody>
          <a:bodyPr wrap="square" anchor="t" lIns="0" rIns="0" tIns="0" bIns="0">
            <a:spAutoFit/>
          </a:bodyPr>
          <a:lstStyle/>
          <a:p>
            <a:pPr algn="l"/>
            <a:r>
              <a:rPr sz="900" b="0">
                <a:solidFill>
                  <a:srgbClr val="9B9384"/>
                </a:solidFill>
                <a:latin typeface="Segoe UI"/>
              </a:rPr>
              <a:t>BALKANEA WEB  •  SUPABASE VS MYSQL COMPARISON</a:t>
            </a:r>
          </a:p>
        </p:txBody>
      </p:sp>
      <p:sp>
        <p:nvSpPr>
          <p:cNvPr id="27" name="TextBox 26"/>
          <p:cNvSpPr txBox="1"/>
          <p:nvPr/>
        </p:nvSpPr>
        <p:spPr>
          <a:xfrm>
            <a:off x="11492000" y="6518000"/>
            <a:ext cx="400000" cy="240000"/>
          </a:xfrm>
          <a:prstGeom prst="rect">
            <a:avLst/>
          </a:prstGeom>
          <a:noFill/>
        </p:spPr>
        <p:txBody>
          <a:bodyPr wrap="square" anchor="t" lIns="0" rIns="0" tIns="0" bIns="0">
            <a:spAutoFit/>
          </a:bodyPr>
          <a:lstStyle/>
          <a:p>
            <a:pPr algn="r"/>
            <a:r>
              <a:rPr sz="900" b="0">
                <a:solidFill>
                  <a:srgbClr val="9B9384"/>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502920" y="560000"/>
            <a:ext cx="11185855" cy="300000"/>
          </a:xfrm>
          <a:prstGeom prst="rect">
            <a:avLst/>
          </a:prstGeom>
          <a:noFill/>
        </p:spPr>
        <p:txBody>
          <a:bodyPr wrap="square" anchor="t" lIns="0" rIns="0" tIns="0" bIns="0">
            <a:spAutoFit/>
          </a:bodyPr>
          <a:lstStyle/>
          <a:p>
            <a:pPr algn="l"/>
            <a:r>
              <a:rPr sz="1300" b="1">
                <a:solidFill>
                  <a:srgbClr val="7A3E0F"/>
                </a:solidFill>
                <a:latin typeface="Segoe UI Semibold"/>
              </a:rPr>
              <a:t>03  —  TODAY'S WORK</a:t>
            </a:r>
          </a:p>
        </p:txBody>
      </p:sp>
      <p:sp>
        <p:nvSpPr>
          <p:cNvPr id="3" name="TextBox 2"/>
          <p:cNvSpPr txBox="1"/>
          <p:nvPr/>
        </p:nvSpPr>
        <p:spPr>
          <a:xfrm>
            <a:off x="502920" y="880000"/>
            <a:ext cx="11185855" cy="500000"/>
          </a:xfrm>
          <a:prstGeom prst="rect">
            <a:avLst/>
          </a:prstGeom>
          <a:noFill/>
        </p:spPr>
        <p:txBody>
          <a:bodyPr wrap="square" anchor="t" lIns="0" rIns="0" tIns="0" bIns="0">
            <a:spAutoFit/>
          </a:bodyPr>
          <a:lstStyle/>
          <a:p>
            <a:pPr algn="l"/>
            <a:r>
              <a:rPr sz="2400" b="1">
                <a:solidFill>
                  <a:srgbClr val="1A1A2E"/>
                </a:solidFill>
                <a:latin typeface="Segoe UI Semibold"/>
              </a:rPr>
              <a:t>Two backend fixes, verified live</a:t>
            </a:r>
          </a:p>
        </p:txBody>
      </p:sp>
      <p:sp>
        <p:nvSpPr>
          <p:cNvPr id="4" name="Rounded Rectangle 3"/>
          <p:cNvSpPr/>
          <p:nvPr/>
        </p:nvSpPr>
        <p:spPr>
          <a:xfrm>
            <a:off x="502920" y="1560000"/>
            <a:ext cx="11185855" cy="1200000"/>
          </a:xfrm>
          <a:prstGeom prst="roundRect">
            <a:avLst>
              <a:gd name="adj" fmla="val 3500"/>
            </a:avLst>
          </a:prstGeom>
          <a:solidFill>
            <a:srgbClr val="FFFFFF"/>
          </a:solidFill>
          <a:ln w="9525">
            <a:solidFill>
              <a:srgbClr val="ECE6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2920" y="1720000"/>
            <a:ext cx="9625855" cy="360000"/>
          </a:xfrm>
          <a:prstGeom prst="rect">
            <a:avLst/>
          </a:prstGeom>
          <a:noFill/>
        </p:spPr>
        <p:txBody>
          <a:bodyPr wrap="square" anchor="t" lIns="0" rIns="0" tIns="0" bIns="0">
            <a:spAutoFit/>
          </a:bodyPr>
          <a:lstStyle/>
          <a:p>
            <a:pPr algn="l"/>
            <a:r>
              <a:rPr sz="1500" b="1">
                <a:solidFill>
                  <a:srgbClr val="1A1A2E"/>
                </a:solidFill>
                <a:latin typeface="Segoe UI Semibold"/>
              </a:rPr>
              <a:t>Fix 1 — cache the partition key instead of re-resolving it every chunk</a:t>
            </a:r>
          </a:p>
        </p:txBody>
      </p:sp>
      <p:sp>
        <p:nvSpPr>
          <p:cNvPr id="6" name="TextBox 5"/>
          <p:cNvSpPr txBox="1"/>
          <p:nvPr/>
        </p:nvSpPr>
        <p:spPr>
          <a:xfrm>
            <a:off x="782920" y="2120000"/>
            <a:ext cx="9625855" cy="500000"/>
          </a:xfrm>
          <a:prstGeom prst="rect">
            <a:avLst/>
          </a:prstGeom>
          <a:noFill/>
        </p:spPr>
        <p:txBody>
          <a:bodyPr wrap="square" anchor="t" lIns="0" rIns="0" tIns="0" bIns="0">
            <a:spAutoFit/>
          </a:bodyPr>
          <a:lstStyle/>
          <a:p>
            <a:pPr algn="l">
              <a:lnSpc>
                <a:spcPct val="115000"/>
              </a:lnSpc>
            </a:pPr>
            <a:r>
              <a:rPr sz="1100" b="0">
                <a:solidFill>
                  <a:srgbClr val="6B6558"/>
                </a:solidFill>
                <a:latin typeface="Segoe UI"/>
              </a:rPr>
              <a:t>hotels is partitioned by country_code (249 partitions); every chunk was re-running a region_names lookup for an answer that can't change within a search. Now resolved once per search and cached on the raw transient. Measured: 109ms saved per chunk (10-run isolated test, 107–110ms range).</a:t>
            </a:r>
          </a:p>
        </p:txBody>
      </p:sp>
      <p:sp>
        <p:nvSpPr>
          <p:cNvPr id="7" name="Rounded Rectangle 6"/>
          <p:cNvSpPr/>
          <p:nvPr/>
        </p:nvSpPr>
        <p:spPr>
          <a:xfrm>
            <a:off x="10408775" y="1760000"/>
            <a:ext cx="1000000" cy="280000"/>
          </a:xfrm>
          <a:prstGeom prst="roundRect">
            <a:avLst>
              <a:gd name="adj" fmla="val 50000"/>
            </a:avLst>
          </a:prstGeom>
          <a:solidFill>
            <a:srgbClr val="E1EFE6"/>
          </a:solidFill>
          <a:ln>
            <a:noFill/>
          </a:ln>
          <a:effectLst/>
        </p:spPr>
        <p:style>
          <a:lnRef idx="1">
            <a:schemeClr val="accent1"/>
          </a:lnRef>
          <a:fillRef idx="3">
            <a:schemeClr val="accent1"/>
          </a:fillRef>
          <a:effectRef idx="2">
            <a:schemeClr val="accent1"/>
          </a:effectRef>
          <a:fontRef idx="minor">
            <a:schemeClr val="lt1"/>
          </a:fontRef>
        </p:style>
        <p:txBody>
          <a:bodyPr rtlCol="0" anchor="ctr" lIns="60000" rIns="60000" tIns="0" bIns="0"/>
          <a:lstStyle/>
          <a:p>
            <a:pPr algn="ctr"/>
            <a:r>
              <a:rPr sz="1000" b="1">
                <a:solidFill>
                  <a:srgbClr val="1F7A4D"/>
                </a:solidFill>
                <a:latin typeface="Segoe UI Semibold"/>
              </a:rPr>
              <a:t>Shipped</a:t>
            </a:r>
          </a:p>
        </p:txBody>
      </p:sp>
      <p:sp>
        <p:nvSpPr>
          <p:cNvPr id="8" name="Rounded Rectangle 7"/>
          <p:cNvSpPr/>
          <p:nvPr/>
        </p:nvSpPr>
        <p:spPr>
          <a:xfrm>
            <a:off x="502920" y="2860000"/>
            <a:ext cx="11185855" cy="1200000"/>
          </a:xfrm>
          <a:prstGeom prst="roundRect">
            <a:avLst>
              <a:gd name="adj" fmla="val 3500"/>
            </a:avLst>
          </a:prstGeom>
          <a:solidFill>
            <a:srgbClr val="FFFFFF"/>
          </a:solidFill>
          <a:ln w="9525">
            <a:solidFill>
              <a:srgbClr val="ECE6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2920" y="3020000"/>
            <a:ext cx="9625855" cy="360000"/>
          </a:xfrm>
          <a:prstGeom prst="rect">
            <a:avLst/>
          </a:prstGeom>
          <a:noFill/>
        </p:spPr>
        <p:txBody>
          <a:bodyPr wrap="square" anchor="t" lIns="0" rIns="0" tIns="0" bIns="0">
            <a:spAutoFit/>
          </a:bodyPr>
          <a:lstStyle/>
          <a:p>
            <a:pPr algn="l"/>
            <a:r>
              <a:rPr sz="1500" b="1">
                <a:solidFill>
                  <a:srgbClr val="1A1A2E"/>
                </a:solidFill>
                <a:latin typeface="Segoe UI Semibold"/>
              </a:rPr>
              <a:t>Fix 2 — persistent DB connections (PDO::ATTR_PERSISTENT) + transaction-mode pooling</a:t>
            </a:r>
          </a:p>
        </p:txBody>
      </p:sp>
      <p:sp>
        <p:nvSpPr>
          <p:cNvPr id="10" name="TextBox 9"/>
          <p:cNvSpPr txBox="1"/>
          <p:nvPr/>
        </p:nvSpPr>
        <p:spPr>
          <a:xfrm>
            <a:off x="782920" y="3420000"/>
            <a:ext cx="9625855" cy="500000"/>
          </a:xfrm>
          <a:prstGeom prst="rect">
            <a:avLst/>
          </a:prstGeom>
          <a:noFill/>
        </p:spPr>
        <p:txBody>
          <a:bodyPr wrap="square" anchor="t" lIns="0" rIns="0" tIns="0" bIns="0">
            <a:spAutoFit/>
          </a:bodyPr>
          <a:lstStyle/>
          <a:p>
            <a:pPr algn="l">
              <a:lnSpc>
                <a:spcPct val="115000"/>
              </a:lnSpc>
            </a:pPr>
            <a:r>
              <a:rPr sz="1100" b="0">
                <a:solidFill>
                  <a:srgbClr val="6B6558"/>
                </a:solidFill>
                <a:latin typeface="Segoe UI"/>
              </a:rPr>
              <a:t>Verified empirically first: a worker-persistence probe (10 chunk-cadence-spaced requests) hit only 3 distinct PHP worker PIDs — workers here do survive between chunk requests, so a persistent connection can actually be reused. Paired with port 6543 (required for persistent connections to avoid pinning dedicated Postgres backends) and EMULATE_PREPARES for pooling safety.</a:t>
            </a:r>
          </a:p>
        </p:txBody>
      </p:sp>
      <p:sp>
        <p:nvSpPr>
          <p:cNvPr id="11" name="Rounded Rectangle 10"/>
          <p:cNvSpPr/>
          <p:nvPr/>
        </p:nvSpPr>
        <p:spPr>
          <a:xfrm>
            <a:off x="10408775" y="3060000"/>
            <a:ext cx="1000000" cy="280000"/>
          </a:xfrm>
          <a:prstGeom prst="roundRect">
            <a:avLst>
              <a:gd name="adj" fmla="val 50000"/>
            </a:avLst>
          </a:prstGeom>
          <a:solidFill>
            <a:srgbClr val="E1EFE6"/>
          </a:solidFill>
          <a:ln>
            <a:noFill/>
          </a:ln>
          <a:effectLst/>
        </p:spPr>
        <p:style>
          <a:lnRef idx="1">
            <a:schemeClr val="accent1"/>
          </a:lnRef>
          <a:fillRef idx="3">
            <a:schemeClr val="accent1"/>
          </a:fillRef>
          <a:effectRef idx="2">
            <a:schemeClr val="accent1"/>
          </a:effectRef>
          <a:fontRef idx="minor">
            <a:schemeClr val="lt1"/>
          </a:fontRef>
        </p:style>
        <p:txBody>
          <a:bodyPr rtlCol="0" anchor="ctr" lIns="60000" rIns="60000" tIns="0" bIns="0"/>
          <a:lstStyle/>
          <a:p>
            <a:pPr algn="ctr"/>
            <a:r>
              <a:rPr sz="1000" b="1">
                <a:solidFill>
                  <a:srgbClr val="1F7A4D"/>
                </a:solidFill>
                <a:latin typeface="Segoe UI Semibold"/>
              </a:rPr>
              <a:t>Shipped</a:t>
            </a:r>
          </a:p>
        </p:txBody>
      </p:sp>
      <p:sp>
        <p:nvSpPr>
          <p:cNvPr id="12" name="Rounded Rectangle 11"/>
          <p:cNvSpPr/>
          <p:nvPr/>
        </p:nvSpPr>
        <p:spPr>
          <a:xfrm>
            <a:off x="502920" y="4160000"/>
            <a:ext cx="11185855" cy="1150000"/>
          </a:xfrm>
          <a:prstGeom prst="roundRect">
            <a:avLst>
              <a:gd name="adj" fmla="val 3500"/>
            </a:avLst>
          </a:prstGeom>
          <a:solidFill>
            <a:srgbClr val="FFFFFF"/>
          </a:solidFill>
          <a:ln w="9525">
            <a:solidFill>
              <a:srgbClr val="ECE6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2920" y="4320000"/>
            <a:ext cx="9625855" cy="360000"/>
          </a:xfrm>
          <a:prstGeom prst="rect">
            <a:avLst/>
          </a:prstGeom>
          <a:noFill/>
        </p:spPr>
        <p:txBody>
          <a:bodyPr wrap="square" anchor="t" lIns="0" rIns="0" tIns="0" bIns="0">
            <a:spAutoFit/>
          </a:bodyPr>
          <a:lstStyle/>
          <a:p>
            <a:pPr algn="l"/>
            <a:r>
              <a:rPr sz="1500" b="1">
                <a:solidFill>
                  <a:srgbClr val="1A1A2E"/>
                </a:solidFill>
                <a:latin typeface="Segoe UI Semibold"/>
              </a:rPr>
              <a:t>Isolated DB-layer effect — real, but a smaller slice of chunk time than hoped</a:t>
            </a:r>
          </a:p>
        </p:txBody>
      </p:sp>
      <p:sp>
        <p:nvSpPr>
          <p:cNvPr id="14" name="TextBox 13"/>
          <p:cNvSpPr txBox="1"/>
          <p:nvPr/>
        </p:nvSpPr>
        <p:spPr>
          <a:xfrm>
            <a:off x="782920" y="4720000"/>
            <a:ext cx="9625855" cy="450000"/>
          </a:xfrm>
          <a:prstGeom prst="rect">
            <a:avLst/>
          </a:prstGeom>
          <a:noFill/>
        </p:spPr>
        <p:txBody>
          <a:bodyPr wrap="square" anchor="t" lIns="0" rIns="0" tIns="0" bIns="0">
            <a:spAutoFit/>
          </a:bodyPr>
          <a:lstStyle/>
          <a:p>
            <a:pPr algn="l">
              <a:lnSpc>
                <a:spcPct val="115000"/>
              </a:lnSpc>
            </a:pPr>
            <a:r>
              <a:rPr sz="1100" b="0">
                <a:solidFill>
                  <a:srgbClr val="6B6558"/>
                </a:solidFill>
                <a:latin typeface="Segoe UI"/>
              </a:rPr>
              <a:t>1,293 ms/chunk (before) → 347 ms/chunk (both fixes), in an isolated DB-only benchmark. In the full request, chunk wall-time is 3.3–4.5s and is dominated by other shared-architecture work (the still-MySQL-sourced amenities query, filter/sort processing) — not primarily the piece fixed here. See next slide for what that means end to end.</a:t>
            </a:r>
          </a:p>
        </p:txBody>
      </p:sp>
      <p:sp>
        <p:nvSpPr>
          <p:cNvPr id="15" name="Rounded Rectangle 14"/>
          <p:cNvSpPr/>
          <p:nvPr/>
        </p:nvSpPr>
        <p:spPr>
          <a:xfrm>
            <a:off x="10408775" y="4360000"/>
            <a:ext cx="1000000" cy="280000"/>
          </a:xfrm>
          <a:prstGeom prst="roundRect">
            <a:avLst>
              <a:gd name="adj" fmla="val 50000"/>
            </a:avLst>
          </a:prstGeom>
          <a:solidFill>
            <a:srgbClr val="DDE9F7"/>
          </a:solidFill>
          <a:ln>
            <a:noFill/>
          </a:ln>
          <a:effectLst/>
        </p:spPr>
        <p:style>
          <a:lnRef idx="1">
            <a:schemeClr val="accent1"/>
          </a:lnRef>
          <a:fillRef idx="3">
            <a:schemeClr val="accent1"/>
          </a:fillRef>
          <a:effectRef idx="2">
            <a:schemeClr val="accent1"/>
          </a:effectRef>
          <a:fontRef idx="minor">
            <a:schemeClr val="lt1"/>
          </a:fontRef>
        </p:style>
        <p:txBody>
          <a:bodyPr rtlCol="0" anchor="ctr" lIns="60000" rIns="60000" tIns="0" bIns="0"/>
          <a:lstStyle/>
          <a:p>
            <a:pPr algn="ctr"/>
            <a:r>
              <a:rPr sz="1000" b="1">
                <a:solidFill>
                  <a:srgbClr val="1C4E80"/>
                </a:solidFill>
                <a:latin typeface="Segoe UI Semibold"/>
              </a:rPr>
              <a:t>Verified</a:t>
            </a:r>
          </a:p>
        </p:txBody>
      </p:sp>
      <p:sp>
        <p:nvSpPr>
          <p:cNvPr id="16" name="TextBox 15"/>
          <p:cNvSpPr txBox="1"/>
          <p:nvPr/>
        </p:nvSpPr>
        <p:spPr>
          <a:xfrm>
            <a:off x="502920" y="6518000"/>
            <a:ext cx="9000000" cy="240000"/>
          </a:xfrm>
          <a:prstGeom prst="rect">
            <a:avLst/>
          </a:prstGeom>
          <a:noFill/>
        </p:spPr>
        <p:txBody>
          <a:bodyPr wrap="square" anchor="t" lIns="0" rIns="0" tIns="0" bIns="0">
            <a:spAutoFit/>
          </a:bodyPr>
          <a:lstStyle/>
          <a:p>
            <a:pPr algn="l"/>
            <a:r>
              <a:rPr sz="900" b="0">
                <a:solidFill>
                  <a:srgbClr val="9B9384"/>
                </a:solidFill>
                <a:latin typeface="Segoe UI"/>
              </a:rPr>
              <a:t>BALKANEA WEB  •  SUPABASE VS MYSQL COMPARISON</a:t>
            </a:r>
          </a:p>
        </p:txBody>
      </p:sp>
      <p:sp>
        <p:nvSpPr>
          <p:cNvPr id="17" name="TextBox 16"/>
          <p:cNvSpPr txBox="1"/>
          <p:nvPr/>
        </p:nvSpPr>
        <p:spPr>
          <a:xfrm>
            <a:off x="11492000" y="6518000"/>
            <a:ext cx="400000" cy="240000"/>
          </a:xfrm>
          <a:prstGeom prst="rect">
            <a:avLst/>
          </a:prstGeom>
          <a:noFill/>
        </p:spPr>
        <p:txBody>
          <a:bodyPr wrap="square" anchor="t" lIns="0" rIns="0" tIns="0" bIns="0">
            <a:spAutoFit/>
          </a:bodyPr>
          <a:lstStyle/>
          <a:p>
            <a:pPr algn="r"/>
            <a:r>
              <a:rPr sz="900" b="0">
                <a:solidFill>
                  <a:srgbClr val="9B9384"/>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502920" y="560000"/>
            <a:ext cx="11185855" cy="300000"/>
          </a:xfrm>
          <a:prstGeom prst="rect">
            <a:avLst/>
          </a:prstGeom>
          <a:noFill/>
        </p:spPr>
        <p:txBody>
          <a:bodyPr wrap="square" anchor="t" lIns="0" rIns="0" tIns="0" bIns="0">
            <a:spAutoFit/>
          </a:bodyPr>
          <a:lstStyle/>
          <a:p>
            <a:pPr algn="l"/>
            <a:r>
              <a:rPr sz="1300" b="1">
                <a:solidFill>
                  <a:srgbClr val="7A3E0F"/>
                </a:solidFill>
                <a:latin typeface="Segoe UI Semibold"/>
              </a:rPr>
              <a:t>04  —  PERFORMANCE RESULTS</a:t>
            </a:r>
          </a:p>
        </p:txBody>
      </p:sp>
      <p:sp>
        <p:nvSpPr>
          <p:cNvPr id="3" name="TextBox 2"/>
          <p:cNvSpPr txBox="1"/>
          <p:nvPr/>
        </p:nvSpPr>
        <p:spPr>
          <a:xfrm>
            <a:off x="502920" y="880000"/>
            <a:ext cx="11185855" cy="500000"/>
          </a:xfrm>
          <a:prstGeom prst="rect">
            <a:avLst/>
          </a:prstGeom>
          <a:noFill/>
        </p:spPr>
        <p:txBody>
          <a:bodyPr wrap="square" anchor="t" lIns="0" rIns="0" tIns="0" bIns="0">
            <a:spAutoFit/>
          </a:bodyPr>
          <a:lstStyle/>
          <a:p>
            <a:pPr algn="l"/>
            <a:r>
              <a:rPr sz="2400" b="1">
                <a:solidFill>
                  <a:srgbClr val="1A1A2E"/>
                </a:solidFill>
                <a:latin typeface="Segoe UI Semibold"/>
              </a:rPr>
              <a:t>Full search, real Athens query, same dates on both sides</a:t>
            </a:r>
          </a:p>
        </p:txBody>
      </p:sp>
      <p:graphicFrame>
        <p:nvGraphicFramePr>
          <p:cNvPr id="4" name="Chart 3"/>
          <p:cNvGraphicFramePr>
            <a:graphicFrameLocks noGrp="1"/>
          </p:cNvGraphicFramePr>
          <p:nvPr/>
        </p:nvGraphicFramePr>
        <p:xfrm>
          <a:off x="502920" y="1500000"/>
          <a:ext cx="7300000" cy="3550000"/>
        </p:xfrm>
        <a:graphic>
          <a:graphicData uri="http://schemas.openxmlformats.org/drawingml/2006/chart">
            <c:chart xmlns:c="http://schemas.openxmlformats.org/drawingml/2006/chart" r:id="rId2"/>
          </a:graphicData>
        </a:graphic>
      </p:graphicFrame>
      <p:sp>
        <p:nvSpPr>
          <p:cNvPr id="5" name="Rounded Rectangle 4"/>
          <p:cNvSpPr/>
          <p:nvPr/>
        </p:nvSpPr>
        <p:spPr>
          <a:xfrm>
            <a:off x="8102920" y="1500000"/>
            <a:ext cx="3585855" cy="1750000"/>
          </a:xfrm>
          <a:prstGeom prst="roundRect">
            <a:avLst>
              <a:gd name="adj" fmla="val 6000"/>
            </a:avLst>
          </a:prstGeom>
          <a:solidFill>
            <a:srgbClr val="FFFFFF"/>
          </a:solidFill>
          <a:ln w="9525">
            <a:solidFill>
              <a:srgbClr val="ECE6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22920" y="1650000"/>
            <a:ext cx="3145855" cy="300000"/>
          </a:xfrm>
          <a:prstGeom prst="rect">
            <a:avLst/>
          </a:prstGeom>
          <a:noFill/>
        </p:spPr>
        <p:txBody>
          <a:bodyPr wrap="square" anchor="t" lIns="0" rIns="0" tIns="0" bIns="0">
            <a:spAutoFit/>
          </a:bodyPr>
          <a:lstStyle/>
          <a:p>
            <a:pPr algn="l"/>
            <a:r>
              <a:rPr sz="1300" b="1">
                <a:solidFill>
                  <a:srgbClr val="1A1A2E"/>
                </a:solidFill>
                <a:latin typeface="Segoe UI Semibold"/>
              </a:rPr>
              <a:t>Real production is faster, cold and warm</a:t>
            </a:r>
          </a:p>
        </p:txBody>
      </p:sp>
      <p:sp>
        <p:nvSpPr>
          <p:cNvPr id="7" name="TextBox 6"/>
          <p:cNvSpPr txBox="1"/>
          <p:nvPr/>
        </p:nvSpPr>
        <p:spPr>
          <a:xfrm>
            <a:off x="8322920" y="2000000"/>
            <a:ext cx="3145855" cy="1150000"/>
          </a:xfrm>
          <a:prstGeom prst="rect">
            <a:avLst/>
          </a:prstGeom>
          <a:noFill/>
        </p:spPr>
        <p:txBody>
          <a:bodyPr wrap="square" anchor="t" lIns="0" rIns="0" tIns="0" bIns="0">
            <a:spAutoFit/>
          </a:bodyPr>
          <a:lstStyle/>
          <a:p>
            <a:pPr algn="l">
              <a:lnSpc>
                <a:spcPct val="115000"/>
              </a:lnSpc>
            </a:pPr>
            <a:r>
              <a:rPr sz="1100" b="0">
                <a:solidFill>
                  <a:srgbClr val="6B6558"/>
                </a:solidFill>
                <a:latin typeface="Segoe UI"/>
              </a:rPr>
              <a:t>MySQL is ahead by roughly 20–30% at every point measured (14.1s vs 17.7s cold; 9.9s vs 12.4s warm). This matches the pre-existing baseline from earlier testing this week — today's DB fixes didn't close the gap.</a:t>
            </a:r>
          </a:p>
        </p:txBody>
      </p:sp>
      <p:sp>
        <p:nvSpPr>
          <p:cNvPr id="8" name="Rounded Rectangle 7"/>
          <p:cNvSpPr/>
          <p:nvPr/>
        </p:nvSpPr>
        <p:spPr>
          <a:xfrm>
            <a:off x="8102920" y="3400000"/>
            <a:ext cx="3585855" cy="1650000"/>
          </a:xfrm>
          <a:prstGeom prst="roundRect">
            <a:avLst>
              <a:gd name="adj" fmla="val 6000"/>
            </a:avLst>
          </a:prstGeom>
          <a:solidFill>
            <a:srgbClr val="FFFFFF"/>
          </a:solidFill>
          <a:ln w="9525">
            <a:solidFill>
              <a:srgbClr val="ECE6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2920" y="3550000"/>
            <a:ext cx="3145855" cy="300000"/>
          </a:xfrm>
          <a:prstGeom prst="rect">
            <a:avLst/>
          </a:prstGeom>
          <a:noFill/>
        </p:spPr>
        <p:txBody>
          <a:bodyPr wrap="square" anchor="t" lIns="0" rIns="0" tIns="0" bIns="0">
            <a:spAutoFit/>
          </a:bodyPr>
          <a:lstStyle/>
          <a:p>
            <a:pPr algn="l"/>
            <a:r>
              <a:rPr sz="1300" b="1">
                <a:solidFill>
                  <a:srgbClr val="1A1A2E"/>
                </a:solidFill>
                <a:latin typeface="Segoe UI Semibold"/>
              </a:rPr>
              <a:t>Why: chunk time isn't mostly DB time</a:t>
            </a:r>
          </a:p>
        </p:txBody>
      </p:sp>
      <p:sp>
        <p:nvSpPr>
          <p:cNvPr id="10" name="TextBox 9"/>
          <p:cNvSpPr txBox="1"/>
          <p:nvPr/>
        </p:nvSpPr>
        <p:spPr>
          <a:xfrm>
            <a:off x="8322920" y="3900000"/>
            <a:ext cx="3145855" cy="1050000"/>
          </a:xfrm>
          <a:prstGeom prst="rect">
            <a:avLst/>
          </a:prstGeom>
          <a:noFill/>
        </p:spPr>
        <p:txBody>
          <a:bodyPr wrap="square" anchor="t" lIns="0" rIns="0" tIns="0" bIns="0">
            <a:spAutoFit/>
          </a:bodyPr>
          <a:lstStyle/>
          <a:p>
            <a:pPr algn="l">
              <a:lnSpc>
                <a:spcPct val="115000"/>
              </a:lnSpc>
            </a:pPr>
            <a:r>
              <a:rPr sz="1100" b="0">
                <a:solidFill>
                  <a:srgbClr val="6B6558"/>
                </a:solidFill>
                <a:latin typeface="Segoe UI"/>
              </a:rPr>
              <a:t>Each chunk runs 3.3–4.5s, but the isolated DB fetch today's fixes target is ~350ms of that. The rest — the still-MySQL-sourced amenities query, filter/sort work — is shared architecture on both sides, and is where the next win likely has to come from.</a:t>
            </a:r>
          </a:p>
        </p:txBody>
      </p:sp>
      <p:sp>
        <p:nvSpPr>
          <p:cNvPr id="11" name="TextBox 10"/>
          <p:cNvSpPr txBox="1"/>
          <p:nvPr/>
        </p:nvSpPr>
        <p:spPr>
          <a:xfrm>
            <a:off x="502920" y="5250000"/>
            <a:ext cx="11185855" cy="600000"/>
          </a:xfrm>
          <a:prstGeom prst="rect">
            <a:avLst/>
          </a:prstGeom>
          <a:noFill/>
        </p:spPr>
        <p:txBody>
          <a:bodyPr wrap="square" anchor="t" lIns="0" rIns="0" tIns="0" bIns="0">
            <a:spAutoFit/>
          </a:bodyPr>
          <a:lstStyle/>
          <a:p>
            <a:pPr algn="l">
              <a:lnSpc>
                <a:spcPct val="120000"/>
              </a:lnSpc>
            </a:pPr>
            <a:r>
              <a:rPr sz="1000" b="0">
                <a:solidFill>
                  <a:srgbClr val="9B9384"/>
                </a:solidFill>
                <a:latin typeface="Segoe UI"/>
              </a:rPr>
              <a:t>Method: direct AJAX timing (initial + all DB chunks, real Athens search, same 14–15 Sep dates and guest params on both sides, 259–266 hotels, 3 backend round-trips) — bypasses browser render time so it isolates backend behavior equally. An earlier pass used a different, heavier date range and produced inflated, non-comparable numbers — discarded.</a:t>
            </a:r>
          </a:p>
        </p:txBody>
      </p:sp>
      <p:sp>
        <p:nvSpPr>
          <p:cNvPr id="12" name="TextBox 11"/>
          <p:cNvSpPr txBox="1"/>
          <p:nvPr/>
        </p:nvSpPr>
        <p:spPr>
          <a:xfrm>
            <a:off x="502920" y="6518000"/>
            <a:ext cx="9000000" cy="240000"/>
          </a:xfrm>
          <a:prstGeom prst="rect">
            <a:avLst/>
          </a:prstGeom>
          <a:noFill/>
        </p:spPr>
        <p:txBody>
          <a:bodyPr wrap="square" anchor="t" lIns="0" rIns="0" tIns="0" bIns="0">
            <a:spAutoFit/>
          </a:bodyPr>
          <a:lstStyle/>
          <a:p>
            <a:pPr algn="l"/>
            <a:r>
              <a:rPr sz="900" b="0">
                <a:solidFill>
                  <a:srgbClr val="9B9384"/>
                </a:solidFill>
                <a:latin typeface="Segoe UI"/>
              </a:rPr>
              <a:t>BALKANEA WEB  •  SUPABASE VS MYSQL COMPARISON</a:t>
            </a:r>
          </a:p>
        </p:txBody>
      </p:sp>
      <p:sp>
        <p:nvSpPr>
          <p:cNvPr id="13" name="TextBox 12"/>
          <p:cNvSpPr txBox="1"/>
          <p:nvPr/>
        </p:nvSpPr>
        <p:spPr>
          <a:xfrm>
            <a:off x="11492000" y="6518000"/>
            <a:ext cx="400000" cy="240000"/>
          </a:xfrm>
          <a:prstGeom prst="rect">
            <a:avLst/>
          </a:prstGeom>
          <a:noFill/>
        </p:spPr>
        <p:txBody>
          <a:bodyPr wrap="square" anchor="t" lIns="0" rIns="0" tIns="0" bIns="0">
            <a:spAutoFit/>
          </a:bodyPr>
          <a:lstStyle/>
          <a:p>
            <a:pPr algn="r"/>
            <a:r>
              <a:rPr sz="900" b="0">
                <a:solidFill>
                  <a:srgbClr val="9B9384"/>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502920" y="560000"/>
            <a:ext cx="11185855" cy="300000"/>
          </a:xfrm>
          <a:prstGeom prst="rect">
            <a:avLst/>
          </a:prstGeom>
          <a:noFill/>
        </p:spPr>
        <p:txBody>
          <a:bodyPr wrap="square" anchor="t" lIns="0" rIns="0" tIns="0" bIns="0">
            <a:spAutoFit/>
          </a:bodyPr>
          <a:lstStyle/>
          <a:p>
            <a:pPr algn="l"/>
            <a:r>
              <a:rPr sz="1300" b="1">
                <a:solidFill>
                  <a:srgbClr val="7A3E0F"/>
                </a:solidFill>
                <a:latin typeface="Segoe UI Semibold"/>
              </a:rPr>
              <a:t>05  —  VISUAL PARITY</a:t>
            </a:r>
          </a:p>
        </p:txBody>
      </p:sp>
      <p:sp>
        <p:nvSpPr>
          <p:cNvPr id="3" name="TextBox 2"/>
          <p:cNvSpPr txBox="1"/>
          <p:nvPr/>
        </p:nvSpPr>
        <p:spPr>
          <a:xfrm>
            <a:off x="502920" y="880000"/>
            <a:ext cx="11185855" cy="500000"/>
          </a:xfrm>
          <a:prstGeom prst="rect">
            <a:avLst/>
          </a:prstGeom>
          <a:noFill/>
        </p:spPr>
        <p:txBody>
          <a:bodyPr wrap="square" anchor="t" lIns="0" rIns="0" tIns="0" bIns="0">
            <a:spAutoFit/>
          </a:bodyPr>
          <a:lstStyle/>
          <a:p>
            <a:pPr algn="l"/>
            <a:r>
              <a:rPr sz="2400" b="1">
                <a:solidFill>
                  <a:srgbClr val="1A1A2E"/>
                </a:solidFill>
                <a:latin typeface="Segoe UI Semibold"/>
              </a:rPr>
              <a:t>Map fix, and what's still an open, expected difference</a:t>
            </a:r>
          </a:p>
        </p:txBody>
      </p:sp>
      <p:sp>
        <p:nvSpPr>
          <p:cNvPr id="4" name="Rounded Rectangle 3"/>
          <p:cNvSpPr/>
          <p:nvPr/>
        </p:nvSpPr>
        <p:spPr>
          <a:xfrm>
            <a:off x="502920" y="1560000"/>
            <a:ext cx="11185855" cy="1500000"/>
          </a:xfrm>
          <a:prstGeom prst="roundRect">
            <a:avLst>
              <a:gd name="adj" fmla="val 3500"/>
            </a:avLst>
          </a:prstGeom>
          <a:solidFill>
            <a:srgbClr val="FFFFFF"/>
          </a:solidFill>
          <a:ln w="9525">
            <a:solidFill>
              <a:srgbClr val="ECE6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2920" y="1720000"/>
            <a:ext cx="9625855" cy="360000"/>
          </a:xfrm>
          <a:prstGeom prst="rect">
            <a:avLst/>
          </a:prstGeom>
          <a:noFill/>
        </p:spPr>
        <p:txBody>
          <a:bodyPr wrap="square" anchor="t" lIns="0" rIns="0" tIns="0" bIns="0">
            <a:spAutoFit/>
          </a:bodyPr>
          <a:lstStyle/>
          <a:p>
            <a:pPr algn="l"/>
            <a:r>
              <a:rPr sz="1500" b="1">
                <a:solidFill>
                  <a:srgbClr val="1A1A2E"/>
                </a:solidFill>
                <a:latin typeface="Segoe UI Semibold"/>
              </a:rPr>
              <a:t>Map fix (three layered bugs, all resolved today)</a:t>
            </a:r>
          </a:p>
        </p:txBody>
      </p:sp>
      <p:sp>
        <p:nvSpPr>
          <p:cNvPr id="6" name="TextBox 5"/>
          <p:cNvSpPr txBox="1"/>
          <p:nvPr/>
        </p:nvSpPr>
        <p:spPr>
          <a:xfrm>
            <a:off x="782920" y="2120000"/>
            <a:ext cx="9625855" cy="800000"/>
          </a:xfrm>
          <a:prstGeom prst="rect">
            <a:avLst/>
          </a:prstGeom>
          <a:noFill/>
        </p:spPr>
        <p:txBody>
          <a:bodyPr wrap="square" anchor="t" lIns="0" rIns="0" tIns="0" bIns="0">
            <a:spAutoFit/>
          </a:bodyPr>
          <a:lstStyle/>
          <a:p>
            <a:pPr algn="l">
              <a:lnSpc>
                <a:spcPct val="115000"/>
              </a:lnSpc>
            </a:pPr>
            <a:r>
              <a:rPr sz="1100" b="0">
                <a:solidFill>
                  <a:srgbClr val="6B6558"/>
                </a:solidFill>
                <a:latin typeface="Segoe UI"/>
              </a:rPr>
              <a:t>1) map-search.js / Mapbox GL were never enqueued on this page — traced to an infrastructure change earlier today that also silently dropped the fork's files, unrelated to the DB work above.</a:t>
            </a:r>
          </a:p>
          <a:p>
            <a:pPr algn="l">
              <a:lnSpc>
                <a:spcPct val="115000"/>
              </a:lnSpc>
            </a:pPr>
            <a:r>
              <a:rPr sz="1100" b="0">
                <a:solidFill>
                  <a:srgbClr val="6B6558"/>
                </a:solidFill>
                <a:latin typeface="Segoe UI"/>
              </a:rPr>
              <a:t>2) Wrong Mapbox API-key option name (api_key_mapbox, not apiKeyMapbox).</a:t>
            </a:r>
          </a:p>
          <a:p>
            <a:pPr algn="l">
              <a:lnSpc>
                <a:spcPct val="115000"/>
              </a:lnSpc>
            </a:pPr>
            <a:r>
              <a:rPr sz="1100" b="0">
                <a:solidFill>
                  <a:srgbClr val="6B6558"/>
                </a:solidFill>
                <a:latin typeface="Segoe UI"/>
              </a:rPr>
              <a:t>3) #map's height tracked the results list's full length → an extremely tall/narrow container broke fitBounds's aspect ratio, panning the view into unrelated terrain. Fixed with a viewport-height, sticky map panel plus a settle-point re-fit once the full result set has loaded.</a:t>
            </a:r>
          </a:p>
        </p:txBody>
      </p:sp>
      <p:sp>
        <p:nvSpPr>
          <p:cNvPr id="7" name="Rounded Rectangle 6"/>
          <p:cNvSpPr/>
          <p:nvPr/>
        </p:nvSpPr>
        <p:spPr>
          <a:xfrm>
            <a:off x="10408775" y="1760000"/>
            <a:ext cx="1000000" cy="280000"/>
          </a:xfrm>
          <a:prstGeom prst="roundRect">
            <a:avLst>
              <a:gd name="adj" fmla="val 50000"/>
            </a:avLst>
          </a:prstGeom>
          <a:solidFill>
            <a:srgbClr val="E1EFE6"/>
          </a:solidFill>
          <a:ln>
            <a:noFill/>
          </a:ln>
          <a:effectLst/>
        </p:spPr>
        <p:style>
          <a:lnRef idx="1">
            <a:schemeClr val="accent1"/>
          </a:lnRef>
          <a:fillRef idx="3">
            <a:schemeClr val="accent1"/>
          </a:fillRef>
          <a:effectRef idx="2">
            <a:schemeClr val="accent1"/>
          </a:effectRef>
          <a:fontRef idx="minor">
            <a:schemeClr val="lt1"/>
          </a:fontRef>
        </p:style>
        <p:txBody>
          <a:bodyPr rtlCol="0" anchor="ctr" lIns="60000" rIns="60000" tIns="0" bIns="0"/>
          <a:lstStyle/>
          <a:p>
            <a:pPr algn="ctr"/>
            <a:r>
              <a:rPr sz="1000" b="1">
                <a:solidFill>
                  <a:srgbClr val="1F7A4D"/>
                </a:solidFill>
                <a:latin typeface="Segoe UI Semibold"/>
              </a:rPr>
              <a:t>Fixed</a:t>
            </a:r>
          </a:p>
        </p:txBody>
      </p:sp>
      <p:sp>
        <p:nvSpPr>
          <p:cNvPr id="8" name="Rounded Rectangle 7"/>
          <p:cNvSpPr/>
          <p:nvPr/>
        </p:nvSpPr>
        <p:spPr>
          <a:xfrm>
            <a:off x="502920" y="3260000"/>
            <a:ext cx="11185855" cy="1550000"/>
          </a:xfrm>
          <a:prstGeom prst="roundRect">
            <a:avLst>
              <a:gd name="adj" fmla="val 3500"/>
            </a:avLst>
          </a:prstGeom>
          <a:solidFill>
            <a:srgbClr val="FFFFFF"/>
          </a:solidFill>
          <a:ln w="9525">
            <a:solidFill>
              <a:srgbClr val="ECE6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2920" y="3420000"/>
            <a:ext cx="9625855" cy="360000"/>
          </a:xfrm>
          <a:prstGeom prst="rect">
            <a:avLst/>
          </a:prstGeom>
          <a:noFill/>
        </p:spPr>
        <p:txBody>
          <a:bodyPr wrap="square" anchor="t" lIns="0" rIns="0" tIns="0" bIns="0">
            <a:spAutoFit/>
          </a:bodyPr>
          <a:lstStyle/>
          <a:p>
            <a:pPr algn="l"/>
            <a:r>
              <a:rPr sz="1500" b="1">
                <a:solidFill>
                  <a:srgbClr val="1A1A2E"/>
                </a:solidFill>
                <a:latin typeface="Segoe UI Semibold"/>
              </a:rPr>
              <a:t>Hotel names &amp; hero photos differ — expected, not a bug</a:t>
            </a:r>
          </a:p>
        </p:txBody>
      </p:sp>
      <p:sp>
        <p:nvSpPr>
          <p:cNvPr id="10" name="TextBox 9"/>
          <p:cNvSpPr txBox="1"/>
          <p:nvPr/>
        </p:nvSpPr>
        <p:spPr>
          <a:xfrm>
            <a:off x="782920" y="3820000"/>
            <a:ext cx="9625855" cy="850000"/>
          </a:xfrm>
          <a:prstGeom prst="rect">
            <a:avLst/>
          </a:prstGeom>
          <a:noFill/>
        </p:spPr>
        <p:txBody>
          <a:bodyPr wrap="square" anchor="t" lIns="0" rIns="0" tIns="0" bIns="0">
            <a:spAutoFit/>
          </a:bodyPr>
          <a:lstStyle/>
          <a:p>
            <a:pPr algn="l">
              <a:lnSpc>
                <a:spcPct val="115000"/>
              </a:lnSpc>
            </a:pPr>
            <a:r>
              <a:rPr sz="1100" b="0">
                <a:solidFill>
                  <a:srgbClr val="6B6558"/>
                </a:solidFill>
                <a:latin typeface="Segoe UI"/>
              </a:rPr>
              <a:t>Both DBs are matched to the same live RateHawk hid, but static content (name, first photo) was imported independently into each. Neither source is “the correct one” — MySQL's own hotel names have 3 confirmed mismatches against RateHawk's own live names too. Coverage note: Supabase matched 14/14 hotels in an earlier sampled batch vs. MySQL's 7–11/14 — more complete, differently-sourced content.</a:t>
            </a:r>
          </a:p>
        </p:txBody>
      </p:sp>
      <p:sp>
        <p:nvSpPr>
          <p:cNvPr id="11" name="Rounded Rectangle 10"/>
          <p:cNvSpPr/>
          <p:nvPr/>
        </p:nvSpPr>
        <p:spPr>
          <a:xfrm>
            <a:off x="10408775" y="3460000"/>
            <a:ext cx="1000000" cy="280000"/>
          </a:xfrm>
          <a:prstGeom prst="roundRect">
            <a:avLst>
              <a:gd name="adj" fmla="val 50000"/>
            </a:avLst>
          </a:prstGeom>
          <a:solidFill>
            <a:srgbClr val="DDE9F7"/>
          </a:solidFill>
          <a:ln>
            <a:noFill/>
          </a:ln>
          <a:effectLst/>
        </p:spPr>
        <p:style>
          <a:lnRef idx="1">
            <a:schemeClr val="accent1"/>
          </a:lnRef>
          <a:fillRef idx="3">
            <a:schemeClr val="accent1"/>
          </a:fillRef>
          <a:effectRef idx="2">
            <a:schemeClr val="accent1"/>
          </a:effectRef>
          <a:fontRef idx="minor">
            <a:schemeClr val="lt1"/>
          </a:fontRef>
        </p:style>
        <p:txBody>
          <a:bodyPr rtlCol="0" anchor="ctr" lIns="60000" rIns="60000" tIns="0" bIns="0"/>
          <a:lstStyle/>
          <a:p>
            <a:pPr algn="ctr"/>
            <a:r>
              <a:rPr sz="1000" b="1">
                <a:solidFill>
                  <a:srgbClr val="1C4E80"/>
                </a:solidFill>
                <a:latin typeface="Segoe UI Semibold"/>
              </a:rPr>
              <a:t>By design</a:t>
            </a:r>
          </a:p>
        </p:txBody>
      </p:sp>
      <p:sp>
        <p:nvSpPr>
          <p:cNvPr id="12" name="TextBox 11"/>
          <p:cNvSpPr txBox="1"/>
          <p:nvPr/>
        </p:nvSpPr>
        <p:spPr>
          <a:xfrm>
            <a:off x="502920" y="6518000"/>
            <a:ext cx="9000000" cy="240000"/>
          </a:xfrm>
          <a:prstGeom prst="rect">
            <a:avLst/>
          </a:prstGeom>
          <a:noFill/>
        </p:spPr>
        <p:txBody>
          <a:bodyPr wrap="square" anchor="t" lIns="0" rIns="0" tIns="0" bIns="0">
            <a:spAutoFit/>
          </a:bodyPr>
          <a:lstStyle/>
          <a:p>
            <a:pPr algn="l"/>
            <a:r>
              <a:rPr sz="900" b="0">
                <a:solidFill>
                  <a:srgbClr val="9B9384"/>
                </a:solidFill>
                <a:latin typeface="Segoe UI"/>
              </a:rPr>
              <a:t>BALKANEA WEB  •  SUPABASE VS MYSQL COMPARISON</a:t>
            </a:r>
          </a:p>
        </p:txBody>
      </p:sp>
      <p:sp>
        <p:nvSpPr>
          <p:cNvPr id="13" name="TextBox 12"/>
          <p:cNvSpPr txBox="1"/>
          <p:nvPr/>
        </p:nvSpPr>
        <p:spPr>
          <a:xfrm>
            <a:off x="11492000" y="6518000"/>
            <a:ext cx="400000" cy="240000"/>
          </a:xfrm>
          <a:prstGeom prst="rect">
            <a:avLst/>
          </a:prstGeom>
          <a:noFill/>
        </p:spPr>
        <p:txBody>
          <a:bodyPr wrap="square" anchor="t" lIns="0" rIns="0" tIns="0" bIns="0">
            <a:spAutoFit/>
          </a:bodyPr>
          <a:lstStyle/>
          <a:p>
            <a:pPr algn="r"/>
            <a:r>
              <a:rPr sz="900" b="0">
                <a:solidFill>
                  <a:srgbClr val="9B9384"/>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502920" y="560000"/>
            <a:ext cx="11185855" cy="300000"/>
          </a:xfrm>
          <a:prstGeom prst="rect">
            <a:avLst/>
          </a:prstGeom>
          <a:noFill/>
        </p:spPr>
        <p:txBody>
          <a:bodyPr wrap="square" anchor="t" lIns="0" rIns="0" tIns="0" bIns="0">
            <a:spAutoFit/>
          </a:bodyPr>
          <a:lstStyle/>
          <a:p>
            <a:pPr algn="l"/>
            <a:r>
              <a:rPr sz="1300" b="1">
                <a:solidFill>
                  <a:srgbClr val="7A3E0F"/>
                </a:solidFill>
                <a:latin typeface="Segoe UI Semibold"/>
              </a:rPr>
              <a:t>06  —  NEXT STEPS</a:t>
            </a:r>
          </a:p>
        </p:txBody>
      </p:sp>
      <p:sp>
        <p:nvSpPr>
          <p:cNvPr id="3" name="TextBox 2"/>
          <p:cNvSpPr txBox="1"/>
          <p:nvPr/>
        </p:nvSpPr>
        <p:spPr>
          <a:xfrm>
            <a:off x="502920" y="880000"/>
            <a:ext cx="11185855" cy="500000"/>
          </a:xfrm>
          <a:prstGeom prst="rect">
            <a:avLst/>
          </a:prstGeom>
          <a:noFill/>
        </p:spPr>
        <p:txBody>
          <a:bodyPr wrap="square" anchor="t" lIns="0" rIns="0" tIns="0" bIns="0">
            <a:spAutoFit/>
          </a:bodyPr>
          <a:lstStyle/>
          <a:p>
            <a:pPr algn="l"/>
            <a:r>
              <a:rPr sz="2400" b="1">
                <a:solidFill>
                  <a:srgbClr val="1A1A2E"/>
                </a:solidFill>
                <a:latin typeface="Segoe UI Semibold"/>
              </a:rPr>
              <a:t>Open items and where this goes next</a:t>
            </a:r>
          </a:p>
        </p:txBody>
      </p:sp>
      <p:sp>
        <p:nvSpPr>
          <p:cNvPr id="4" name="Rounded Rectangle 3"/>
          <p:cNvSpPr/>
          <p:nvPr/>
        </p:nvSpPr>
        <p:spPr>
          <a:xfrm>
            <a:off x="502920" y="1560000"/>
            <a:ext cx="11185855" cy="2820000"/>
          </a:xfrm>
          <a:prstGeom prst="roundRect">
            <a:avLst>
              <a:gd name="adj" fmla="val 3500"/>
            </a:avLst>
          </a:prstGeom>
          <a:solidFill>
            <a:srgbClr val="FFFFFF"/>
          </a:solidFill>
          <a:ln w="9525">
            <a:solidFill>
              <a:srgbClr val="ECE6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2920" y="1720000"/>
            <a:ext cx="9625855" cy="360000"/>
          </a:xfrm>
          <a:prstGeom prst="rect">
            <a:avLst/>
          </a:prstGeom>
          <a:noFill/>
        </p:spPr>
        <p:txBody>
          <a:bodyPr wrap="square" anchor="t" lIns="0" rIns="0" tIns="0" bIns="0">
            <a:spAutoFit/>
          </a:bodyPr>
          <a:lstStyle/>
          <a:p>
            <a:pPr algn="l"/>
            <a:r>
              <a:rPr sz="1500" b="1">
                <a:solidFill>
                  <a:srgbClr val="1A1A2E"/>
                </a:solidFill>
                <a:latin typeface="Segoe UI Semibold"/>
              </a:rPr>
              <a:t>Open items</a:t>
            </a:r>
          </a:p>
        </p:txBody>
      </p:sp>
      <p:sp>
        <p:nvSpPr>
          <p:cNvPr id="6" name="TextBox 5"/>
          <p:cNvSpPr txBox="1"/>
          <p:nvPr/>
        </p:nvSpPr>
        <p:spPr>
          <a:xfrm>
            <a:off x="782920" y="2120000"/>
            <a:ext cx="9625855" cy="2120000"/>
          </a:xfrm>
          <a:prstGeom prst="rect">
            <a:avLst/>
          </a:prstGeom>
          <a:noFill/>
        </p:spPr>
        <p:txBody>
          <a:bodyPr wrap="square" anchor="t" lIns="0" rIns="0" tIns="0" bIns="0">
            <a:spAutoFit/>
          </a:bodyPr>
          <a:lstStyle/>
          <a:p>
            <a:pPr algn="l">
              <a:lnSpc>
                <a:spcPct val="115000"/>
              </a:lnSpc>
            </a:pPr>
            <a:r>
              <a:rPr sz="1100" b="0">
                <a:solidFill>
                  <a:srgbClr val="6B6558"/>
                </a:solidFill>
                <a:latin typeface="Segoe UI"/>
              </a:rPr>
              <a:t/>
            </a:r>
          </a:p>
        </p:txBody>
      </p:sp>
      <p:sp>
        <p:nvSpPr>
          <p:cNvPr id="7" name="Rounded Rectangle 6"/>
          <p:cNvSpPr/>
          <p:nvPr/>
        </p:nvSpPr>
        <p:spPr>
          <a:xfrm>
            <a:off x="10408775" y="1760000"/>
            <a:ext cx="1000000" cy="280000"/>
          </a:xfrm>
          <a:prstGeom prst="roundRect">
            <a:avLst>
              <a:gd name="adj" fmla="val 50000"/>
            </a:avLst>
          </a:prstGeom>
          <a:solidFill>
            <a:srgbClr val="FBE8D3"/>
          </a:solidFill>
          <a:ln>
            <a:noFill/>
          </a:ln>
          <a:effectLst/>
        </p:spPr>
        <p:style>
          <a:lnRef idx="1">
            <a:schemeClr val="accent1"/>
          </a:lnRef>
          <a:fillRef idx="3">
            <a:schemeClr val="accent1"/>
          </a:fillRef>
          <a:effectRef idx="2">
            <a:schemeClr val="accent1"/>
          </a:effectRef>
          <a:fontRef idx="minor">
            <a:schemeClr val="lt1"/>
          </a:fontRef>
        </p:style>
        <p:txBody>
          <a:bodyPr rtlCol="0" anchor="ctr" lIns="60000" rIns="60000" tIns="0" bIns="0"/>
          <a:lstStyle/>
          <a:p>
            <a:pPr algn="ctr"/>
            <a:r>
              <a:rPr sz="1000" b="1">
                <a:solidFill>
                  <a:srgbClr val="9A5B0C"/>
                </a:solidFill>
                <a:latin typeface="Segoe UI Semibold"/>
              </a:rPr>
              <a:t>In progress</a:t>
            </a:r>
          </a:p>
        </p:txBody>
      </p:sp>
      <p:sp>
        <p:nvSpPr>
          <p:cNvPr id="8" name="TextBox 7"/>
          <p:cNvSpPr txBox="1"/>
          <p:nvPr/>
        </p:nvSpPr>
        <p:spPr>
          <a:xfrm>
            <a:off x="782920" y="2160000"/>
            <a:ext cx="4200000" cy="600000"/>
          </a:xfrm>
          <a:prstGeom prst="rect">
            <a:avLst/>
          </a:prstGeom>
          <a:noFill/>
        </p:spPr>
        <p:txBody>
          <a:bodyPr wrap="square" anchor="t" lIns="0" rIns="0" tIns="0" bIns="0">
            <a:spAutoFit/>
          </a:bodyPr>
          <a:lstStyle/>
          <a:p>
            <a:pPr algn="l">
              <a:lnSpc>
                <a:spcPct val="110000"/>
              </a:lnSpc>
            </a:pPr>
            <a:r>
              <a:rPr sz="1100" b="0">
                <a:solidFill>
                  <a:srgbClr val="6B6558"/>
                </a:solidFill>
                <a:latin typeface="Segoe UI"/>
              </a:rPr>
              <a:t>Find the real bottleneck: the shared amenities/filter step, not the DB fetch</a:t>
            </a:r>
          </a:p>
        </p:txBody>
      </p:sp>
      <p:sp>
        <p:nvSpPr>
          <p:cNvPr id="9" name="TextBox 8"/>
          <p:cNvSpPr txBox="1"/>
          <p:nvPr/>
        </p:nvSpPr>
        <p:spPr>
          <a:xfrm>
            <a:off x="5102920" y="2160000"/>
            <a:ext cx="6100000" cy="600000"/>
          </a:xfrm>
          <a:prstGeom prst="rect">
            <a:avLst/>
          </a:prstGeom>
          <a:noFill/>
        </p:spPr>
        <p:txBody>
          <a:bodyPr wrap="square" anchor="t" lIns="0" rIns="0" tIns="0" bIns="0">
            <a:spAutoFit/>
          </a:bodyPr>
          <a:lstStyle/>
          <a:p>
            <a:pPr algn="l">
              <a:lnSpc>
                <a:spcPct val="110000"/>
              </a:lnSpc>
            </a:pPr>
            <a:r>
              <a:rPr sz="1100" b="1">
                <a:solidFill>
                  <a:srgbClr val="1A1A2E"/>
                </a:solidFill>
                <a:latin typeface="Segoe UI Semibold"/>
              </a:rPr>
              <a:t>Chunk time is 3.3–4.5s; today's fixes touch only ~350ms of that. The still-MySQL-sourced amenities query and filter/sort work dominate on both sides — that's where the next real win has to come from.</a:t>
            </a:r>
          </a:p>
        </p:txBody>
      </p:sp>
      <p:sp>
        <p:nvSpPr>
          <p:cNvPr id="10" name="TextBox 9"/>
          <p:cNvSpPr txBox="1"/>
          <p:nvPr/>
        </p:nvSpPr>
        <p:spPr>
          <a:xfrm>
            <a:off x="782920" y="2760000"/>
            <a:ext cx="4200000" cy="600000"/>
          </a:xfrm>
          <a:prstGeom prst="rect">
            <a:avLst/>
          </a:prstGeom>
          <a:noFill/>
        </p:spPr>
        <p:txBody>
          <a:bodyPr wrap="square" anchor="t" lIns="0" rIns="0" tIns="0" bIns="0">
            <a:spAutoFit/>
          </a:bodyPr>
          <a:lstStyle/>
          <a:p>
            <a:pPr algn="l">
              <a:lnSpc>
                <a:spcPct val="110000"/>
              </a:lnSpc>
            </a:pPr>
            <a:r>
              <a:rPr sz="1100" b="0">
                <a:solidFill>
                  <a:srgbClr val="6B6558"/>
                </a:solidFill>
                <a:latin typeface="Segoe UI"/>
              </a:rPr>
              <a:t>Flag the today's-date plugin-directory incident to Hristijan</a:t>
            </a:r>
          </a:p>
        </p:txBody>
      </p:sp>
      <p:sp>
        <p:nvSpPr>
          <p:cNvPr id="11" name="TextBox 10"/>
          <p:cNvSpPr txBox="1"/>
          <p:nvPr/>
        </p:nvSpPr>
        <p:spPr>
          <a:xfrm>
            <a:off x="5102920" y="2760000"/>
            <a:ext cx="6100000" cy="600000"/>
          </a:xfrm>
          <a:prstGeom prst="rect">
            <a:avLst/>
          </a:prstGeom>
          <a:noFill/>
        </p:spPr>
        <p:txBody>
          <a:bodyPr wrap="square" anchor="t" lIns="0" rIns="0" tIns="0" bIns="0">
            <a:spAutoFit/>
          </a:bodyPr>
          <a:lstStyle/>
          <a:p>
            <a:pPr algn="l">
              <a:lnSpc>
                <a:spcPct val="110000"/>
              </a:lnSpc>
            </a:pPr>
            <a:r>
              <a:rPr sz="1100" b="1">
                <a:solidFill>
                  <a:srgbClr val="1A1A2E"/>
                </a:solidFill>
                <a:latin typeface="Segoe UI Semibold"/>
              </a:rPr>
              <a:t>Something outside this session replaced wp-content/plugins/ today, wiping the fork's files — worth checking blast radius on other plugins</a:t>
            </a:r>
          </a:p>
        </p:txBody>
      </p:sp>
      <p:sp>
        <p:nvSpPr>
          <p:cNvPr id="12" name="TextBox 11"/>
          <p:cNvSpPr txBox="1"/>
          <p:nvPr/>
        </p:nvSpPr>
        <p:spPr>
          <a:xfrm>
            <a:off x="782920" y="3360000"/>
            <a:ext cx="4200000" cy="500000"/>
          </a:xfrm>
          <a:prstGeom prst="rect">
            <a:avLst/>
          </a:prstGeom>
          <a:noFill/>
        </p:spPr>
        <p:txBody>
          <a:bodyPr wrap="square" anchor="t" lIns="0" rIns="0" tIns="0" bIns="0">
            <a:spAutoFit/>
          </a:bodyPr>
          <a:lstStyle/>
          <a:p>
            <a:pPr algn="l">
              <a:lnSpc>
                <a:spcPct val="110000"/>
              </a:lnSpc>
            </a:pPr>
            <a:r>
              <a:rPr sz="1100" b="0">
                <a:solidFill>
                  <a:srgbClr val="6B6558"/>
                </a:solidFill>
                <a:latin typeface="Segoe UI"/>
              </a:rPr>
              <a:t>Real production page still renders blank</a:t>
            </a:r>
          </a:p>
        </p:txBody>
      </p:sp>
      <p:sp>
        <p:nvSpPr>
          <p:cNvPr id="13" name="TextBox 12"/>
          <p:cNvSpPr txBox="1"/>
          <p:nvPr/>
        </p:nvSpPr>
        <p:spPr>
          <a:xfrm>
            <a:off x="5102920" y="3360000"/>
            <a:ext cx="6100000" cy="500000"/>
          </a:xfrm>
          <a:prstGeom prst="rect">
            <a:avLst/>
          </a:prstGeom>
          <a:noFill/>
        </p:spPr>
        <p:txBody>
          <a:bodyPr wrap="square" anchor="t" lIns="0" rIns="0" tIns="0" bIns="0">
            <a:spAutoFit/>
          </a:bodyPr>
          <a:lstStyle/>
          <a:p>
            <a:pPr algn="l">
              <a:lnSpc>
                <a:spcPct val="110000"/>
              </a:lnSpc>
            </a:pPr>
            <a:r>
              <a:rPr sz="1100" b="1">
                <a:solidFill>
                  <a:srgbClr val="1A1A2E"/>
                </a:solidFill>
                <a:latin typeface="Segoe UI Semibold"/>
              </a:rPr>
              <a:t>Pre-existing, confirmed unrelated to this work — needs separate investigation on the tech team's side</a:t>
            </a:r>
          </a:p>
        </p:txBody>
      </p:sp>
      <p:sp>
        <p:nvSpPr>
          <p:cNvPr id="14" name="TextBox 13"/>
          <p:cNvSpPr txBox="1"/>
          <p:nvPr/>
        </p:nvSpPr>
        <p:spPr>
          <a:xfrm>
            <a:off x="782920" y="3860000"/>
            <a:ext cx="4200000" cy="340000"/>
          </a:xfrm>
          <a:prstGeom prst="rect">
            <a:avLst/>
          </a:prstGeom>
          <a:noFill/>
        </p:spPr>
        <p:txBody>
          <a:bodyPr wrap="square" anchor="t" lIns="0" rIns="0" tIns="0" bIns="0">
            <a:spAutoFit/>
          </a:bodyPr>
          <a:lstStyle/>
          <a:p>
            <a:pPr algn="l">
              <a:lnSpc>
                <a:spcPct val="110000"/>
              </a:lnSpc>
            </a:pPr>
            <a:r>
              <a:rPr sz="1100" b="0">
                <a:solidFill>
                  <a:srgbClr val="6B6558"/>
                </a:solidFill>
                <a:latin typeface="Segoe UI"/>
              </a:rPr>
              <a:t>Engage Fable 5 on further user-facing speed options</a:t>
            </a:r>
          </a:p>
        </p:txBody>
      </p:sp>
      <p:sp>
        <p:nvSpPr>
          <p:cNvPr id="15" name="TextBox 14"/>
          <p:cNvSpPr txBox="1"/>
          <p:nvPr/>
        </p:nvSpPr>
        <p:spPr>
          <a:xfrm>
            <a:off x="5102920" y="3860000"/>
            <a:ext cx="6100000" cy="340000"/>
          </a:xfrm>
          <a:prstGeom prst="rect">
            <a:avLst/>
          </a:prstGeom>
          <a:noFill/>
        </p:spPr>
        <p:txBody>
          <a:bodyPr wrap="square" anchor="t" lIns="0" rIns="0" tIns="0" bIns="0">
            <a:spAutoFit/>
          </a:bodyPr>
          <a:lstStyle/>
          <a:p>
            <a:pPr algn="l">
              <a:lnSpc>
                <a:spcPct val="110000"/>
              </a:lnSpc>
            </a:pPr>
            <a:r>
              <a:rPr sz="1100" b="1">
                <a:solidFill>
                  <a:srgbClr val="1A1A2E"/>
                </a:solidFill>
                <a:latin typeface="Segoe UI Semibold"/>
              </a:rPr>
              <a:t>Beyond today's Tier-1 DB fixes — exploring what else moves the needle on perceived load time, in progress</a:t>
            </a:r>
          </a:p>
        </p:txBody>
      </p:sp>
      <p:sp>
        <p:nvSpPr>
          <p:cNvPr id="16" name="TextBox 15"/>
          <p:cNvSpPr txBox="1"/>
          <p:nvPr/>
        </p:nvSpPr>
        <p:spPr>
          <a:xfrm>
            <a:off x="502920" y="6518000"/>
            <a:ext cx="9000000" cy="240000"/>
          </a:xfrm>
          <a:prstGeom prst="rect">
            <a:avLst/>
          </a:prstGeom>
          <a:noFill/>
        </p:spPr>
        <p:txBody>
          <a:bodyPr wrap="square" anchor="t" lIns="0" rIns="0" tIns="0" bIns="0">
            <a:spAutoFit/>
          </a:bodyPr>
          <a:lstStyle/>
          <a:p>
            <a:pPr algn="l"/>
            <a:r>
              <a:rPr sz="900" b="0">
                <a:solidFill>
                  <a:srgbClr val="9B9384"/>
                </a:solidFill>
                <a:latin typeface="Segoe UI"/>
              </a:rPr>
              <a:t>BALKANEA WEB  •  SUPABASE VS MYSQL COMPARISON</a:t>
            </a:r>
          </a:p>
        </p:txBody>
      </p:sp>
      <p:sp>
        <p:nvSpPr>
          <p:cNvPr id="17" name="TextBox 16"/>
          <p:cNvSpPr txBox="1"/>
          <p:nvPr/>
        </p:nvSpPr>
        <p:spPr>
          <a:xfrm>
            <a:off x="11492000" y="6518000"/>
            <a:ext cx="400000" cy="240000"/>
          </a:xfrm>
          <a:prstGeom prst="rect">
            <a:avLst/>
          </a:prstGeom>
          <a:noFill/>
        </p:spPr>
        <p:txBody>
          <a:bodyPr wrap="square" anchor="t" lIns="0" rIns="0" tIns="0" bIns="0">
            <a:spAutoFit/>
          </a:bodyPr>
          <a:lstStyle/>
          <a:p>
            <a:pPr algn="r"/>
            <a:r>
              <a:rPr sz="900" b="0">
                <a:solidFill>
                  <a:srgbClr val="9B9384"/>
                </a:solidFill>
                <a:latin typeface="Segoe UI"/>
              </a:rPr>
              <a:t>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