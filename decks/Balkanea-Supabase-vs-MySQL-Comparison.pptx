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Real production (MySQL)</c:v>
                </c:pt>
              </c:strCache>
            </c:strRef>
          </c:tx>
          <c:spPr>
            <a:solidFill>
              <a:srgbClr val="1F7A4D"/>
            </a:solidFill>
          </c:spPr>
          <c:cat>
            <c:strRef>
              <c:f>Sheet1!$A$2:$A$3</c:f>
              <c:strCache>
                <c:ptCount val="2"/>
                <c:pt idx="0">
                  <c:v>Range A: Nov 15–18
(MySQL run 1st)</c:v>
                </c:pt>
                <c:pt idx="1">
                  <c:v>Range B: Dec 20–23
(Supabase run 1st)</c:v>
                </c:pt>
              </c:strCache>
            </c:strRef>
          </c:cat>
          <c:val>
            <c:numRef>
              <c:f>Sheet1!$B$2:$B$3</c:f>
              <c:numCache>
                <c:formatCode>General</c:formatCode>
                <c:ptCount val="2"/>
                <c:pt idx="0">
                  <c:v>66.9</c:v>
                </c:pt>
                <c:pt idx="1">
                  <c:v>76.6</c:v>
                </c:pt>
              </c:numCache>
            </c:numRef>
          </c:val>
        </c:ser>
        <c:ser>
          <c:idx val="1"/>
          <c:order val="1"/>
          <c:tx>
            <c:strRef>
              <c:f>Sheet1!$C$1</c:f>
              <c:strCache>
                <c:ptCount val="1"/>
                <c:pt idx="0">
                  <c:v>Supabase (fork)</c:v>
                </c:pt>
              </c:strCache>
            </c:strRef>
          </c:tx>
          <c:spPr>
            <a:solidFill>
              <a:srgbClr val="E08E1D"/>
            </a:solidFill>
          </c:spPr>
          <c:cat>
            <c:strRef>
              <c:f>Sheet1!$A$2:$A$3</c:f>
              <c:strCache>
                <c:ptCount val="2"/>
                <c:pt idx="0">
                  <c:v>Range A: Nov 15–18
(MySQL run 1st)</c:v>
                </c:pt>
                <c:pt idx="1">
                  <c:v>Range B: Dec 20–23
(Supabase run 1st)</c:v>
                </c:pt>
              </c:strCache>
            </c:strRef>
          </c:cat>
          <c:val>
            <c:numRef>
              <c:f>Sheet1!$C$2:$C$3</c:f>
              <c:numCache>
                <c:formatCode>General</c:formatCode>
                <c:ptCount val="2"/>
                <c:pt idx="0">
                  <c:v>122.3</c:v>
                </c:pt>
                <c:pt idx="1">
                  <c:v>112.3</c:v>
                </c:pt>
              </c:numCache>
            </c:numRef>
          </c:val>
        </c:ser>
        <c:dLbls>
          <c:numFmt formatCode="0.0&quot;s&quot;" sourceLinked="0"/>
          <c:txPr>
            <a:bodyPr/>
            <a:lstStyle/>
            <a:p>
              <a:pPr>
                <a:defRPr sz="1000">
                  <a:latin typeface="Segoe U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val="0"/>
        <c:axPos val="l"/>
        <c:majorGridlines/>
        <c:title>
          <c:tx>
            <c:rich>
              <a:bodyPr/>
              <a:lstStyle/>
              <a:p>
                <a:r>
                  <a:rPr sz="900"/>
                  <a:t>Total seconds, full search → result count settled</a:t>
                </a:r>
              </a:p>
            </c:rich>
          </c:tx>
          <c:layout/>
          <c:overlay val="0"/>
        </c:title>
        <c:majorTickMark val="out"/>
        <c:minorTickMark val="none"/>
        <c:tickLblPos val="nextTo"/>
        <c:txPr>
          <a:bodyPr/>
          <a:lstStyle/>
          <a:p>
            <a:pPr>
              <a:defRPr sz="900"/>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percentStacked"/>
        <c:ser>
          <c:idx val="0"/>
          <c:order val="0"/>
          <c:tx>
            <c:strRef>
              <c:f>Sheet1!$B$1</c:f>
              <c:strCache>
                <c:ptCount val="1"/>
                <c:pt idx="0">
                  <c:v>WP nonce refresh</c:v>
                </c:pt>
              </c:strCache>
            </c:strRef>
          </c:tx>
          <c:spPr>
            <a:solidFill>
              <a:srgbClr val="1C4E80"/>
            </a:solidFill>
          </c:spPr>
          <c:cat>
            <c:strRef>
              <c:f>Sheet1!$A$2:$A$2</c:f>
              <c:strCache>
                <c:ptCount val="1"/>
                <c:pt idx="0">
                  <c:v>Cold Athens search (24.8s total)</c:v>
                </c:pt>
              </c:strCache>
            </c:strRef>
          </c:cat>
          <c:val>
            <c:numRef>
              <c:f>Sheet1!$B$2:$B$2</c:f>
              <c:numCache>
                <c:formatCode>General</c:formatCode>
                <c:ptCount val="1"/>
                <c:pt idx="0">
                  <c:v>33.6</c:v>
                </c:pt>
              </c:numCache>
            </c:numRef>
          </c:val>
        </c:ser>
        <c:ser>
          <c:idx val="1"/>
          <c:order val="1"/>
          <c:tx>
            <c:strRef>
              <c:f>Sheet1!$C$1</c:f>
              <c:strCache>
                <c:ptCount val="1"/>
                <c:pt idx="0">
                  <c:v>RateHawk + content fetch</c:v>
                </c:pt>
              </c:strCache>
            </c:strRef>
          </c:tx>
          <c:spPr>
            <a:solidFill>
              <a:srgbClr val="E08E1D"/>
            </a:solidFill>
          </c:spPr>
          <c:cat>
            <c:strRef>
              <c:f>Sheet1!$A$2:$A$2</c:f>
              <c:strCache>
                <c:ptCount val="1"/>
                <c:pt idx="0">
                  <c:v>Cold Athens search (24.8s total)</c:v>
                </c:pt>
              </c:strCache>
            </c:strRef>
          </c:cat>
          <c:val>
            <c:numRef>
              <c:f>Sheet1!$C$2:$C$2</c:f>
              <c:numCache>
                <c:formatCode>General</c:formatCode>
                <c:ptCount val="1"/>
                <c:pt idx="0">
                  <c:v>65.5</c:v>
                </c:pt>
              </c:numCache>
            </c:numRef>
          </c:val>
        </c:ser>
        <c:ser>
          <c:idx val="2"/>
          <c:order val="2"/>
          <c:tx>
            <c:strRef>
              <c:f>Sheet1!$D$1</c:f>
              <c:strCache>
                <c:ptCount val="1"/>
                <c:pt idx="0">
                  <c:v>Client render</c:v>
                </c:pt>
              </c:strCache>
            </c:strRef>
          </c:tx>
          <c:spPr>
            <a:solidFill>
              <a:srgbClr val="1F7A4D"/>
            </a:solidFill>
          </c:spPr>
          <c:cat>
            <c:strRef>
              <c:f>Sheet1!$A$2:$A$2</c:f>
              <c:strCache>
                <c:ptCount val="1"/>
                <c:pt idx="0">
                  <c:v>Cold Athens search (24.8s total)</c:v>
                </c:pt>
              </c:strCache>
            </c:strRef>
          </c:cat>
          <c:val>
            <c:numRef>
              <c:f>Sheet1!$D$2:$D$2</c:f>
              <c:numCache>
                <c:formatCode>General</c:formatCode>
                <c:ptCount val="1"/>
                <c:pt idx="0">
                  <c:v>0.9</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2A"/>
        </a:solidFill>
        <a:effectLst/>
      </p:bgPr>
    </p:bg>
    <p:spTree>
      <p:nvGrpSpPr>
        <p:cNvPr id="1" name=""/>
        <p:cNvGrpSpPr/>
        <p:nvPr/>
      </p:nvGrpSpPr>
      <p:grpSpPr/>
      <p:sp>
        <p:nvSpPr>
          <p:cNvPr id="2" name="TextBox 1"/>
          <p:cNvSpPr txBox="1"/>
          <p:nvPr/>
        </p:nvSpPr>
        <p:spPr>
          <a:xfrm>
            <a:off x="502920" y="1500000"/>
            <a:ext cx="11185855" cy="300000"/>
          </a:xfrm>
          <a:prstGeom prst="rect">
            <a:avLst/>
          </a:prstGeom>
          <a:noFill/>
        </p:spPr>
        <p:txBody>
          <a:bodyPr wrap="square" anchor="t" lIns="0" rIns="0" tIns="0" bIns="0">
            <a:spAutoFit/>
          </a:bodyPr>
          <a:lstStyle/>
          <a:p>
            <a:pPr algn="l"/>
            <a:r>
              <a:rPr sz="1400" b="1">
                <a:solidFill>
                  <a:srgbClr val="ED8323"/>
                </a:solidFill>
                <a:latin typeface="Segoe UI Semibold"/>
              </a:rPr>
              <a:t>BALKANEA WEB  •  HOTEL SEARCH DATA SOURCE</a:t>
            </a:r>
          </a:p>
        </p:txBody>
      </p:sp>
      <p:sp>
        <p:nvSpPr>
          <p:cNvPr id="3" name="TextBox 2"/>
          <p:cNvSpPr txBox="1"/>
          <p:nvPr/>
        </p:nvSpPr>
        <p:spPr>
          <a:xfrm>
            <a:off x="502920" y="1850000"/>
            <a:ext cx="11185855" cy="1400000"/>
          </a:xfrm>
          <a:prstGeom prst="rect">
            <a:avLst/>
          </a:prstGeom>
          <a:noFill/>
        </p:spPr>
        <p:txBody>
          <a:bodyPr wrap="square" anchor="t" lIns="0" rIns="0" tIns="0" bIns="0">
            <a:spAutoFit/>
          </a:bodyPr>
          <a:lstStyle/>
          <a:p>
            <a:pPr algn="l">
              <a:lnSpc>
                <a:spcPct val="105000"/>
              </a:lnSpc>
            </a:pPr>
            <a:r>
              <a:rPr sz="3800" b="1">
                <a:solidFill>
                  <a:srgbClr val="FBF6EE"/>
                </a:solidFill>
                <a:latin typeface="Segoe UI Semibold"/>
              </a:rPr>
              <a:t>Supabase vs MySQL</a:t>
            </a:r>
          </a:p>
          <a:p>
            <a:pPr algn="l">
              <a:lnSpc>
                <a:spcPct val="105000"/>
              </a:lnSpc>
            </a:pPr>
            <a:r>
              <a:rPr sz="3800" b="1">
                <a:solidFill>
                  <a:srgbClr val="FBF6EE"/>
                </a:solidFill>
                <a:latin typeface="Segoe UI Semibold"/>
              </a:rPr>
              <a:t>Apples-to-Apples Comparison</a:t>
            </a:r>
          </a:p>
        </p:txBody>
      </p:sp>
      <p:sp>
        <p:nvSpPr>
          <p:cNvPr id="4" name="TextBox 3"/>
          <p:cNvSpPr txBox="1"/>
          <p:nvPr/>
        </p:nvSpPr>
        <p:spPr>
          <a:xfrm>
            <a:off x="502920" y="3350000"/>
            <a:ext cx="9800000" cy="700000"/>
          </a:xfrm>
          <a:prstGeom prst="rect">
            <a:avLst/>
          </a:prstGeom>
          <a:noFill/>
        </p:spPr>
        <p:txBody>
          <a:bodyPr wrap="square" anchor="t" lIns="0" rIns="0" tIns="0" bIns="0">
            <a:spAutoFit/>
          </a:bodyPr>
          <a:lstStyle/>
          <a:p>
            <a:pPr algn="l">
              <a:lnSpc>
                <a:spcPct val="125000"/>
              </a:lnSpc>
            </a:pPr>
            <a:r>
              <a:rPr sz="1450" b="0">
                <a:solidFill>
                  <a:srgbClr val="C9D9D3"/>
                </a:solidFill>
                <a:latin typeface="Segoe UI"/>
              </a:rPr>
              <a:t>A byte-identical fork of the real search page, with the ONLY difference being where static hotel content (name, photos, address, stars) comes from. Live RateHawk pricing is untouched on both. This deck covers what was built, today's performance work, and the real measured results.</a:t>
            </a:r>
          </a:p>
        </p:txBody>
      </p:sp>
      <p:sp>
        <p:nvSpPr>
          <p:cNvPr id="5" name="TextBox 4"/>
          <p:cNvSpPr txBox="1"/>
          <p:nvPr/>
        </p:nvSpPr>
        <p:spPr>
          <a:xfrm>
            <a:off x="502920" y="4350000"/>
            <a:ext cx="9800000" cy="300000"/>
          </a:xfrm>
          <a:prstGeom prst="rect">
            <a:avLst/>
          </a:prstGeom>
          <a:noFill/>
        </p:spPr>
        <p:txBody>
          <a:bodyPr wrap="square" anchor="t" lIns="0" rIns="0" tIns="0" bIns="0">
            <a:spAutoFit/>
          </a:bodyPr>
          <a:lstStyle/>
          <a:p>
            <a:pPr algn="l"/>
            <a:r>
              <a:rPr sz="1200" b="0">
                <a:solidFill>
                  <a:srgbClr val="9FB8AE"/>
                </a:solidFill>
                <a:latin typeface="Segoe UI"/>
              </a:rPr>
              <a:t>No production files modified  •  Fully isolated fork plugin  •  Live RateHawk pricing on both sides</a:t>
            </a:r>
          </a:p>
        </p:txBody>
      </p:sp>
      <p:sp>
        <p:nvSpPr>
          <p:cNvPr id="6" name="TextBox 5"/>
          <p:cNvSpPr txBox="1"/>
          <p:nvPr/>
        </p:nvSpPr>
        <p:spPr>
          <a:xfrm>
            <a:off x="502920" y="6358000"/>
            <a:ext cx="6000000" cy="300000"/>
          </a:xfrm>
          <a:prstGeom prst="rect">
            <a:avLst/>
          </a:prstGeom>
          <a:noFill/>
        </p:spPr>
        <p:txBody>
          <a:bodyPr wrap="square" anchor="t" lIns="0" rIns="0" tIns="0" bIns="0">
            <a:spAutoFit/>
          </a:bodyPr>
          <a:lstStyle/>
          <a:p>
            <a:pPr algn="l"/>
            <a:r>
              <a:rPr sz="1100" b="0">
                <a:solidFill>
                  <a:srgbClr val="9FB8AE"/>
                </a:solidFill>
                <a:latin typeface="Segoe UI"/>
              </a:rPr>
              <a:t>2026-09-14  •  performance re-run 2026-09-15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01  —  WHAT WAS BUILT</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A fully isolated fork, not a code change</a:t>
            </a:r>
          </a:p>
        </p:txBody>
      </p:sp>
      <p:sp>
        <p:nvSpPr>
          <p:cNvPr id="4" name="Rounded Rectangle 3"/>
          <p:cNvSpPr/>
          <p:nvPr/>
        </p:nvSpPr>
        <p:spPr>
          <a:xfrm>
            <a:off x="502920" y="1560000"/>
            <a:ext cx="11185855" cy="11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920" y="17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The constraint: zero production code changes</a:t>
            </a:r>
          </a:p>
        </p:txBody>
      </p:sp>
      <p:sp>
        <p:nvSpPr>
          <p:cNvPr id="6" name="TextBox 5"/>
          <p:cNvSpPr txBox="1"/>
          <p:nvPr/>
        </p:nvSpPr>
        <p:spPr>
          <a:xfrm>
            <a:off x="782920" y="2120000"/>
            <a:ext cx="9625855" cy="4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Hristijan required no edits to real files (Hotel.php, HotelBatchRenderer.php, HotelSearch.batch.js, Frontend.php). Since HotelBatchRenderer hardcodes “new Hotel()” internally with no injection point, subclassing wasn't viable — the only option that satisfies the constraint is a full fork.</a:t>
            </a:r>
          </a:p>
        </p:txBody>
      </p:sp>
      <p:sp>
        <p:nvSpPr>
          <p:cNvPr id="7" name="Rounded Rectangle 6"/>
          <p:cNvSpPr/>
          <p:nvPr/>
        </p:nvSpPr>
        <p:spPr>
          <a:xfrm>
            <a:off x="10408775" y="17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Live</a:t>
            </a:r>
          </a:p>
        </p:txBody>
      </p:sp>
      <p:sp>
        <p:nvSpPr>
          <p:cNvPr id="8" name="Rounded Rectangle 7"/>
          <p:cNvSpPr/>
          <p:nvPr/>
        </p:nvSpPr>
        <p:spPr>
          <a:xfrm>
            <a:off x="502920" y="2810000"/>
            <a:ext cx="11185855" cy="11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2920" y="297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One separate plugin, own AJAX actions, own cache</a:t>
            </a:r>
          </a:p>
        </p:txBody>
      </p:sp>
      <p:sp>
        <p:nvSpPr>
          <p:cNvPr id="10" name="TextBox 9"/>
          <p:cNvSpPr txBox="1"/>
          <p:nvPr/>
        </p:nvSpPr>
        <p:spPr>
          <a:xfrm>
            <a:off x="782920" y="3370000"/>
            <a:ext cx="9625855" cy="4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balkanea-supabase-search-compare/ — its own PHP classes (SupabaseHotel, SupabaseHotelBatchRenderer), its own JS fork, and its own transient cache prefix (bkea_cmp_*) so a warm real-page cache can never give the comparison page a free hit. Active only on one comparison page URL.</a:t>
            </a:r>
          </a:p>
        </p:txBody>
      </p:sp>
      <p:sp>
        <p:nvSpPr>
          <p:cNvPr id="11" name="Rounded Rectangle 10"/>
          <p:cNvSpPr/>
          <p:nvPr/>
        </p:nvSpPr>
        <p:spPr>
          <a:xfrm>
            <a:off x="10408775" y="301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Live</a:t>
            </a:r>
          </a:p>
        </p:txBody>
      </p:sp>
      <p:sp>
        <p:nvSpPr>
          <p:cNvPr id="12" name="Rounded Rectangle 11"/>
          <p:cNvSpPr/>
          <p:nvPr/>
        </p:nvSpPr>
        <p:spPr>
          <a:xfrm>
            <a:off x="502920" y="4060000"/>
            <a:ext cx="11185855" cy="11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920" y="42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Same live pricing, same template, same UI — different content source only</a:t>
            </a:r>
          </a:p>
        </p:txBody>
      </p:sp>
      <p:sp>
        <p:nvSpPr>
          <p:cNvPr id="14" name="TextBox 13"/>
          <p:cNvSpPr txBox="1"/>
          <p:nvPr/>
        </p:nvSpPr>
        <p:spPr>
          <a:xfrm>
            <a:off x="782920" y="4620000"/>
            <a:ext cx="9625855" cy="4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hotels-list-v2.php template, filters, sort, map, and the live RateHawk pricing call (HotelProvideFactory) are all inherited unchanged. Only the static hotel content lookup swaps MySQL (st_hotel) for Supabase (hotels table, partitioned by country_code).</a:t>
            </a:r>
          </a:p>
        </p:txBody>
      </p:sp>
      <p:sp>
        <p:nvSpPr>
          <p:cNvPr id="15" name="Rounded Rectangle 14"/>
          <p:cNvSpPr/>
          <p:nvPr/>
        </p:nvSpPr>
        <p:spPr>
          <a:xfrm>
            <a:off x="10408775" y="42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Live</a:t>
            </a:r>
          </a:p>
        </p:txBody>
      </p:sp>
      <p:sp>
        <p:nvSpPr>
          <p:cNvPr id="16" name="TextBox 15"/>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7" name="TextBox 16"/>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02  —  METHODOLOGY</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What's identical vs. what's deliberately different</a:t>
            </a:r>
          </a:p>
        </p:txBody>
      </p:sp>
      <p:sp>
        <p:nvSpPr>
          <p:cNvPr id="4" name="Rounded Rectangle 3"/>
          <p:cNvSpPr/>
          <p:nvPr/>
        </p:nvSpPr>
        <p:spPr>
          <a:xfrm>
            <a:off x="502920" y="1560000"/>
            <a:ext cx="11185855" cy="214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920" y="17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Held constant on both sides</a:t>
            </a:r>
          </a:p>
        </p:txBody>
      </p:sp>
      <p:sp>
        <p:nvSpPr>
          <p:cNvPr id="6" name="TextBox 5"/>
          <p:cNvSpPr txBox="1"/>
          <p:nvPr/>
        </p:nvSpPr>
        <p:spPr>
          <a:xfrm>
            <a:off x="782920" y="2120000"/>
            <a:ext cx="9625855" cy="144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
            </a:r>
          </a:p>
        </p:txBody>
      </p:sp>
      <p:sp>
        <p:nvSpPr>
          <p:cNvPr id="7" name="Rounded Rectangle 6"/>
          <p:cNvSpPr/>
          <p:nvPr/>
        </p:nvSpPr>
        <p:spPr>
          <a:xfrm>
            <a:off x="10408775" y="17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Controlled</a:t>
            </a:r>
          </a:p>
        </p:txBody>
      </p:sp>
      <p:sp>
        <p:nvSpPr>
          <p:cNvPr id="8" name="TextBox 7"/>
          <p:cNvSpPr txBox="1"/>
          <p:nvPr/>
        </p:nvSpPr>
        <p:spPr>
          <a:xfrm>
            <a:off x="782920" y="2160000"/>
            <a:ext cx="4200000" cy="3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Live RateHawk pricing call</a:t>
            </a:r>
          </a:p>
        </p:txBody>
      </p:sp>
      <p:sp>
        <p:nvSpPr>
          <p:cNvPr id="9" name="TextBox 8"/>
          <p:cNvSpPr txBox="1"/>
          <p:nvPr/>
        </p:nvSpPr>
        <p:spPr>
          <a:xfrm>
            <a:off x="5102920" y="2160000"/>
            <a:ext cx="6100000" cy="3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Identical — same HotelProvideFactory, same production API key</a:t>
            </a:r>
          </a:p>
        </p:txBody>
      </p:sp>
      <p:sp>
        <p:nvSpPr>
          <p:cNvPr id="10" name="TextBox 9"/>
          <p:cNvSpPr txBox="1"/>
          <p:nvPr/>
        </p:nvSpPr>
        <p:spPr>
          <a:xfrm>
            <a:off x="782920" y="2500000"/>
            <a:ext cx="4200000" cy="3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Search template &amp; UI</a:t>
            </a:r>
          </a:p>
        </p:txBody>
      </p:sp>
      <p:sp>
        <p:nvSpPr>
          <p:cNvPr id="11" name="TextBox 10"/>
          <p:cNvSpPr txBox="1"/>
          <p:nvPr/>
        </p:nvSpPr>
        <p:spPr>
          <a:xfrm>
            <a:off x="5102920" y="2500000"/>
            <a:ext cx="6100000" cy="3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Identical — hotels-list-v2.php, filters, sort, pagination</a:t>
            </a:r>
          </a:p>
        </p:txBody>
      </p:sp>
      <p:sp>
        <p:nvSpPr>
          <p:cNvPr id="12" name="TextBox 11"/>
          <p:cNvSpPr txBox="1"/>
          <p:nvPr/>
        </p:nvSpPr>
        <p:spPr>
          <a:xfrm>
            <a:off x="782920" y="2840000"/>
            <a:ext cx="4200000" cy="3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Chunked loading architecture</a:t>
            </a:r>
          </a:p>
        </p:txBody>
      </p:sp>
      <p:sp>
        <p:nvSpPr>
          <p:cNvPr id="13" name="TextBox 12"/>
          <p:cNvSpPr txBox="1"/>
          <p:nvPr/>
        </p:nvSpPr>
        <p:spPr>
          <a:xfrm>
            <a:off x="5102920" y="2840000"/>
            <a:ext cx="6100000" cy="3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Identical — 14 → 100 → 250 hotel chunk sizing, same 3-layer cache design</a:t>
            </a:r>
          </a:p>
        </p:txBody>
      </p:sp>
      <p:sp>
        <p:nvSpPr>
          <p:cNvPr id="14" name="TextBox 13"/>
          <p:cNvSpPr txBox="1"/>
          <p:nvPr/>
        </p:nvSpPr>
        <p:spPr>
          <a:xfrm>
            <a:off x="782920" y="3180000"/>
            <a:ext cx="4200000" cy="3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Map (Mapbox GL)</a:t>
            </a:r>
          </a:p>
        </p:txBody>
      </p:sp>
      <p:sp>
        <p:nvSpPr>
          <p:cNvPr id="15" name="TextBox 14"/>
          <p:cNvSpPr txBox="1"/>
          <p:nvPr/>
        </p:nvSpPr>
        <p:spPr>
          <a:xfrm>
            <a:off x="5102920" y="3180000"/>
            <a:ext cx="6100000" cy="3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Identical once fixed today — same map-search.js, same styling</a:t>
            </a:r>
          </a:p>
        </p:txBody>
      </p:sp>
      <p:sp>
        <p:nvSpPr>
          <p:cNvPr id="16" name="Rounded Rectangle 15"/>
          <p:cNvSpPr/>
          <p:nvPr/>
        </p:nvSpPr>
        <p:spPr>
          <a:xfrm>
            <a:off x="502920" y="3850000"/>
            <a:ext cx="11185855" cy="204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2920" y="401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The one deliberate variable</a:t>
            </a:r>
          </a:p>
        </p:txBody>
      </p:sp>
      <p:sp>
        <p:nvSpPr>
          <p:cNvPr id="18" name="TextBox 17"/>
          <p:cNvSpPr txBox="1"/>
          <p:nvPr/>
        </p:nvSpPr>
        <p:spPr>
          <a:xfrm>
            <a:off x="782920" y="4410000"/>
            <a:ext cx="9625855" cy="134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
            </a:r>
          </a:p>
        </p:txBody>
      </p:sp>
      <p:sp>
        <p:nvSpPr>
          <p:cNvPr id="19" name="Rounded Rectangle 18"/>
          <p:cNvSpPr/>
          <p:nvPr/>
        </p:nvSpPr>
        <p:spPr>
          <a:xfrm>
            <a:off x="10408775" y="4050000"/>
            <a:ext cx="1000000" cy="280000"/>
          </a:xfrm>
          <a:prstGeom prst="roundRect">
            <a:avLst>
              <a:gd name="adj" fmla="val 50000"/>
            </a:avLst>
          </a:prstGeom>
          <a:solidFill>
            <a:srgbClr val="DDE9F7"/>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C4E80"/>
                </a:solidFill>
                <a:latin typeface="Segoe UI Semibold"/>
              </a:rPr>
              <a:t>By design</a:t>
            </a:r>
          </a:p>
        </p:txBody>
      </p:sp>
      <p:sp>
        <p:nvSpPr>
          <p:cNvPr id="20" name="TextBox 19"/>
          <p:cNvSpPr txBox="1"/>
          <p:nvPr/>
        </p:nvSpPr>
        <p:spPr>
          <a:xfrm>
            <a:off x="782920" y="4450000"/>
            <a:ext cx="4200000" cy="3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Static hotel content source</a:t>
            </a:r>
          </a:p>
        </p:txBody>
      </p:sp>
      <p:sp>
        <p:nvSpPr>
          <p:cNvPr id="21" name="TextBox 20"/>
          <p:cNvSpPr txBox="1"/>
          <p:nvPr/>
        </p:nvSpPr>
        <p:spPr>
          <a:xfrm>
            <a:off x="5102920" y="4450000"/>
            <a:ext cx="6100000" cy="3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MySQL st_hotel  vs.  Supabase hotels (partitioned by country_code)</a:t>
            </a:r>
          </a:p>
        </p:txBody>
      </p:sp>
      <p:sp>
        <p:nvSpPr>
          <p:cNvPr id="22" name="TextBox 21"/>
          <p:cNvSpPr txBox="1"/>
          <p:nvPr/>
        </p:nvSpPr>
        <p:spPr>
          <a:xfrm>
            <a:off x="782920" y="4790000"/>
            <a:ext cx="4200000" cy="46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Hotel name / first photo</a:t>
            </a:r>
          </a:p>
        </p:txBody>
      </p:sp>
      <p:sp>
        <p:nvSpPr>
          <p:cNvPr id="23" name="TextBox 22"/>
          <p:cNvSpPr txBox="1"/>
          <p:nvPr/>
        </p:nvSpPr>
        <p:spPr>
          <a:xfrm>
            <a:off x="5102920" y="4790000"/>
            <a:ext cx="6100000" cy="46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Independently imported into each DB — can legitimately differ per hotel</a:t>
            </a:r>
          </a:p>
        </p:txBody>
      </p:sp>
      <p:sp>
        <p:nvSpPr>
          <p:cNvPr id="24" name="TextBox 23"/>
          <p:cNvSpPr txBox="1"/>
          <p:nvPr/>
        </p:nvSpPr>
        <p:spPr>
          <a:xfrm>
            <a:off x="782920" y="5250000"/>
            <a:ext cx="4200000" cy="46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Amenities / review-count filters</a:t>
            </a:r>
          </a:p>
        </p:txBody>
      </p:sp>
      <p:sp>
        <p:nvSpPr>
          <p:cNvPr id="25" name="TextBox 24"/>
          <p:cNvSpPr txBox="1"/>
          <p:nvPr/>
        </p:nvSpPr>
        <p:spPr>
          <a:xfrm>
            <a:off x="5102920" y="5250000"/>
            <a:ext cx="6100000" cy="46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Still MySQL-sourced on both sides — not yet ported (documented limitation)</a:t>
            </a:r>
          </a:p>
        </p:txBody>
      </p:sp>
      <p:sp>
        <p:nvSpPr>
          <p:cNvPr id="26" name="TextBox 25"/>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27" name="TextBox 26"/>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03  —  TODAY'S WORK</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Two backend fixes, verified live</a:t>
            </a:r>
          </a:p>
        </p:txBody>
      </p:sp>
      <p:sp>
        <p:nvSpPr>
          <p:cNvPr id="4" name="Rounded Rectangle 3"/>
          <p:cNvSpPr/>
          <p:nvPr/>
        </p:nvSpPr>
        <p:spPr>
          <a:xfrm>
            <a:off x="502920" y="1560000"/>
            <a:ext cx="11185855" cy="120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920" y="17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Fix 1 — cache the partition key instead of re-resolving it every chunk</a:t>
            </a:r>
          </a:p>
        </p:txBody>
      </p:sp>
      <p:sp>
        <p:nvSpPr>
          <p:cNvPr id="6" name="TextBox 5"/>
          <p:cNvSpPr txBox="1"/>
          <p:nvPr/>
        </p:nvSpPr>
        <p:spPr>
          <a:xfrm>
            <a:off x="782920" y="2120000"/>
            <a:ext cx="9625855" cy="50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hotels is partitioned by country_code (249 partitions); every chunk was re-running a region_names lookup for an answer that can't change within a search. Now resolved once per search and cached on the raw transient. Measured: 109ms saved per chunk (10-run isolated test, 107–110ms range).</a:t>
            </a:r>
          </a:p>
        </p:txBody>
      </p:sp>
      <p:sp>
        <p:nvSpPr>
          <p:cNvPr id="7" name="Rounded Rectangle 6"/>
          <p:cNvSpPr/>
          <p:nvPr/>
        </p:nvSpPr>
        <p:spPr>
          <a:xfrm>
            <a:off x="10408775" y="17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Shipped</a:t>
            </a:r>
          </a:p>
        </p:txBody>
      </p:sp>
      <p:sp>
        <p:nvSpPr>
          <p:cNvPr id="8" name="Rounded Rectangle 7"/>
          <p:cNvSpPr/>
          <p:nvPr/>
        </p:nvSpPr>
        <p:spPr>
          <a:xfrm>
            <a:off x="502920" y="2860000"/>
            <a:ext cx="11185855" cy="120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2920" y="30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Fix 2 — persistent DB connections (PDO::ATTR_PERSISTENT) + transaction-mode pooling</a:t>
            </a:r>
          </a:p>
        </p:txBody>
      </p:sp>
      <p:sp>
        <p:nvSpPr>
          <p:cNvPr id="10" name="TextBox 9"/>
          <p:cNvSpPr txBox="1"/>
          <p:nvPr/>
        </p:nvSpPr>
        <p:spPr>
          <a:xfrm>
            <a:off x="782920" y="3420000"/>
            <a:ext cx="9625855" cy="50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Verified empirically first: a worker-persistence probe (10 chunk-cadence-spaced requests) hit only 3 distinct PHP worker PIDs — workers here do survive between chunk requests, so a persistent connection can actually be reused. Paired with port 6543 (required for persistent connections to avoid pinning dedicated Postgres backends) and EMULATE_PREPARES for pooling safety.</a:t>
            </a:r>
          </a:p>
        </p:txBody>
      </p:sp>
      <p:sp>
        <p:nvSpPr>
          <p:cNvPr id="11" name="Rounded Rectangle 10"/>
          <p:cNvSpPr/>
          <p:nvPr/>
        </p:nvSpPr>
        <p:spPr>
          <a:xfrm>
            <a:off x="10408775" y="30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Shipped</a:t>
            </a:r>
          </a:p>
        </p:txBody>
      </p:sp>
      <p:sp>
        <p:nvSpPr>
          <p:cNvPr id="12" name="Rounded Rectangle 11"/>
          <p:cNvSpPr/>
          <p:nvPr/>
        </p:nvSpPr>
        <p:spPr>
          <a:xfrm>
            <a:off x="502920" y="4160000"/>
            <a:ext cx="11185855" cy="11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920" y="43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Isolated DB-layer effect — real, but a smaller slice of chunk time than hoped</a:t>
            </a:r>
          </a:p>
        </p:txBody>
      </p:sp>
      <p:sp>
        <p:nvSpPr>
          <p:cNvPr id="14" name="TextBox 13"/>
          <p:cNvSpPr txBox="1"/>
          <p:nvPr/>
        </p:nvSpPr>
        <p:spPr>
          <a:xfrm>
            <a:off x="782920" y="4720000"/>
            <a:ext cx="9625855" cy="4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1,293 ms/chunk (before) → 347 ms/chunk (both fixes), in an isolated DB-only benchmark. In the full request, chunk wall-time is 3.3–4.5s and is dominated by other shared-architecture work (the still-MySQL-sourced amenities query, filter/sort processing) — not primarily the piece fixed here. See next slide for what that means end to end.</a:t>
            </a:r>
          </a:p>
        </p:txBody>
      </p:sp>
      <p:sp>
        <p:nvSpPr>
          <p:cNvPr id="15" name="Rounded Rectangle 14"/>
          <p:cNvSpPr/>
          <p:nvPr/>
        </p:nvSpPr>
        <p:spPr>
          <a:xfrm>
            <a:off x="10408775" y="4360000"/>
            <a:ext cx="1000000" cy="280000"/>
          </a:xfrm>
          <a:prstGeom prst="roundRect">
            <a:avLst>
              <a:gd name="adj" fmla="val 50000"/>
            </a:avLst>
          </a:prstGeom>
          <a:solidFill>
            <a:srgbClr val="DDE9F7"/>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C4E80"/>
                </a:solidFill>
                <a:latin typeface="Segoe UI Semibold"/>
              </a:rPr>
              <a:t>Verified</a:t>
            </a:r>
          </a:p>
        </p:txBody>
      </p:sp>
      <p:sp>
        <p:nvSpPr>
          <p:cNvPr id="16" name="TextBox 15"/>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7" name="TextBox 16"/>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04  —  PERFORMANCE RESULTS</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Re-run 2026-09-15 — real Athens query, two fresh date ranges, both run orders</a:t>
            </a:r>
          </a:p>
        </p:txBody>
      </p:sp>
      <p:graphicFrame>
        <p:nvGraphicFramePr>
          <p:cNvPr id="4" name="Chart 3"/>
          <p:cNvGraphicFramePr>
            <a:graphicFrameLocks noGrp="1"/>
          </p:cNvGraphicFramePr>
          <p:nvPr/>
        </p:nvGraphicFramePr>
        <p:xfrm>
          <a:off x="502920" y="1500000"/>
          <a:ext cx="7300000" cy="3550000"/>
        </p:xfrm>
        <a:graphic>
          <a:graphicData uri="http://schemas.openxmlformats.org/drawingml/2006/chart">
            <c:chart xmlns:c="http://schemas.openxmlformats.org/drawingml/2006/chart" r:id="rId2"/>
          </a:graphicData>
        </a:graphic>
      </p:graphicFrame>
      <p:sp>
        <p:nvSpPr>
          <p:cNvPr id="5" name="Rounded Rectangle 4"/>
          <p:cNvSpPr/>
          <p:nvPr/>
        </p:nvSpPr>
        <p:spPr>
          <a:xfrm>
            <a:off x="8102920" y="1500000"/>
            <a:ext cx="3585855" cy="1750000"/>
          </a:xfrm>
          <a:prstGeom prst="roundRect">
            <a:avLst>
              <a:gd name="adj" fmla="val 60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2920" y="1650000"/>
            <a:ext cx="3145855" cy="300000"/>
          </a:xfrm>
          <a:prstGeom prst="rect">
            <a:avLst/>
          </a:prstGeom>
          <a:noFill/>
        </p:spPr>
        <p:txBody>
          <a:bodyPr wrap="square" anchor="t" lIns="0" rIns="0" tIns="0" bIns="0">
            <a:spAutoFit/>
          </a:bodyPr>
          <a:lstStyle/>
          <a:p>
            <a:pPr algn="l"/>
            <a:r>
              <a:rPr sz="1300" b="1">
                <a:solidFill>
                  <a:srgbClr val="1A1A2E"/>
                </a:solidFill>
                <a:latin typeface="Segoe UI Semibold"/>
              </a:rPr>
              <a:t>Both sides got much slower since 9/14 — and it's not the database</a:t>
            </a:r>
          </a:p>
        </p:txBody>
      </p:sp>
      <p:sp>
        <p:nvSpPr>
          <p:cNvPr id="7" name="TextBox 6"/>
          <p:cNvSpPr txBox="1"/>
          <p:nvPr/>
        </p:nvSpPr>
        <p:spPr>
          <a:xfrm>
            <a:off x="8322920" y="2000000"/>
            <a:ext cx="3145855" cy="11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MySQL now settles in 67–77s, Supabase in 112–122s — both far above the 14–18s baseline from 9/14. The Supabase-slower gap holds in BOTH run orders (MySQL-first and Supabase-first), so it isn't a warm-cache artifact — something got worse on both sides.</a:t>
            </a:r>
          </a:p>
        </p:txBody>
      </p:sp>
      <p:sp>
        <p:nvSpPr>
          <p:cNvPr id="8" name="Rounded Rectangle 7"/>
          <p:cNvSpPr/>
          <p:nvPr/>
        </p:nvSpPr>
        <p:spPr>
          <a:xfrm>
            <a:off x="8102920" y="3400000"/>
            <a:ext cx="3585855" cy="1650000"/>
          </a:xfrm>
          <a:prstGeom prst="roundRect">
            <a:avLst>
              <a:gd name="adj" fmla="val 60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2920" y="3550000"/>
            <a:ext cx="3145855" cy="300000"/>
          </a:xfrm>
          <a:prstGeom prst="rect">
            <a:avLst/>
          </a:prstGeom>
          <a:noFill/>
        </p:spPr>
        <p:txBody>
          <a:bodyPr wrap="square" anchor="t" lIns="0" rIns="0" tIns="0" bIns="0">
            <a:spAutoFit/>
          </a:bodyPr>
          <a:lstStyle/>
          <a:p>
            <a:pPr algn="l"/>
            <a:r>
              <a:rPr sz="1300" b="1">
                <a:solidFill>
                  <a:srgbClr val="1A1A2E"/>
                </a:solidFill>
                <a:latin typeface="Segoe UI Semibold"/>
              </a:rPr>
              <a:t>Why: a repeating/duplicate request loop, worse on Supabase</a:t>
            </a:r>
          </a:p>
        </p:txBody>
      </p:sp>
      <p:sp>
        <p:nvSpPr>
          <p:cNvPr id="10" name="TextBox 9"/>
          <p:cNvSpPr txBox="1"/>
          <p:nvPr/>
        </p:nvSpPr>
        <p:spPr>
          <a:xfrm>
            <a:off x="8322920" y="3900000"/>
            <a:ext cx="3145855" cy="10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Even driven by URL navigation (not a Search click), both sides fire literal duplicate concurrent chunk requests and keep polling every ~4s well after real results stop growing. Supabase's final hotel count (578–633) is ~2x MySQL's (295–326) for the identical query — almost certainly duplicated chunks, not real extra inventory.</a:t>
            </a:r>
          </a:p>
        </p:txBody>
      </p:sp>
      <p:sp>
        <p:nvSpPr>
          <p:cNvPr id="11" name="TextBox 10"/>
          <p:cNvSpPr txBox="1"/>
          <p:nvPr/>
        </p:nvSpPr>
        <p:spPr>
          <a:xfrm>
            <a:off x="502920" y="5250000"/>
            <a:ext cx="11185855" cy="600000"/>
          </a:xfrm>
          <a:prstGeom prst="rect">
            <a:avLst/>
          </a:prstGeom>
          <a:noFill/>
        </p:spPr>
        <p:txBody>
          <a:bodyPr wrap="square" anchor="t" lIns="0" rIns="0" tIns="0" bIns="0">
            <a:spAutoFit/>
          </a:bodyPr>
          <a:lstStyle/>
          <a:p>
            <a:pPr algn="l">
              <a:lnSpc>
                <a:spcPct val="120000"/>
              </a:lnSpc>
            </a:pPr>
            <a:r>
              <a:rPr sz="1000" b="0">
                <a:solidFill>
                  <a:srgbClr val="9B9384"/>
                </a:solidFill>
                <a:latin typeface="Segoe UI"/>
              </a:rPr>
              <a:t>Method: direct URL navigation (bypasses the known Search-click double-submit path), Performance Resource Timing on admin-ajax.php, two Athens date ranges not touched in prior testing, each side run both first and second to rule out order/warm-cache bias. “Settled” = displayed hotel count and request count both unchanged for 20–30s. Full raw timings in Mobile/decks/perf_runs.json.</a:t>
            </a:r>
          </a:p>
        </p:txBody>
      </p:sp>
      <p:sp>
        <p:nvSpPr>
          <p:cNvPr id="12" name="TextBox 11"/>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3" name="TextBox 12"/>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05  —  VISUAL PARITY</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Map fix, and what's still an open, expected difference</a:t>
            </a:r>
          </a:p>
        </p:txBody>
      </p:sp>
      <p:sp>
        <p:nvSpPr>
          <p:cNvPr id="4" name="Rounded Rectangle 3"/>
          <p:cNvSpPr/>
          <p:nvPr/>
        </p:nvSpPr>
        <p:spPr>
          <a:xfrm>
            <a:off x="502920" y="1560000"/>
            <a:ext cx="11185855" cy="150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920" y="17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Map fix (three layered bugs, all resolved today)</a:t>
            </a:r>
          </a:p>
        </p:txBody>
      </p:sp>
      <p:sp>
        <p:nvSpPr>
          <p:cNvPr id="6" name="TextBox 5"/>
          <p:cNvSpPr txBox="1"/>
          <p:nvPr/>
        </p:nvSpPr>
        <p:spPr>
          <a:xfrm>
            <a:off x="782920" y="2120000"/>
            <a:ext cx="9625855" cy="80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1) map-search.js / Mapbox GL were never enqueued on this page — traced to an infrastructure change earlier today that also silently dropped the fork's files, unrelated to the DB work above.</a:t>
            </a:r>
          </a:p>
          <a:p>
            <a:pPr algn="l">
              <a:lnSpc>
                <a:spcPct val="115000"/>
              </a:lnSpc>
            </a:pPr>
            <a:r>
              <a:rPr sz="1100" b="0">
                <a:solidFill>
                  <a:srgbClr val="6B6558"/>
                </a:solidFill>
                <a:latin typeface="Segoe UI"/>
              </a:rPr>
              <a:t>2) Wrong Mapbox API-key option name (api_key_mapbox, not apiKeyMapbox).</a:t>
            </a:r>
          </a:p>
          <a:p>
            <a:pPr algn="l">
              <a:lnSpc>
                <a:spcPct val="115000"/>
              </a:lnSpc>
            </a:pPr>
            <a:r>
              <a:rPr sz="1100" b="0">
                <a:solidFill>
                  <a:srgbClr val="6B6558"/>
                </a:solidFill>
                <a:latin typeface="Segoe UI"/>
              </a:rPr>
              <a:t>3) #map's height tracked the results list's full length → an extremely tall/narrow container broke fitBounds's aspect ratio, panning the view into unrelated terrain. Fixed with a viewport-height, sticky map panel plus a settle-point re-fit once the full result set has loaded.</a:t>
            </a:r>
          </a:p>
        </p:txBody>
      </p:sp>
      <p:sp>
        <p:nvSpPr>
          <p:cNvPr id="7" name="Rounded Rectangle 6"/>
          <p:cNvSpPr/>
          <p:nvPr/>
        </p:nvSpPr>
        <p:spPr>
          <a:xfrm>
            <a:off x="10408775" y="17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Fixed</a:t>
            </a:r>
          </a:p>
        </p:txBody>
      </p:sp>
      <p:sp>
        <p:nvSpPr>
          <p:cNvPr id="8" name="Rounded Rectangle 7"/>
          <p:cNvSpPr/>
          <p:nvPr/>
        </p:nvSpPr>
        <p:spPr>
          <a:xfrm>
            <a:off x="502920" y="3260000"/>
            <a:ext cx="11185855" cy="15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2920" y="34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Hotel names &amp; hero photos differ — expected, not a bug</a:t>
            </a:r>
          </a:p>
        </p:txBody>
      </p:sp>
      <p:sp>
        <p:nvSpPr>
          <p:cNvPr id="10" name="TextBox 9"/>
          <p:cNvSpPr txBox="1"/>
          <p:nvPr/>
        </p:nvSpPr>
        <p:spPr>
          <a:xfrm>
            <a:off x="782920" y="3820000"/>
            <a:ext cx="9625855" cy="8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Both DBs are matched to the same live RateHawk hid, but static content (name, first photo) was imported independently into each. Neither source is “the correct one” — MySQL's own hotel names have 3 confirmed mismatches against RateHawk's own live names too. Coverage note: Supabase matched 14/14 hotels in an earlier sampled batch vs. MySQL's 7–11/14 — more complete, differently-sourced content.</a:t>
            </a:r>
          </a:p>
        </p:txBody>
      </p:sp>
      <p:sp>
        <p:nvSpPr>
          <p:cNvPr id="11" name="Rounded Rectangle 10"/>
          <p:cNvSpPr/>
          <p:nvPr/>
        </p:nvSpPr>
        <p:spPr>
          <a:xfrm>
            <a:off x="10408775" y="3460000"/>
            <a:ext cx="1000000" cy="280000"/>
          </a:xfrm>
          <a:prstGeom prst="roundRect">
            <a:avLst>
              <a:gd name="adj" fmla="val 50000"/>
            </a:avLst>
          </a:prstGeom>
          <a:solidFill>
            <a:srgbClr val="DDE9F7"/>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C4E80"/>
                </a:solidFill>
                <a:latin typeface="Segoe UI Semibold"/>
              </a:rPr>
              <a:t>By design</a:t>
            </a:r>
          </a:p>
        </p:txBody>
      </p:sp>
      <p:sp>
        <p:nvSpPr>
          <p:cNvPr id="12" name="TextBox 11"/>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3" name="TextBox 12"/>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06  —  TEST SITE 3</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A third variant built to chase a 3–5s render — and the honest result</a:t>
            </a:r>
          </a:p>
        </p:txBody>
      </p:sp>
      <p:sp>
        <p:nvSpPr>
          <p:cNvPr id="4" name="Rounded Rectangle 3"/>
          <p:cNvSpPr/>
          <p:nvPr/>
        </p:nvSpPr>
        <p:spPr>
          <a:xfrm>
            <a:off x="502920" y="1560000"/>
            <a:ext cx="11185855" cy="11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920" y="17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What was built — “?fast=1” on the same comparison URL</a:t>
            </a:r>
          </a:p>
        </p:txBody>
      </p:sp>
      <p:sp>
        <p:nvSpPr>
          <p:cNvPr id="6" name="TextBox 5"/>
          <p:cNvSpPr txBox="1"/>
          <p:nvPr/>
        </p:nvSpPr>
        <p:spPr>
          <a:xfrm>
            <a:off x="782920" y="2120000"/>
            <a:ext cx="9625855" cy="4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A front-end skeleton-loading overlay (6 pulsing placeholder cards) fires the instant Search is clicked, replacing the spinner-only wait. Verified live: appears synchronously on click, is cleanly replaced by real results with no errors. It changes what the wait feels like — it does not, and was never claimed to, change the real backend timing.</a:t>
            </a:r>
          </a:p>
        </p:txBody>
      </p:sp>
      <p:sp>
        <p:nvSpPr>
          <p:cNvPr id="7" name="Rounded Rectangle 6"/>
          <p:cNvSpPr/>
          <p:nvPr/>
        </p:nvSpPr>
        <p:spPr>
          <a:xfrm>
            <a:off x="10408775" y="17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Shipped</a:t>
            </a:r>
          </a:p>
        </p:txBody>
      </p:sp>
      <p:sp>
        <p:nvSpPr>
          <p:cNvPr id="8" name="Rounded Rectangle 7"/>
          <p:cNvSpPr/>
          <p:nvPr/>
        </p:nvSpPr>
        <p:spPr>
          <a:xfrm>
            <a:off x="502920" y="2810000"/>
            <a:ext cx="11185855" cy="11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2920" y="297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One lever intentionally not pursued: RateHawk's own hotels_limit</a:t>
            </a:r>
          </a:p>
        </p:txBody>
      </p:sp>
      <p:sp>
        <p:nvSpPr>
          <p:cNvPr id="10" name="TextBox 9"/>
          <p:cNvSpPr txBox="1"/>
          <p:nvPr/>
        </p:nvSpPr>
        <p:spPr>
          <a:xfrm>
            <a:off x="782920" y="3370000"/>
            <a:ext cx="9625855" cy="4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Production's WorldotaProvider.php has a commented-out hotels_limit parameter that could shrink the live RateHawk response itself. Implementing it requires copying a file containing embedded API credentials — blocked by this session's own credential-handling safeguards. Skipped rather than worked around; flagged below for Hristijan's team to test directly on their own file.</a:t>
            </a:r>
          </a:p>
        </p:txBody>
      </p:sp>
      <p:sp>
        <p:nvSpPr>
          <p:cNvPr id="11" name="Rounded Rectangle 10"/>
          <p:cNvSpPr/>
          <p:nvPr/>
        </p:nvSpPr>
        <p:spPr>
          <a:xfrm>
            <a:off x="10408775" y="3010000"/>
            <a:ext cx="1000000" cy="280000"/>
          </a:xfrm>
          <a:prstGeom prst="roundRect">
            <a:avLst>
              <a:gd name="adj" fmla="val 50000"/>
            </a:avLst>
          </a:prstGeom>
          <a:solidFill>
            <a:srgbClr val="FBE8D3"/>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9A5B0C"/>
                </a:solidFill>
                <a:latin typeface="Segoe UI Semibold"/>
              </a:rPr>
              <a:t>Skipped</a:t>
            </a:r>
          </a:p>
        </p:txBody>
      </p:sp>
      <p:sp>
        <p:nvSpPr>
          <p:cNvPr id="12" name="Rounded Rectangle 11"/>
          <p:cNvSpPr/>
          <p:nvPr/>
        </p:nvSpPr>
        <p:spPr>
          <a:xfrm>
            <a:off x="502920" y="4060000"/>
            <a:ext cx="11185855" cy="14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920" y="42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The honest number: 3–5s is not achieved for a genuinely cold first search</a:t>
            </a:r>
          </a:p>
        </p:txBody>
      </p:sp>
      <p:sp>
        <p:nvSpPr>
          <p:cNvPr id="14" name="TextBox 13"/>
          <p:cNvSpPr txBox="1"/>
          <p:nvPr/>
        </p:nvSpPr>
        <p:spPr>
          <a:xfrm>
            <a:off x="782920" y="4620000"/>
            <a:ext cx="9625855" cy="7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Measured with a MutationObserver on the real click-to-render path (not polling, which earlier gave false 30–45s “stall” readings that turned out to just be the polling interval). Best clean real-content case on a small, never-cached destination: 11.0s. On Athens — the flagship, highest-inventory destination — a genuinely cold run measured 24.8s end to end. See the next slide for exactly where that time goes.</a:t>
            </a:r>
          </a:p>
        </p:txBody>
      </p:sp>
      <p:sp>
        <p:nvSpPr>
          <p:cNvPr id="15" name="Rounded Rectangle 14"/>
          <p:cNvSpPr/>
          <p:nvPr/>
        </p:nvSpPr>
        <p:spPr>
          <a:xfrm>
            <a:off x="10408775" y="4260000"/>
            <a:ext cx="1000000" cy="280000"/>
          </a:xfrm>
          <a:prstGeom prst="roundRect">
            <a:avLst>
              <a:gd name="adj" fmla="val 50000"/>
            </a:avLst>
          </a:prstGeom>
          <a:solidFill>
            <a:srgbClr val="DDE9F7"/>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C4E80"/>
                </a:solidFill>
                <a:latin typeface="Segoe UI Semibold"/>
              </a:rPr>
              <a:t>Measured</a:t>
            </a:r>
          </a:p>
        </p:txBody>
      </p:sp>
      <p:sp>
        <p:nvSpPr>
          <p:cNvPr id="16" name="TextBox 15"/>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7" name="TextBox 16"/>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07  —  WHERE THE TIME GOES</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Athens, cold search, click → hotels on screen: 24.8s broken down</a:t>
            </a:r>
          </a:p>
        </p:txBody>
      </p:sp>
      <p:graphicFrame>
        <p:nvGraphicFramePr>
          <p:cNvPr id="4" name="Chart 3"/>
          <p:cNvGraphicFramePr>
            <a:graphicFrameLocks noGrp="1"/>
          </p:cNvGraphicFramePr>
          <p:nvPr/>
        </p:nvGraphicFramePr>
        <p:xfrm>
          <a:off x="502920" y="1550000"/>
          <a:ext cx="7300000" cy="1500000"/>
        </p:xfrm>
        <a:graphic>
          <a:graphicData uri="http://schemas.openxmlformats.org/drawingml/2006/chart">
            <c:chart xmlns:c="http://schemas.openxmlformats.org/drawingml/2006/chart" r:id="rId2"/>
          </a:graphicData>
        </a:graphic>
      </p:graphicFrame>
      <p:sp>
        <p:nvSpPr>
          <p:cNvPr id="5" name="Rounded Rectangle 4"/>
          <p:cNvSpPr/>
          <p:nvPr/>
        </p:nvSpPr>
        <p:spPr>
          <a:xfrm>
            <a:off x="502920" y="3150000"/>
            <a:ext cx="11185855" cy="220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920" y="331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The three components, in order</a:t>
            </a:r>
          </a:p>
        </p:txBody>
      </p:sp>
      <p:sp>
        <p:nvSpPr>
          <p:cNvPr id="7" name="TextBox 6"/>
          <p:cNvSpPr txBox="1"/>
          <p:nvPr/>
        </p:nvSpPr>
        <p:spPr>
          <a:xfrm>
            <a:off x="782920" y="3710000"/>
            <a:ext cx="9625855" cy="150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
            </a:r>
          </a:p>
        </p:txBody>
      </p:sp>
      <p:sp>
        <p:nvSpPr>
          <p:cNvPr id="8" name="Rounded Rectangle 7"/>
          <p:cNvSpPr/>
          <p:nvPr/>
        </p:nvSpPr>
        <p:spPr>
          <a:xfrm>
            <a:off x="10408775" y="3350000"/>
            <a:ext cx="1000000" cy="280000"/>
          </a:xfrm>
          <a:prstGeom prst="roundRect">
            <a:avLst>
              <a:gd name="adj" fmla="val 50000"/>
            </a:avLst>
          </a:prstGeom>
          <a:solidFill>
            <a:srgbClr val="DDE9F7"/>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C4E80"/>
                </a:solidFill>
                <a:latin typeface="Segoe UI Semibold"/>
              </a:rPr>
              <a:t>Measured</a:t>
            </a:r>
          </a:p>
        </p:txBody>
      </p:sp>
      <p:sp>
        <p:nvSpPr>
          <p:cNvPr id="9" name="TextBox 8"/>
          <p:cNvSpPr txBox="1"/>
          <p:nvPr/>
        </p:nvSpPr>
        <p:spPr>
          <a:xfrm>
            <a:off x="782920" y="3750000"/>
            <a:ext cx="4200000" cy="5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WordPress nonce refresh (_getFreshNonce)</a:t>
            </a:r>
          </a:p>
        </p:txBody>
      </p:sp>
      <p:sp>
        <p:nvSpPr>
          <p:cNvPr id="10" name="TextBox 9"/>
          <p:cNvSpPr txBox="1"/>
          <p:nvPr/>
        </p:nvSpPr>
        <p:spPr>
          <a:xfrm>
            <a:off x="5102920" y="3750000"/>
            <a:ext cx="6100000" cy="5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8.4s  —  33.6% of total. A plain security-token round trip to admin-ajax.php — zero RateHawk or DB work, pure WP overhead, and it happens BEFORE the real search call is even allowed to fire.</a:t>
            </a:r>
          </a:p>
        </p:txBody>
      </p:sp>
      <p:sp>
        <p:nvSpPr>
          <p:cNvPr id="11" name="TextBox 10"/>
          <p:cNvSpPr txBox="1"/>
          <p:nvPr/>
        </p:nvSpPr>
        <p:spPr>
          <a:xfrm>
            <a:off x="782920" y="4290000"/>
            <a:ext cx="4200000" cy="5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Live RateHawk fetch + Supabase/MySQL content assembly</a:t>
            </a:r>
          </a:p>
        </p:txBody>
      </p:sp>
      <p:sp>
        <p:nvSpPr>
          <p:cNvPr id="12" name="TextBox 11"/>
          <p:cNvSpPr txBox="1"/>
          <p:nvPr/>
        </p:nvSpPr>
        <p:spPr>
          <a:xfrm>
            <a:off x="5102920" y="4290000"/>
            <a:ext cx="6100000" cy="5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16.3s  —  65.5% of total. The actual hotel search: live pricing round trip plus joining in static content (name, photos, address) for all matching hotels.</a:t>
            </a:r>
          </a:p>
        </p:txBody>
      </p:sp>
      <p:sp>
        <p:nvSpPr>
          <p:cNvPr id="13" name="TextBox 12"/>
          <p:cNvSpPr txBox="1"/>
          <p:nvPr/>
        </p:nvSpPr>
        <p:spPr>
          <a:xfrm>
            <a:off x="782920" y="4830000"/>
            <a:ext cx="4200000" cy="3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Client-side render (parse response, swap skeleton for real cards)</a:t>
            </a:r>
          </a:p>
        </p:txBody>
      </p:sp>
      <p:sp>
        <p:nvSpPr>
          <p:cNvPr id="14" name="TextBox 13"/>
          <p:cNvSpPr txBox="1"/>
          <p:nvPr/>
        </p:nvSpPr>
        <p:spPr>
          <a:xfrm>
            <a:off x="5102920" y="4830000"/>
            <a:ext cx="6100000" cy="3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0.2s  —  0.9% of total. Effectively free — not a place to look for savings.</a:t>
            </a:r>
          </a:p>
        </p:txBody>
      </p:sp>
      <p:sp>
        <p:nvSpPr>
          <p:cNvPr id="15" name="TextBox 14"/>
          <p:cNvSpPr txBox="1"/>
          <p:nvPr/>
        </p:nvSpPr>
        <p:spPr>
          <a:xfrm>
            <a:off x="502920" y="5580000"/>
            <a:ext cx="11185855" cy="880000"/>
          </a:xfrm>
          <a:prstGeom prst="rect">
            <a:avLst/>
          </a:prstGeom>
          <a:noFill/>
        </p:spPr>
        <p:txBody>
          <a:bodyPr wrap="square" anchor="t" lIns="0" rIns="0" tIns="0" bIns="0">
            <a:spAutoFit/>
          </a:bodyPr>
          <a:lstStyle/>
          <a:p>
            <a:pPr algn="l">
              <a:lnSpc>
                <a:spcPct val="115000"/>
              </a:lnSpc>
            </a:pPr>
            <a:r>
              <a:rPr sz="1000" b="0">
                <a:solidFill>
                  <a:srgbClr val="9B9384"/>
                </a:solidFill>
                <a:latin typeface="Segoe UI"/>
              </a:rPr>
              <a:t>Bug found while instrumenting this: the search FORM submits TWICE per single click (two independent “Form submitted” sequences from one click, confirmed via console log on synthetic and real OS-level clicks alike). Lives in production's shared hotel-search.js, not this fork. The fork's own generation-counter drops the stale duplicate, but the survivor sometimes then hit a hard client error (“Something went wrong”) instead of succeeding — seen after one plain click, 48s in. Doubles real RateHawk API call volume and server load per search either way.</a:t>
            </a:r>
          </a:p>
        </p:txBody>
      </p:sp>
      <p:sp>
        <p:nvSpPr>
          <p:cNvPr id="16" name="TextBox 15"/>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7" name="TextBox 16"/>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08  —  HOW TO MAKE IT FASTER</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One ranked list — by measured impact, biggest first</a:t>
            </a:r>
          </a:p>
        </p:txBody>
      </p:sp>
      <p:sp>
        <p:nvSpPr>
          <p:cNvPr id="4" name="Rounded Rectangle 3"/>
          <p:cNvSpPr/>
          <p:nvPr/>
        </p:nvSpPr>
        <p:spPr>
          <a:xfrm>
            <a:off x="502920" y="1560000"/>
            <a:ext cx="11185855" cy="165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920" y="17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#1 — Stop the repeating/duplicate admin-ajax loop</a:t>
            </a:r>
          </a:p>
        </p:txBody>
      </p:sp>
      <p:sp>
        <p:nvSpPr>
          <p:cNvPr id="6" name="TextBox 5"/>
          <p:cNvSpPr txBox="1"/>
          <p:nvPr/>
        </p:nvSpPr>
        <p:spPr>
          <a:xfrm>
            <a:off x="782920" y="2120000"/>
            <a:ext cx="9625855" cy="95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Biggest lever by far. Confirmed today on BOTH sides: literal concurrent duplicate chunk requests, plus a polling loop that keeps firing every ~4s well past when results stop growing. This alone is most of the gap between today's 67–122s totals and 9/14's 14–18s baseline — and it's why Supabase shows ~2x the hotel count MySQL does for the same query (duplicated chunks, not real inventory). Fix: the same dedup/stale-response guard Fix 2 already added for the click path, plus stop the loop on the real terminal chunk (hasMore:false) instead of retrying.</a:t>
            </a:r>
          </a:p>
        </p:txBody>
      </p:sp>
      <p:sp>
        <p:nvSpPr>
          <p:cNvPr id="7" name="Rounded Rectangle 6"/>
          <p:cNvSpPr/>
          <p:nvPr/>
        </p:nvSpPr>
        <p:spPr>
          <a:xfrm>
            <a:off x="10408775" y="17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Backend</a:t>
            </a:r>
          </a:p>
        </p:txBody>
      </p:sp>
      <p:sp>
        <p:nvSpPr>
          <p:cNvPr id="8" name="Rounded Rectangle 7"/>
          <p:cNvSpPr/>
          <p:nvPr/>
        </p:nvSpPr>
        <p:spPr>
          <a:xfrm>
            <a:off x="502920" y="3360000"/>
            <a:ext cx="11185855" cy="120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2920" y="35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#2 — Batch or parallelize chunk fetches instead of one every ~4s</a:t>
            </a:r>
          </a:p>
        </p:txBody>
      </p:sp>
      <p:sp>
        <p:nvSpPr>
          <p:cNvPr id="10" name="TextBox 9"/>
          <p:cNvSpPr txBox="1"/>
          <p:nvPr/>
        </p:nvSpPr>
        <p:spPr>
          <a:xfrm>
            <a:off x="782920" y="3920000"/>
            <a:ext cx="9625855" cy="50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Total time now scales almost linearly with hotel count (17–19 calls for MySQL, 26–29 for Supabase) because chunks fetch one at a time with a fixed pacing gap between them. Fetching 2–3 chunks concurrently would cut total time roughly in proportion, on top of the #1 fix.</a:t>
            </a:r>
          </a:p>
        </p:txBody>
      </p:sp>
      <p:sp>
        <p:nvSpPr>
          <p:cNvPr id="11" name="Rounded Rectangle 10"/>
          <p:cNvSpPr/>
          <p:nvPr/>
        </p:nvSpPr>
        <p:spPr>
          <a:xfrm>
            <a:off x="10408775" y="356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Backend</a:t>
            </a:r>
          </a:p>
        </p:txBody>
      </p:sp>
      <p:sp>
        <p:nvSpPr>
          <p:cNvPr id="12" name="Rounded Rectangle 11"/>
          <p:cNvSpPr/>
          <p:nvPr/>
        </p:nvSpPr>
        <p:spPr>
          <a:xfrm>
            <a:off x="502920" y="4710000"/>
            <a:ext cx="11185855" cy="120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920" y="487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#3 — Take the WordPress nonce refresh off the critical path</a:t>
            </a:r>
          </a:p>
        </p:txBody>
      </p:sp>
      <p:sp>
        <p:nvSpPr>
          <p:cNvPr id="14" name="TextBox 13"/>
          <p:cNvSpPr txBox="1"/>
          <p:nvPr/>
        </p:nvSpPr>
        <p:spPr>
          <a:xfrm>
            <a:off x="782920" y="5270000"/>
            <a:ext cx="9625855" cy="50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Still a fixed ~8.4s tax (33.6% of the original 24.8s search) on every search before either fix above even starts — pre-fetch it on page load, before Search is clicked. Smaller than #1/#2 today, but free once they're done.</a:t>
            </a:r>
          </a:p>
        </p:txBody>
      </p:sp>
      <p:sp>
        <p:nvSpPr>
          <p:cNvPr id="15" name="Rounded Rectangle 14"/>
          <p:cNvSpPr/>
          <p:nvPr/>
        </p:nvSpPr>
        <p:spPr>
          <a:xfrm>
            <a:off x="10408775" y="4910000"/>
            <a:ext cx="1000000" cy="280000"/>
          </a:xfrm>
          <a:prstGeom prst="roundRect">
            <a:avLst>
              <a:gd name="adj" fmla="val 50000"/>
            </a:avLst>
          </a:prstGeom>
          <a:solidFill>
            <a:srgbClr val="E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1F7A4D"/>
                </a:solidFill>
                <a:latin typeface="Segoe UI Semibold"/>
              </a:rPr>
              <a:t>Backend</a:t>
            </a:r>
          </a:p>
        </p:txBody>
      </p:sp>
      <p:sp>
        <p:nvSpPr>
          <p:cNvPr id="16" name="TextBox 15"/>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7" name="TextBox 16"/>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560000"/>
            <a:ext cx="11185855" cy="300000"/>
          </a:xfrm>
          <a:prstGeom prst="rect">
            <a:avLst/>
          </a:prstGeom>
          <a:noFill/>
        </p:spPr>
        <p:txBody>
          <a:bodyPr wrap="square" anchor="t" lIns="0" rIns="0" tIns="0" bIns="0">
            <a:spAutoFit/>
          </a:bodyPr>
          <a:lstStyle/>
          <a:p>
            <a:pPr algn="l"/>
            <a:r>
              <a:rPr sz="1300" b="1">
                <a:solidFill>
                  <a:srgbClr val="7A3E0F"/>
                </a:solidFill>
                <a:latin typeface="Segoe UI Semibold"/>
              </a:rPr>
              <a:t>09  —  NEXT STEPS</a:t>
            </a:r>
          </a:p>
        </p:txBody>
      </p:sp>
      <p:sp>
        <p:nvSpPr>
          <p:cNvPr id="3" name="TextBox 2"/>
          <p:cNvSpPr txBox="1"/>
          <p:nvPr/>
        </p:nvSpPr>
        <p:spPr>
          <a:xfrm>
            <a:off x="502920" y="880000"/>
            <a:ext cx="11185855" cy="500000"/>
          </a:xfrm>
          <a:prstGeom prst="rect">
            <a:avLst/>
          </a:prstGeom>
          <a:noFill/>
        </p:spPr>
        <p:txBody>
          <a:bodyPr wrap="square" anchor="t" lIns="0" rIns="0" tIns="0" bIns="0">
            <a:spAutoFit/>
          </a:bodyPr>
          <a:lstStyle/>
          <a:p>
            <a:pPr algn="l"/>
            <a:r>
              <a:rPr sz="2400" b="1">
                <a:solidFill>
                  <a:srgbClr val="1A1A2E"/>
                </a:solidFill>
                <a:latin typeface="Segoe UI Semibold"/>
              </a:rPr>
              <a:t>Open items and where this goes next</a:t>
            </a:r>
          </a:p>
        </p:txBody>
      </p:sp>
      <p:sp>
        <p:nvSpPr>
          <p:cNvPr id="4" name="Rounded Rectangle 3"/>
          <p:cNvSpPr/>
          <p:nvPr/>
        </p:nvSpPr>
        <p:spPr>
          <a:xfrm>
            <a:off x="502920" y="1560000"/>
            <a:ext cx="11185855" cy="2920000"/>
          </a:xfrm>
          <a:prstGeom prst="roundRect">
            <a:avLst>
              <a:gd name="adj" fmla="val 3500"/>
            </a:avLst>
          </a:prstGeom>
          <a:solidFill>
            <a:srgbClr val="FFFFFF"/>
          </a:solidFill>
          <a:ln w="9525">
            <a:solidFill>
              <a:srgbClr val="E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920" y="1720000"/>
            <a:ext cx="9625855" cy="360000"/>
          </a:xfrm>
          <a:prstGeom prst="rect">
            <a:avLst/>
          </a:prstGeom>
          <a:noFill/>
        </p:spPr>
        <p:txBody>
          <a:bodyPr wrap="square" anchor="t" lIns="0" rIns="0" tIns="0" bIns="0">
            <a:spAutoFit/>
          </a:bodyPr>
          <a:lstStyle/>
          <a:p>
            <a:pPr algn="l"/>
            <a:r>
              <a:rPr sz="1500" b="1">
                <a:solidFill>
                  <a:srgbClr val="1A1A2E"/>
                </a:solidFill>
                <a:latin typeface="Segoe UI Semibold"/>
              </a:rPr>
              <a:t>Open items</a:t>
            </a:r>
          </a:p>
        </p:txBody>
      </p:sp>
      <p:sp>
        <p:nvSpPr>
          <p:cNvPr id="6" name="TextBox 5"/>
          <p:cNvSpPr txBox="1"/>
          <p:nvPr/>
        </p:nvSpPr>
        <p:spPr>
          <a:xfrm>
            <a:off x="782920" y="2120000"/>
            <a:ext cx="9625855" cy="2220000"/>
          </a:xfrm>
          <a:prstGeom prst="rect">
            <a:avLst/>
          </a:prstGeom>
          <a:noFill/>
        </p:spPr>
        <p:txBody>
          <a:bodyPr wrap="square" anchor="t" lIns="0" rIns="0" tIns="0" bIns="0">
            <a:spAutoFit/>
          </a:bodyPr>
          <a:lstStyle/>
          <a:p>
            <a:pPr algn="l">
              <a:lnSpc>
                <a:spcPct val="115000"/>
              </a:lnSpc>
            </a:pPr>
            <a:r>
              <a:rPr sz="1100" b="0">
                <a:solidFill>
                  <a:srgbClr val="6B6558"/>
                </a:solidFill>
                <a:latin typeface="Segoe UI"/>
              </a:rPr>
              <a:t/>
            </a:r>
          </a:p>
        </p:txBody>
      </p:sp>
      <p:sp>
        <p:nvSpPr>
          <p:cNvPr id="7" name="Rounded Rectangle 6"/>
          <p:cNvSpPr/>
          <p:nvPr/>
        </p:nvSpPr>
        <p:spPr>
          <a:xfrm>
            <a:off x="10408775" y="1760000"/>
            <a:ext cx="1000000" cy="280000"/>
          </a:xfrm>
          <a:prstGeom prst="roundRect">
            <a:avLst>
              <a:gd name="adj" fmla="val 50000"/>
            </a:avLst>
          </a:prstGeom>
          <a:solidFill>
            <a:srgbClr val="FBE8D3"/>
          </a:solidFill>
          <a:ln>
            <a:noFill/>
          </a:ln>
          <a:effectLst/>
        </p:spPr>
        <p:style>
          <a:lnRef idx="1">
            <a:schemeClr val="accent1"/>
          </a:lnRef>
          <a:fillRef idx="3">
            <a:schemeClr val="accent1"/>
          </a:fillRef>
          <a:effectRef idx="2">
            <a:schemeClr val="accent1"/>
          </a:effectRef>
          <a:fontRef idx="minor">
            <a:schemeClr val="lt1"/>
          </a:fontRef>
        </p:style>
        <p:txBody>
          <a:bodyPr rtlCol="0" anchor="ctr" lIns="60000" rIns="60000" tIns="0" bIns="0"/>
          <a:lstStyle/>
          <a:p>
            <a:pPr algn="ctr"/>
            <a:r>
              <a:rPr sz="1000" b="1">
                <a:solidFill>
                  <a:srgbClr val="9A5B0C"/>
                </a:solidFill>
                <a:latin typeface="Segoe UI Semibold"/>
              </a:rPr>
              <a:t>In progress</a:t>
            </a:r>
          </a:p>
        </p:txBody>
      </p:sp>
      <p:sp>
        <p:nvSpPr>
          <p:cNvPr id="8" name="TextBox 7"/>
          <p:cNvSpPr txBox="1"/>
          <p:nvPr/>
        </p:nvSpPr>
        <p:spPr>
          <a:xfrm>
            <a:off x="782920" y="2160000"/>
            <a:ext cx="4200000" cy="60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Fix the double form-submission bug in shared hotel-search.js</a:t>
            </a:r>
          </a:p>
        </p:txBody>
      </p:sp>
      <p:sp>
        <p:nvSpPr>
          <p:cNvPr id="9" name="TextBox 8"/>
          <p:cNvSpPr txBox="1"/>
          <p:nvPr/>
        </p:nvSpPr>
        <p:spPr>
          <a:xfrm>
            <a:off x="5102920" y="2160000"/>
            <a:ext cx="6100000" cy="60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Real, reproducible: two full AJAX submissions per single click, confirmed via console log. Doubles RateHawk call volume per search and can surface as a hard client-side error on a plain click — likely affects real production too, since it's shared code.</a:t>
            </a:r>
          </a:p>
        </p:txBody>
      </p:sp>
      <p:sp>
        <p:nvSpPr>
          <p:cNvPr id="10" name="TextBox 9"/>
          <p:cNvSpPr txBox="1"/>
          <p:nvPr/>
        </p:nvSpPr>
        <p:spPr>
          <a:xfrm>
            <a:off x="782920" y="2760000"/>
            <a:ext cx="4200000" cy="60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Find the real bottleneck: the RateHawk/content fetch, not the DB fetch</a:t>
            </a:r>
          </a:p>
        </p:txBody>
      </p:sp>
      <p:sp>
        <p:nvSpPr>
          <p:cNvPr id="11" name="TextBox 10"/>
          <p:cNvSpPr txBox="1"/>
          <p:nvPr/>
        </p:nvSpPr>
        <p:spPr>
          <a:xfrm>
            <a:off x="5102920" y="2760000"/>
            <a:ext cx="6100000" cy="60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It's 65.5% of the 24.8s total; today's DB fixes touch a much smaller slice. The still-MySQL-sourced amenities query and filter/sort work dominate on both sides — that's where the next real win has to come from.</a:t>
            </a:r>
          </a:p>
        </p:txBody>
      </p:sp>
      <p:sp>
        <p:nvSpPr>
          <p:cNvPr id="12" name="TextBox 11"/>
          <p:cNvSpPr txBox="1"/>
          <p:nvPr/>
        </p:nvSpPr>
        <p:spPr>
          <a:xfrm>
            <a:off x="782920" y="3360000"/>
            <a:ext cx="4200000" cy="60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Flag the today's-date plugin-directory incident to Hristijan</a:t>
            </a:r>
          </a:p>
        </p:txBody>
      </p:sp>
      <p:sp>
        <p:nvSpPr>
          <p:cNvPr id="13" name="TextBox 12"/>
          <p:cNvSpPr txBox="1"/>
          <p:nvPr/>
        </p:nvSpPr>
        <p:spPr>
          <a:xfrm>
            <a:off x="5102920" y="3360000"/>
            <a:ext cx="6100000" cy="60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Something outside this session replaced wp-content/plugins/ today, wiping the fork's files — worth checking blast radius on other plugins</a:t>
            </a:r>
          </a:p>
        </p:txBody>
      </p:sp>
      <p:sp>
        <p:nvSpPr>
          <p:cNvPr id="14" name="TextBox 13"/>
          <p:cNvSpPr txBox="1"/>
          <p:nvPr/>
        </p:nvSpPr>
        <p:spPr>
          <a:xfrm>
            <a:off x="782920" y="3960000"/>
            <a:ext cx="4200000" cy="340000"/>
          </a:xfrm>
          <a:prstGeom prst="rect">
            <a:avLst/>
          </a:prstGeom>
          <a:noFill/>
        </p:spPr>
        <p:txBody>
          <a:bodyPr wrap="square" anchor="t" lIns="0" rIns="0" tIns="0" bIns="0">
            <a:spAutoFit/>
          </a:bodyPr>
          <a:lstStyle/>
          <a:p>
            <a:pPr algn="l">
              <a:lnSpc>
                <a:spcPct val="110000"/>
              </a:lnSpc>
            </a:pPr>
            <a:r>
              <a:rPr sz="1100" b="0">
                <a:solidFill>
                  <a:srgbClr val="6B6558"/>
                </a:solidFill>
                <a:latin typeface="Segoe UI"/>
              </a:rPr>
              <a:t>Real production page still renders blank</a:t>
            </a:r>
          </a:p>
        </p:txBody>
      </p:sp>
      <p:sp>
        <p:nvSpPr>
          <p:cNvPr id="15" name="TextBox 14"/>
          <p:cNvSpPr txBox="1"/>
          <p:nvPr/>
        </p:nvSpPr>
        <p:spPr>
          <a:xfrm>
            <a:off x="5102920" y="3960000"/>
            <a:ext cx="6100000" cy="340000"/>
          </a:xfrm>
          <a:prstGeom prst="rect">
            <a:avLst/>
          </a:prstGeom>
          <a:noFill/>
        </p:spPr>
        <p:txBody>
          <a:bodyPr wrap="square" anchor="t" lIns="0" rIns="0" tIns="0" bIns="0">
            <a:spAutoFit/>
          </a:bodyPr>
          <a:lstStyle/>
          <a:p>
            <a:pPr algn="l">
              <a:lnSpc>
                <a:spcPct val="110000"/>
              </a:lnSpc>
            </a:pPr>
            <a:r>
              <a:rPr sz="1100" b="1">
                <a:solidFill>
                  <a:srgbClr val="1A1A2E"/>
                </a:solidFill>
                <a:latin typeface="Segoe UI Semibold"/>
              </a:rPr>
              <a:t>Pre-existing, confirmed unrelated to this work — needs separate investigation on the tech team's side</a:t>
            </a:r>
          </a:p>
        </p:txBody>
      </p:sp>
      <p:sp>
        <p:nvSpPr>
          <p:cNvPr id="16" name="TextBox 15"/>
          <p:cNvSpPr txBox="1"/>
          <p:nvPr/>
        </p:nvSpPr>
        <p:spPr>
          <a:xfrm>
            <a:off x="502920" y="6518000"/>
            <a:ext cx="9000000" cy="240000"/>
          </a:xfrm>
          <a:prstGeom prst="rect">
            <a:avLst/>
          </a:prstGeom>
          <a:noFill/>
        </p:spPr>
        <p:txBody>
          <a:bodyPr wrap="square" anchor="t" lIns="0" rIns="0" tIns="0" bIns="0">
            <a:spAutoFit/>
          </a:bodyPr>
          <a:lstStyle/>
          <a:p>
            <a:pPr algn="l"/>
            <a:r>
              <a:rPr sz="900" b="0">
                <a:solidFill>
                  <a:srgbClr val="9B9384"/>
                </a:solidFill>
                <a:latin typeface="Segoe UI"/>
              </a:rPr>
              <a:t>BALKANEA WEB  •  SUPABASE VS MYSQL COMPARISON</a:t>
            </a:r>
          </a:p>
        </p:txBody>
      </p:sp>
      <p:sp>
        <p:nvSpPr>
          <p:cNvPr id="17" name="TextBox 16"/>
          <p:cNvSpPr txBox="1"/>
          <p:nvPr/>
        </p:nvSpPr>
        <p:spPr>
          <a:xfrm>
            <a:off x="11492000" y="6518000"/>
            <a:ext cx="400000" cy="240000"/>
          </a:xfrm>
          <a:prstGeom prst="rect">
            <a:avLst/>
          </a:prstGeom>
          <a:noFill/>
        </p:spPr>
        <p:txBody>
          <a:bodyPr wrap="square" anchor="t" lIns="0" rIns="0" tIns="0" bIns="0">
            <a:spAutoFit/>
          </a:bodyPr>
          <a:lstStyle/>
          <a:p>
            <a:pPr algn="r"/>
            <a:r>
              <a:rPr sz="900" b="0">
                <a:solidFill>
                  <a:srgbClr val="9B9384"/>
                </a:solidFill>
                <a:latin typeface="Segoe U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